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9ed858c078479f" /><Relationship Type="http://schemas.openxmlformats.org/officeDocument/2006/relationships/extended-properties" Target="/docProps/app.xml" Id="R61f65dce0f864caf" /><Relationship Type="http://schemas.openxmlformats.org/officeDocument/2006/relationships/officeDocument" Target="/ppt/presentation.xml" Id="R29b18eb060cc4e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47952ffe72449f"/>
  </p:sldMasterIdLst>
  <p:notesMasterIdLst>
    <p:notesMasterId xmlns:r="http://schemas.openxmlformats.org/officeDocument/2006/relationships" r:id="Re50a0414dde14773"/>
  </p:notesMasterIdLst>
  <p:sldIdLst>
    <p:sldId xmlns:r="http://schemas.openxmlformats.org/officeDocument/2006/relationships" id="256" r:id="Rf0bd2e9f13aa492a"/>
    <p:sldId xmlns:r="http://schemas.openxmlformats.org/officeDocument/2006/relationships" id="257" r:id="Rdeffc18a968c4aae"/>
    <p:sldId xmlns:r="http://schemas.openxmlformats.org/officeDocument/2006/relationships" id="258" r:id="R1db84f15f4c84c26"/>
    <p:sldId xmlns:r="http://schemas.openxmlformats.org/officeDocument/2006/relationships" id="259" r:id="R56bed77ba6a94b9e"/>
    <p:sldId xmlns:r="http://schemas.openxmlformats.org/officeDocument/2006/relationships" id="260" r:id="R79496ff3efe94b18"/>
    <p:sldId xmlns:r="http://schemas.openxmlformats.org/officeDocument/2006/relationships" id="261" r:id="R00b9e34bbc164f83"/>
    <p:sldId xmlns:r="http://schemas.openxmlformats.org/officeDocument/2006/relationships" id="262" r:id="Re651650a417c482e"/>
    <p:sldId xmlns:r="http://schemas.openxmlformats.org/officeDocument/2006/relationships" id="263" r:id="Rf1226736929e4d3c"/>
    <p:sldId xmlns:r="http://schemas.openxmlformats.org/officeDocument/2006/relationships" id="264" r:id="R7c8bde6081b34147"/>
    <p:sldId xmlns:r="http://schemas.openxmlformats.org/officeDocument/2006/relationships" id="265" r:id="Rc4c19ee26ed14c36"/>
    <p:sldId xmlns:r="http://schemas.openxmlformats.org/officeDocument/2006/relationships" id="266" r:id="Re990b05f2ffb4685"/>
    <p:sldId xmlns:r="http://schemas.openxmlformats.org/officeDocument/2006/relationships" id="267" r:id="Rd85f586d971b491a"/>
    <p:sldId xmlns:r="http://schemas.openxmlformats.org/officeDocument/2006/relationships" id="268" r:id="Rd99e629411c14e1a"/>
    <p:sldId xmlns:r="http://schemas.openxmlformats.org/officeDocument/2006/relationships" id="269" r:id="R7325d19f066e4d1a"/>
    <p:sldId xmlns:r="http://schemas.openxmlformats.org/officeDocument/2006/relationships" id="270" r:id="R3367763addd74ed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03a815494b4e9e" /><Relationship Type="http://schemas.openxmlformats.org/officeDocument/2006/relationships/slideMaster" Target="/ppt/slideMasters/slideMaster1.xml" Id="R8c47952ffe72449f" /><Relationship Type="http://schemas.openxmlformats.org/officeDocument/2006/relationships/notesMaster" Target="/ppt/notesMasters/notesMaster1.xml" Id="Re50a0414dde14773" /><Relationship Type="http://schemas.openxmlformats.org/officeDocument/2006/relationships/presProps" Target="/ppt/presProps.xml" Id="R958b62af19a84634" /><Relationship Type="http://schemas.openxmlformats.org/officeDocument/2006/relationships/tableStyles" Target="/ppt/tableStyles.xml" Id="R820cccd3c6264cb9" /><Relationship Type="http://schemas.openxmlformats.org/officeDocument/2006/relationships/slide" Target="/ppt/slides/slide1.xml" Id="Rf0bd2e9f13aa492a" /><Relationship Type="http://schemas.openxmlformats.org/officeDocument/2006/relationships/slide" Target="/ppt/slides/slide2.xml" Id="Rdeffc18a968c4aae" /><Relationship Type="http://schemas.openxmlformats.org/officeDocument/2006/relationships/slide" Target="/ppt/slides/slide3.xml" Id="R1db84f15f4c84c26" /><Relationship Type="http://schemas.openxmlformats.org/officeDocument/2006/relationships/slide" Target="/ppt/slides/slide4.xml" Id="R56bed77ba6a94b9e" /><Relationship Type="http://schemas.openxmlformats.org/officeDocument/2006/relationships/slide" Target="/ppt/slides/slide5.xml" Id="R79496ff3efe94b18" /><Relationship Type="http://schemas.openxmlformats.org/officeDocument/2006/relationships/slide" Target="/ppt/slides/slide6.xml" Id="R00b9e34bbc164f83" /><Relationship Type="http://schemas.openxmlformats.org/officeDocument/2006/relationships/slide" Target="/ppt/slides/slide7.xml" Id="Re651650a417c482e" /><Relationship Type="http://schemas.openxmlformats.org/officeDocument/2006/relationships/slide" Target="/ppt/slides/slide8.xml" Id="Rf1226736929e4d3c" /><Relationship Type="http://schemas.openxmlformats.org/officeDocument/2006/relationships/slide" Target="/ppt/slides/slide9.xml" Id="R7c8bde6081b34147" /><Relationship Type="http://schemas.openxmlformats.org/officeDocument/2006/relationships/slide" Target="/ppt/slides/slide10.xml" Id="Rc4c19ee26ed14c36" /><Relationship Type="http://schemas.openxmlformats.org/officeDocument/2006/relationships/slide" Target="/ppt/slides/slide11.xml" Id="Re990b05f2ffb4685" /><Relationship Type="http://schemas.openxmlformats.org/officeDocument/2006/relationships/slide" Target="/ppt/slides/slide12.xml" Id="Rd85f586d971b491a" /><Relationship Type="http://schemas.openxmlformats.org/officeDocument/2006/relationships/slide" Target="/ppt/slides/slide13.xml" Id="Rd99e629411c14e1a" /><Relationship Type="http://schemas.openxmlformats.org/officeDocument/2006/relationships/slide" Target="/ppt/slides/slide14.xml" Id="R7325d19f066e4d1a" /><Relationship Type="http://schemas.openxmlformats.org/officeDocument/2006/relationships/slide" Target="/ppt/slides/slide15.xml" Id="R3367763addd74e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41dbe3bb98a41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bdef6853ca045b6" /><Relationship Type="http://schemas.openxmlformats.org/officeDocument/2006/relationships/notesMaster" Target="/ppt/notesMasters/notesMaster1.xml" Id="Rca2407807264420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f8ca88ae7f34b30" /><Relationship Type="http://schemas.openxmlformats.org/officeDocument/2006/relationships/notesMaster" Target="/ppt/notesMasters/notesMaster1.xml" Id="R17a885e47904493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0c9786207b44172" /><Relationship Type="http://schemas.openxmlformats.org/officeDocument/2006/relationships/notesMaster" Target="/ppt/notesMasters/notesMaster1.xml" Id="Rf3d2fce69291482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1a5ff5901994283" /><Relationship Type="http://schemas.openxmlformats.org/officeDocument/2006/relationships/notesMaster" Target="/ppt/notesMasters/notesMaster1.xml" Id="R72ed6b836d1540f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89ab40875774692" /><Relationship Type="http://schemas.openxmlformats.org/officeDocument/2006/relationships/notesMaster" Target="/ppt/notesMasters/notesMaster1.xml" Id="R34567b708671435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2893bfc0a734fdf" /><Relationship Type="http://schemas.openxmlformats.org/officeDocument/2006/relationships/notesMaster" Target="/ppt/notesMasters/notesMaster1.xml" Id="Rfdac90322d5b48f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666248a70e64598" /><Relationship Type="http://schemas.openxmlformats.org/officeDocument/2006/relationships/notesMaster" Target="/ppt/notesMasters/notesMaster1.xml" Id="R11e34df2ccb04be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878775fade64085" /><Relationship Type="http://schemas.openxmlformats.org/officeDocument/2006/relationships/notesMaster" Target="/ppt/notesMasters/notesMaster1.xml" Id="R9eb045afd91a45a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c98301e46ac4db0" /><Relationship Type="http://schemas.openxmlformats.org/officeDocument/2006/relationships/notesMaster" Target="/ppt/notesMasters/notesMaster1.xml" Id="R1fbaa0961ce24a6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4a8d321ba04451f" /><Relationship Type="http://schemas.openxmlformats.org/officeDocument/2006/relationships/notesMaster" Target="/ppt/notesMasters/notesMaster1.xml" Id="R65067be16180491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5bf2698ff6a43a5" /><Relationship Type="http://schemas.openxmlformats.org/officeDocument/2006/relationships/notesMaster" Target="/ppt/notesMasters/notesMaster1.xml" Id="Ree009359071d444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aad7cc93c084e16" /><Relationship Type="http://schemas.openxmlformats.org/officeDocument/2006/relationships/notesMaster" Target="/ppt/notesMasters/notesMaster1.xml" Id="R9efefbc3faa14dc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387856cc3b1444d" /><Relationship Type="http://schemas.openxmlformats.org/officeDocument/2006/relationships/notesMaster" Target="/ppt/notesMasters/notesMaster1.xml" Id="R5afbc34fdd15473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ba981b38ad340a7" /><Relationship Type="http://schemas.openxmlformats.org/officeDocument/2006/relationships/notesMaster" Target="/ppt/notesMasters/notesMaster1.xml" Id="R6f42dd9af85f4d5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886c5ddd30f4ad3" /><Relationship Type="http://schemas.openxmlformats.org/officeDocument/2006/relationships/notesMaster" Target="/ppt/notesMasters/notesMaster1.xml" Id="R1bd05a02a64044e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Transformer-Based Network Intrusion Detection System for Intelligent Multi-Class Cyber Attack Classification; add student and institutional details.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results/extended/model_comparison.csv; sampled random split. Five infiltration test examples. No production claim. Editable chart values rounded to six decimals for Excel interoperability. Full precision is retained in results/model_comparison.csv.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Timestamp AM/PM heuristic and sampled-flow gaps constrain chronology; hosts/campaigns may cross blocks.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Full bibliography in PROJECT_REPORT.md; original architecture papers and official Scapy/SHAP docs are linked.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054f64185b4aa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a94b41527b34f41" /><Relationship Type="http://schemas.openxmlformats.org/officeDocument/2006/relationships/slideLayout" Target="/ppt/slideLayouts/slideLayout1.xml" Id="Rfb518296c0634ca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b518296c0634c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75c124f34e4947" /><Relationship Type="http://schemas.openxmlformats.org/officeDocument/2006/relationships/notesSlide" Target="/ppt/notesSlides/notesSlide1.xml" Id="Ra1df43eb610c455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1fcfee5c174a8d" /><Relationship Type="http://schemas.openxmlformats.org/officeDocument/2006/relationships/notesSlide" Target="/ppt/notesSlides/notesSlide2.xml" Id="R5eb54ca1ab004ff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70b061a0174b35" /><Relationship Type="http://schemas.openxmlformats.org/officeDocument/2006/relationships/notesSlide" Target="/ppt/notesSlides/notesSlide3.xml" Id="Rac798c56346d41a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7b6895ac184353" /><Relationship Type="http://schemas.openxmlformats.org/officeDocument/2006/relationships/notesSlide" Target="/ppt/notesSlides/notesSlide4.xml" Id="R20f166fde867463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82a106824c45c6" /><Relationship Type="http://schemas.openxmlformats.org/officeDocument/2006/relationships/notesSlide" Target="/ppt/notesSlides/notesSlide5.xml" Id="Rb0311cf8c59c49d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443506056148ee" /><Relationship Type="http://schemas.openxmlformats.org/officeDocument/2006/relationships/notesSlide" Target="/ppt/notesSlides/notesSlide6.xml" Id="R4847cfed57ce4bf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a2557d38794067" /><Relationship Type="http://schemas.openxmlformats.org/officeDocument/2006/relationships/chart" Target="/ppt/slides/charts/chart1.xml" Id="Rd776634574004874" /><Relationship Type="http://schemas.openxmlformats.org/officeDocument/2006/relationships/notesSlide" Target="/ppt/notesSlides/notesSlide7.xml" Id="R38b969ff5031448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962a6d0ea6497c" /><Relationship Type="http://schemas.openxmlformats.org/officeDocument/2006/relationships/notesSlide" Target="/ppt/notesSlides/notesSlide8.xml" Id="R2c28753313e6477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a4f5049718465e" /><Relationship Type="http://schemas.openxmlformats.org/officeDocument/2006/relationships/notesSlide" Target="/ppt/notesSlides/notesSlide9.xml" Id="R9f167f2c00fe48d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430951c1424617" /><Relationship Type="http://schemas.openxmlformats.org/officeDocument/2006/relationships/notesSlide" Target="/ppt/notesSlides/notesSlide10.xml" Id="Rfed103e9e39a486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a1c211e9684646" /><Relationship Type="http://schemas.openxmlformats.org/officeDocument/2006/relationships/notesSlide" Target="/ppt/notesSlides/notesSlide11.xml" Id="R22d89e39635d4c3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465053ce0e42bf" /><Relationship Type="http://schemas.openxmlformats.org/officeDocument/2006/relationships/notesSlide" Target="/ppt/notesSlides/notesSlide12.xml" Id="R0f57ec0027c2458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662c8fbebd4ec1" /><Relationship Type="http://schemas.openxmlformats.org/officeDocument/2006/relationships/notesSlide" Target="/ppt/notesSlides/notesSlide13.xml" Id="R3ffa50d32bf6404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fa731763894041" /><Relationship Type="http://schemas.openxmlformats.org/officeDocument/2006/relationships/notesSlide" Target="/ppt/notesSlides/notesSlide14.xml" Id="R31c79274bb944ac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b9e417045941f2" /><Relationship Type="http://schemas.openxmlformats.org/officeDocument/2006/relationships/notesSlide" Target="/ppt/notesSlides/notesSlide15.xml" Id="R35bb879e7d204ed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Test macro-F1</c:v>
          </c:tx>
          <c:spPr>
            <a:solidFill xmlns:a="http://schemas.openxmlformats.org/drawingml/2006/main">
              <a:srgbClr val="2563EB"/>
            </a:solidFill>
          </c:spPr>
          <c:cat>
            <c:strRef>
              <c:f>'Chart Data'!$A$2:$A$8</c:f>
              <c:strCache>
                <c:ptCount val="7"/>
                <c:pt idx="0">
                  <c:v>Logistic Reg.</c:v>
                </c:pt>
                <c:pt idx="1">
                  <c:v>Random Forest</c:v>
                </c:pt>
                <c:pt idx="2">
                  <c:v>MLP</c:v>
                </c:pt>
                <c:pt idx="3">
                  <c:v>CNN</c:v>
                </c:pt>
                <c:pt idx="4">
                  <c:v>LSTM</c:v>
                </c:pt>
                <c:pt idx="5">
                  <c:v>GRU</c:v>
                </c:pt>
                <c:pt idx="6">
                  <c:v>Transformer</c:v>
                </c:pt>
              </c:strCache>
            </c:strRef>
          </c:cat>
          <c:val>
            <c:numRef>
              <c:f>'Chart Data'!$B$2:$B$8</c:f>
              <c:numCache>
                <c:formatCode>0.000</c:formatCode>
                <c:ptCount val="7"/>
                <c:pt idx="0">
                  <c:v>0.876711</c:v>
                </c:pt>
                <c:pt idx="1">
                  <c:v>0.958812</c:v>
                </c:pt>
                <c:pt idx="2">
                  <c:v>0.934824</c:v>
                </c:pt>
                <c:pt idx="3">
                  <c:v>0.953875</c:v>
                </c:pt>
                <c:pt idx="4">
                  <c:v>0.894562</c:v>
                </c:pt>
                <c:pt idx="5">
                  <c:v>0.922282</c:v>
                </c:pt>
                <c:pt idx="6">
                  <c:v>0.940867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4233C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4233C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.05"/>
          <c:min val="0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Test macro-F1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4233C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3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714BA0-AC00-4E09-8577-BA6F7205B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437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9BC6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9BC6FF"/>
                </a:solidFill>
                <a:latin typeface="Arial"/>
                <a:ea typeface="Arial"/>
                <a:cs typeface="Arial"/>
              </a:rPr>
              <a:t>FlowGuard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DC7EAA-3A36-465F-94E4-BA723238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10572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Transformer-Based Network Intrusion Detection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E88B86-9307-43EE-A88D-9A979C1E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382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C9DEF7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C9DEF7"/>
                </a:solidFill>
                <a:latin typeface="Arial"/>
                <a:ea typeface="Arial"/>
                <a:cs typeface="Arial"/>
              </a:rPr>
              <a:t>Intelligent Multi-Class Cyber Attack Classification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5AB380-6A71-4C8B-B0DC-411E6FD0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904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BC6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9BC6FF"/>
                </a:solidFill>
                <a:latin typeface="Arial"/>
                <a:ea typeface="Arial"/>
                <a:cs typeface="Arial"/>
              </a:rPr>
              <a:t>Computer Networks Project</a:t>
            </a:r>
          </a:p>
        </p:txBody>
      </p:sp>
    </p:spTree>
    <p:extLst>
      <p:ext uri="{BB962C8B-B14F-4D97-AF65-F5344CB8AC3E}">
        <p14:creationId xmlns:p14="http://schemas.microsoft.com/office/powerpoint/2010/main" val="9397062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C2CFEF-38C3-410E-BEF4-5232CB1B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33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33C"/>
                </a:solidFill>
                <a:latin typeface="Arial"/>
                <a:ea typeface="Arial"/>
                <a:cs typeface="Arial"/>
              </a:rPr>
              <a:t>Scope of the completed 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0A7CE3-211A-4676-BF39-CB14AD56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10629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1466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14661"/>
                </a:solidFill>
                <a:latin typeface="Arial"/>
                <a:ea typeface="Arial"/>
                <a:cs typeface="Arial"/>
              </a:rPr>
              <a:t>Seven-class flow classifier and controlled baselines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522805-1F0B-4FED-82BB-642469F9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0629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1466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14661"/>
                </a:solidFill>
                <a:latin typeface="Arial"/>
                <a:ea typeface="Arial"/>
                <a:cs typeface="Arial"/>
              </a:rPr>
              <a:t>Chronological attention and endpoint graph context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4FB16C-8FCB-4640-A6CA-410DF6F9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86125"/>
            <a:ext cx="10629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1466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14661"/>
                </a:solidFill>
                <a:latin typeface="Arial"/>
                <a:ea typeface="Arial"/>
                <a:cs typeface="Arial"/>
              </a:rPr>
              <a:t>TabTransformer, flow-grid ViT and BERT-style encoder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3E6772-0209-4825-B811-AE9DDB5F9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48125"/>
            <a:ext cx="10629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1466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14661"/>
                </a:solidFill>
                <a:latin typeface="Arial"/>
                <a:ea typeface="Arial"/>
                <a:cs typeface="Arial"/>
              </a:rPr>
              <a:t>SHAP/LIME, FedAvg and supervised online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37FD0D-449D-4A76-B518-81FA90E50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0125"/>
            <a:ext cx="10629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1466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14661"/>
                </a:solidFill>
                <a:latin typeface="Arial"/>
                <a:ea typeface="Arial"/>
                <a:cs typeface="Arial"/>
              </a:rPr>
              <a:t>Passive PCAP pipeline; live interface path provided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3F2815-E765-4545-89BC-41B9D1D59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B7F9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B7F99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6072662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4206B0-3E6E-46D9-AB50-1CADBBF94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33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33C"/>
                </a:solidFill>
                <a:latin typeface="Arial"/>
                <a:ea typeface="Arial"/>
                <a:cs typeface="Arial"/>
              </a:rPr>
              <a:t>Network inputs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797C9A-90E9-4C46-88C0-605C3F17D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10629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1466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14661"/>
                </a:solidFill>
                <a:latin typeface="Arial"/>
                <a:ea typeface="Arial"/>
                <a:cs typeface="Arial"/>
              </a:rPr>
              <a:t>24 flow statistics: duration, sizes, rates, intervals and flags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EE8D09-1861-4FAF-8B32-44DDFDE9A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0629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1466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14661"/>
                </a:solidFill>
                <a:latin typeface="Arial"/>
                <a:ea typeface="Arial"/>
                <a:cs typeface="Arial"/>
              </a:rPr>
              <a:t>Context: source/destination ports and protocol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C0A4C6-2239-459E-860F-8CC4CF394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86125"/>
            <a:ext cx="10629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1466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14661"/>
                </a:solidFill>
                <a:latin typeface="Arial"/>
                <a:ea typeface="Arial"/>
                <a:cs typeface="Arial"/>
              </a:rPr>
              <a:t>IP private-status indicators and stable hash buckets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0E7A2E-D778-49E9-BF7C-E3392AF95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48125"/>
            <a:ext cx="10629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1466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14661"/>
                </a:solidFill>
                <a:latin typeface="Arial"/>
                <a:ea typeface="Arial"/>
                <a:cs typeface="Arial"/>
              </a:rPr>
              <a:t>Raw IPs form host windows and shared-endpoint graphs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645DD9-2925-40C2-B6B1-8FFBA1CE6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0125"/>
            <a:ext cx="10629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1466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14661"/>
                </a:solidFill>
                <a:latin typeface="Arial"/>
                <a:ea typeface="Arial"/>
                <a:cs typeface="Arial"/>
              </a:rPr>
              <a:t>Connection state is a FIN/RST-derived proxy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6D4FCD-9E53-4F1C-951D-FF6C2B5F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B7F9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B7F99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588594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8049B6-E575-4A3E-A490-F53020FA8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33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33C"/>
                </a:solidFill>
                <a:latin typeface="Arial"/>
                <a:ea typeface="Arial"/>
                <a:cs typeface="Arial"/>
              </a:rPr>
              <a:t>Data and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DE0A4D-18A8-4B16-BF90-FDED2DC46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10629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1466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14661"/>
                </a:solidFill>
                <a:latin typeface="Arial"/>
                <a:ea typeface="Arial"/>
                <a:cs typeface="Arial"/>
              </a:rPr>
              <a:t>Six pinned CIC-IDS2017 CSVs for the seven-class benchmark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D350FE-6C1E-4CFD-9E30-2047B94EC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0629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1466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14661"/>
                </a:solidFill>
                <a:latin typeface="Arial"/>
                <a:ea typeface="Arial"/>
                <a:cs typeface="Arial"/>
              </a:rPr>
              <a:t>34 unique infiltration samples; only five feature test rows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DECC36-2B93-4C66-BBE4-BF354CA4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86125"/>
            <a:ext cx="10629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1466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14661"/>
                </a:solidFill>
                <a:latin typeface="Arial"/>
                <a:ea typeface="Arial"/>
                <a:cs typeface="Arial"/>
              </a:rPr>
              <a:t>Context sample: 15,574 flows with timestamps and endpoints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DAD6EC-2EF8-4417-971D-ECD444676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48125"/>
            <a:ext cx="10629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1466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14661"/>
                </a:solidFill>
                <a:latin typeface="Arial"/>
                <a:ea typeface="Arial"/>
                <a:cs typeface="Arial"/>
              </a:rPr>
              <a:t>Chronological activity blocks and disjoint eight-flow windows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17AAC0-5449-466E-89C6-FBC6F9CF8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0125"/>
            <a:ext cx="10629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1466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14661"/>
                </a:solidFill>
                <a:latin typeface="Arial"/>
                <a:ea typeface="Arial"/>
                <a:cs typeface="Arial"/>
              </a:rPr>
              <a:t>AM/PM correction assumption is recorded in the audit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3428B7-B718-4791-B9BA-8304F81BF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B7F9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B7F99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136734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B6D4F1-AD05-46EA-94E0-1BCAC733E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33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33C"/>
                </a:solidFill>
                <a:latin typeface="Arial"/>
                <a:ea typeface="Arial"/>
                <a:cs typeface="Arial"/>
              </a:rPr>
              <a:t>Attention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85C136-3F0D-4875-8527-93E539950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10629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1466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14661"/>
                </a:solidFill>
                <a:latin typeface="Arial"/>
                <a:ea typeface="Arial"/>
                <a:cs typeface="Arial"/>
              </a:rPr>
              <a:t>Feature encoder: value tokens, feature identities and CLS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5B00DC-2B87-4996-8290-70691108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0629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1466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14661"/>
                </a:solidFill>
                <a:latin typeface="Arial"/>
                <a:ea typeface="Arial"/>
                <a:cs typeface="Arial"/>
              </a:rPr>
              <a:t>Temporal encoder: chronological flows and a causal mask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D99435-626D-4259-A5D9-104BD8AD0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86125"/>
            <a:ext cx="10629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1466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14661"/>
                </a:solidFill>
                <a:latin typeface="Arial"/>
                <a:ea typeface="Arial"/>
                <a:cs typeface="Arial"/>
              </a:rPr>
              <a:t>TabTransformer: contextual protocol/state categories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30CA65-E856-48E2-BAE8-2AD8FC46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48125"/>
            <a:ext cx="10629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1466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14661"/>
                </a:solidFill>
                <a:latin typeface="Arial"/>
                <a:ea typeface="Arial"/>
                <a:cs typeface="Arial"/>
              </a:rPr>
              <a:t>Flow-grid ViT: numeric patches with learned positions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A4AD7D-7157-4CB5-90B7-45503C3A1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0125"/>
            <a:ext cx="10629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1466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14661"/>
                </a:solidFill>
                <a:latin typeface="Arial"/>
                <a:ea typeface="Arial"/>
                <a:cs typeface="Arial"/>
              </a:rPr>
              <a:t>BERT-style means scratch-trained bidirectional feature attention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8DB6C5-EE7F-43AD-95F6-CCDE943A7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B7F9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B7F99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8290443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4411D1-BD85-4081-BFD7-7972B8EFC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33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33C"/>
                </a:solidFill>
                <a:latin typeface="Arial"/>
                <a:ea typeface="Arial"/>
                <a:cs typeface="Arial"/>
              </a:rPr>
              <a:t>Training and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B5D8D5-BCD6-469E-92E9-DC3AA8F01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10629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1466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14661"/>
                </a:solidFill>
                <a:latin typeface="Arial"/>
                <a:ea typeface="Arial"/>
                <a:cs typeface="Arial"/>
              </a:rPr>
              <a:t>Logistic Regression, Random Forest, MLP, CNN, LSTM, GRU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33CA7F-A575-419C-834E-F5731319A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0629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1466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14661"/>
                </a:solidFill>
                <a:latin typeface="Arial"/>
                <a:ea typeface="Arial"/>
                <a:cs typeface="Arial"/>
              </a:rPr>
              <a:t>Feature Transformer on identical seven-class split rows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F625F2-A283-4CC9-A331-43F2B130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86125"/>
            <a:ext cx="10629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1466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14661"/>
                </a:solidFill>
                <a:latin typeface="Arial"/>
                <a:ea typeface="Arial"/>
                <a:cs typeface="Arial"/>
              </a:rPr>
              <a:t>Training-only medians, signed log transform and scaling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68D075-2708-4375-959C-F3E5D2CED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48125"/>
            <a:ext cx="10629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1466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14661"/>
                </a:solidFill>
                <a:latin typeface="Arial"/>
                <a:ea typeface="Arial"/>
                <a:cs typeface="Arial"/>
              </a:rPr>
              <a:t>Validation selects checkpoints; no test-driven tuning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A0DAD1-5AB1-49F3-B4BD-152010F1E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0125"/>
            <a:ext cx="10629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1466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14661"/>
                </a:solidFill>
                <a:latin typeface="Arial"/>
                <a:ea typeface="Arial"/>
                <a:cs typeface="Arial"/>
              </a:rPr>
              <a:t>Fixed configurations and one seed limit broad conclusions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398A82-5149-4878-9913-D937D413A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B7F9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B7F99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5002760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2E1B98-BADE-4EAD-9164-A350F48B0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33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33C"/>
                </a:solidFill>
                <a:latin typeface="Arial"/>
                <a:ea typeface="Arial"/>
                <a:cs typeface="Arial"/>
              </a:rPr>
              <a:t>Seven-class benchmark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A3A694-8AC0-430A-B075-20C3DF3B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57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57F"/>
                </a:solidFill>
                <a:latin typeface="Arial"/>
                <a:ea typeface="Arial"/>
                <a:cs typeface="Arial"/>
              </a:rPr>
              <a:t>Highest observed macro-F1: RandomForest (0.9588)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876300" y="2095500"/>
          <a:ext xmlns:a="http://schemas.openxmlformats.org/drawingml/2006/main" cx="104394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776634574004874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C58B73-EF43-4552-8B8C-8EDA0D194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57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57F"/>
                </a:solidFill>
                <a:latin typeface="Arial"/>
                <a:ea typeface="Arial"/>
                <a:cs typeface="Arial"/>
              </a:rPr>
              <a:t>Sampled random-split flows. One configuration and seed per model.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C564B9-C5CD-485D-98B0-CE001CC07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B7F9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B7F99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5281831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191C5B-4EC1-4B09-B5B2-80E24BB03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33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33C"/>
                </a:solidFill>
                <a:latin typeface="Arial"/>
                <a:ea typeface="Arial"/>
                <a:cs typeface="Arial"/>
              </a:rPr>
              <a:t>Chronological Temporal Transformer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C7FDC7-ADE3-4CC6-ABC0-40B40577F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10629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1466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14661"/>
                </a:solidFill>
                <a:latin typeface="Arial"/>
                <a:ea typeface="Arial"/>
                <a:cs typeface="Arial"/>
              </a:rPr>
              <a:t>Test endpoints: 196 nonoverlapping eight-flow windows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C199CE-0D51-47CA-AF7D-7F4D8AE27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0629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1466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14661"/>
                </a:solidFill>
                <a:latin typeface="Arial"/>
                <a:ea typeface="Arial"/>
                <a:cs typeface="Arial"/>
              </a:rPr>
              <a:t>Accuracy 93.88%; seven-label macro-F1 0.8003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A9016C-E0D8-4E3B-8B60-6D07783C1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86125"/>
            <a:ext cx="10629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1466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14661"/>
                </a:solidFill>
                <a:latin typeface="Arial"/>
                <a:ea typeface="Arial"/>
                <a:cs typeface="Arial"/>
              </a:rPr>
              <a:t>No future flows enter the causal window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B2EBF0-7486-469D-884D-64298EB1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48125"/>
            <a:ext cx="10629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1466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14661"/>
                </a:solidFill>
                <a:latin typeface="Arial"/>
                <a:ea typeface="Arial"/>
                <a:cs typeface="Arial"/>
              </a:rPr>
              <a:t>No held-out infiltration window; six benign endpoints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93E588-B0EA-4C1F-8C93-84BC71FE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0125"/>
            <a:ext cx="10629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1466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14661"/>
                </a:solidFill>
                <a:latin typeface="Arial"/>
                <a:ea typeface="Arial"/>
                <a:cs typeface="Arial"/>
              </a:rPr>
              <a:t>Different output rows from the individual-flow benchmark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0A7851-9397-4BE7-8984-BD4592069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B7F9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B7F99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2796600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9ADC3F-1F0D-49F0-88E2-CBE9B7DF9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33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33C"/>
                </a:solidFill>
                <a:latin typeface="Arial"/>
                <a:ea typeface="Arial"/>
                <a:cs typeface="Arial"/>
              </a:rPr>
              <a:t>Graph and alternative models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A8319D-8DBC-4847-9319-2547CB2AA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10629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1466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14661"/>
                </a:solidFill>
                <a:latin typeface="Arial"/>
                <a:ea typeface="Arial"/>
                <a:cs typeface="Arial"/>
              </a:rPr>
              <a:t>GCN connects flows sharing an endpoint in one batch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132A0C-7FE4-4C1C-9ACE-B2FECBA0A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0629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1466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14661"/>
                </a:solidFill>
                <a:latin typeface="Arial"/>
                <a:ea typeface="Arial"/>
                <a:cs typeface="Arial"/>
              </a:rPr>
              <a:t>Graph construction does not cross train/test boundaries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391EF1-3E4C-45D8-95A0-25DEFA77A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86125"/>
            <a:ext cx="10629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1466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14661"/>
                </a:solidFill>
                <a:latin typeface="Arial"/>
                <a:ea typeface="Arial"/>
                <a:cs typeface="Arial"/>
              </a:rPr>
              <a:t>TabTransformer contextualizes categorical embeddings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443913-379A-40D9-820B-1413AA648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48125"/>
            <a:ext cx="10629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1466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14661"/>
                </a:solidFill>
                <a:latin typeface="Arial"/>
                <a:ea typeface="Arial"/>
                <a:cs typeface="Arial"/>
              </a:rPr>
              <a:t>ViT processes a numerical flow grid, not packet images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08FA6C-E94E-46B4-BCEF-B54CD85C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0125"/>
            <a:ext cx="10629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1466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14661"/>
                </a:solidFill>
                <a:latin typeface="Arial"/>
                <a:ea typeface="Arial"/>
                <a:cs typeface="Arial"/>
              </a:rPr>
              <a:t>Saved models and measured predictions are in Extended lab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B28DE4-AED6-41E4-A8CC-2DF0FC8D0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B7F9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B7F99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860454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783CF2-B240-4879-BE8C-122652FE7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33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33C"/>
                </a:solidFill>
                <a:latin typeface="Arial"/>
                <a:ea typeface="Arial"/>
                <a:cs typeface="Arial"/>
              </a:rPr>
              <a:t>Federated and online extensions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1A4074-CED7-4A17-8EF7-B277016B0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10629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1466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14661"/>
                </a:solidFill>
                <a:latin typeface="Arial"/>
                <a:ea typeface="Arial"/>
                <a:cs typeface="Arial"/>
              </a:rPr>
              <a:t>FedAvg: three local simulated clients, three fixed rounds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ABF217-888E-4130-AF3A-9643AEABA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0629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1466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14661"/>
                </a:solidFill>
                <a:latin typeface="Arial"/>
                <a:ea typeface="Arial"/>
                <a:cs typeface="Arial"/>
              </a:rPr>
              <a:t>Client updates weighted by training sample count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4F9CC9-96EE-4704-A785-C3DC263AB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86125"/>
            <a:ext cx="10629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1466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14661"/>
                </a:solidFill>
                <a:latin typeface="Arial"/>
                <a:ea typeface="Arial"/>
                <a:cs typeface="Arial"/>
              </a:rPr>
              <a:t>Online stream: predict, reveal true labels, then update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5A6FE1-163E-45A0-825D-3469FB59A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48125"/>
            <a:ext cx="10629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1466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14661"/>
                </a:solidFill>
                <a:latin typeface="Arial"/>
                <a:ea typeface="Arial"/>
                <a:cs typeface="Arial"/>
              </a:rPr>
              <a:t>Page-Hinkley monitors increases in observed chunk loss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33A5B0-3E15-4AFA-8757-0510FC887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0125"/>
            <a:ext cx="10629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1466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14661"/>
                </a:solidFill>
                <a:latin typeface="Arial"/>
                <a:ea typeface="Arial"/>
                <a:cs typeface="Arial"/>
              </a:rPr>
              <a:t>No distributed privacy or unlabeled adaptation claim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8872A7-E324-42E6-B81A-B744ED1C6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B7F9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B7F99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282832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D557AA-0517-44BA-8778-8C267B515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33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33C"/>
                </a:solidFill>
                <a:latin typeface="Arial"/>
                <a:ea typeface="Arial"/>
                <a:cs typeface="Arial"/>
              </a:rPr>
              <a:t>Explainable predictions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9F601B-BCB6-49EB-9A90-69C0C0CE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10629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1466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14661"/>
                </a:solidFill>
                <a:latin typeface="Arial"/>
                <a:ea typeface="Arial"/>
                <a:cs typeface="Arial"/>
              </a:rPr>
              <a:t>Actual SHAP KernelExplainer and LIME Tabular integrations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4A4C93-9171-4464-8B76-B44E1261F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0629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1466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14661"/>
                </a:solidFill>
                <a:latin typeface="Arial"/>
                <a:ea typeface="Arial"/>
                <a:cs typeface="Arial"/>
              </a:rPr>
              <a:t>SHAP reports its reference probability and additive sum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D13661-E4E3-4906-92E1-370AB4876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86125"/>
            <a:ext cx="10629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1466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14661"/>
                </a:solidFill>
                <a:latin typeface="Arial"/>
                <a:ea typeface="Arial"/>
                <a:cs typeface="Arial"/>
              </a:rPr>
              <a:t>LIME example surrogate R-squared: 0.144 — weak fidelity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FA3FCE-AB63-4675-8414-9B64B226D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48125"/>
            <a:ext cx="10629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1466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14661"/>
                </a:solidFill>
                <a:latin typeface="Arial"/>
                <a:ea typeface="Arial"/>
                <a:cs typeface="Arial"/>
              </a:rPr>
              <a:t>Feature sensitivity remains available for individual flows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42DF8D-6189-4A1B-8E44-77EAEE8E5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0125"/>
            <a:ext cx="10629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1466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14661"/>
                </a:solidFill>
                <a:latin typeface="Arial"/>
                <a:ea typeface="Arial"/>
                <a:cs typeface="Arial"/>
              </a:rPr>
              <a:t>Explanations describe model behavior, not causal attack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911589-E07E-4DCD-9EAF-EE87E11B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B7F9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B7F99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5665538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321E08-7798-4A5E-B96A-63DBDEF39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33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33C"/>
                </a:solidFill>
                <a:latin typeface="Arial"/>
                <a:ea typeface="Arial"/>
                <a:cs typeface="Arial"/>
              </a:rPr>
              <a:t>Passive capture and replay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328027-77B4-41FC-8422-E7D4BE819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10629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1466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14661"/>
                </a:solidFill>
                <a:latin typeface="Arial"/>
                <a:ea typeface="Arial"/>
                <a:cs typeface="Arial"/>
              </a:rPr>
              <a:t>IPv4 TCP/UDP packets → bounded bidirectional flows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4A4F0A-A0A6-4065-8793-72CD8D4A8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0629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1466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14661"/>
                </a:solidFill>
                <a:latin typeface="Arial"/>
                <a:ea typeface="Arial"/>
                <a:cs typeface="Arial"/>
              </a:rPr>
              <a:t>Completed flows → seven-class predictions → JSONL events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62973F-CEB3-4A3B-B850-D55D3CC94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86125"/>
            <a:ext cx="10629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1466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14661"/>
                </a:solidFill>
                <a:latin typeface="Arial"/>
                <a:ea typeface="Arial"/>
                <a:cs typeface="Arial"/>
              </a:rPr>
              <a:t>Tested replay: 12 synthetic flows; no attack ground truth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2C7832-BEC1-425B-B406-C978CFD8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48125"/>
            <a:ext cx="10629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1466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14661"/>
                </a:solidFill>
                <a:latin typeface="Arial"/>
                <a:ea typeface="Arial"/>
                <a:cs typeface="Arial"/>
              </a:rPr>
              <a:t>Physical capture requires Npcap; not validated here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F80C01-B67A-49F0-9A75-68D6CBA87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0125"/>
            <a:ext cx="10629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1466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14661"/>
                </a:solidFill>
                <a:latin typeface="Arial"/>
                <a:ea typeface="Arial"/>
                <a:cs typeface="Arial"/>
              </a:rPr>
              <a:t>Custom extraction differs from CICFlowMeter semantics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DE6EC8-9967-43A2-BBBF-1BB1C905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B7F9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B7F99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0608858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14E9BB-83E7-4A1D-8D9D-53D5F4C35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33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33C"/>
                </a:solidFill>
                <a:latin typeface="Arial"/>
                <a:ea typeface="Arial"/>
                <a:cs typeface="Arial"/>
              </a:rPr>
              <a:t>Open and demonstrate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21CE3A-8370-4CA4-B608-5596DA0A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10629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1466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14661"/>
                </a:solidFill>
                <a:latin typeface="Arial"/>
                <a:ea typeface="Arial"/>
                <a:cs typeface="Arial"/>
              </a:rPr>
              <a:t>Double-click OPEN_PROJECT.cmd and keep the terminal open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2A8CD4-35CF-4DE9-97B9-A4D162783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0629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1466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14661"/>
                </a:solidFill>
                <a:latin typeface="Arial"/>
                <a:ea typeface="Arial"/>
                <a:cs typeface="Arial"/>
              </a:rPr>
              <a:t>Select Extended seven classes; classify included samples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7A02DB-A3FE-4F6E-A756-0824A9481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86125"/>
            <a:ext cx="10629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1466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14661"/>
                </a:solidFill>
                <a:latin typeface="Arial"/>
                <a:ea typeface="Arial"/>
                <a:cs typeface="Arial"/>
              </a:rPr>
              <a:t>Inspect comparisons and per-class confusion matrices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DE204F-5443-4064-8662-6ADC69EC9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48125"/>
            <a:ext cx="10629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1466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14661"/>
                </a:solidFill>
                <a:latin typeface="Arial"/>
                <a:ea typeface="Arial"/>
                <a:cs typeface="Arial"/>
              </a:rPr>
              <a:t>Use Extended lab for temporal models and SHAP/LIME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DDF246-912B-4B8B-948F-5AE710BD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0125"/>
            <a:ext cx="10629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1466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14661"/>
                </a:solidFill>
                <a:latin typeface="Arial"/>
                <a:ea typeface="Arial"/>
                <a:cs typeface="Arial"/>
              </a:rPr>
              <a:t>Replay the included PCAP with scripts/monitor.py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E884DB-AC83-4165-A929-76B9B7BB1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B7F9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B7F99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76209995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5C7C03-2933-4F76-9557-6EFACB3C8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33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33C"/>
                </a:solidFill>
                <a:latin typeface="Arial"/>
                <a:ea typeface="Arial"/>
                <a:cs typeface="Arial"/>
              </a:rPr>
              <a:t>Measured findings and boundaries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4FA0DF-E93E-4914-B912-BD17904B8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10629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1466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14661"/>
                </a:solidFill>
                <a:latin typeface="Arial"/>
                <a:ea typeface="Arial"/>
                <a:cs typeface="Arial"/>
              </a:rPr>
              <a:t>Seven-class Transformer accuracy: 97.02%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0DFC03-F4D9-4E31-B812-3D821F3B6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0629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1466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14661"/>
                </a:solidFill>
                <a:latin typeface="Arial"/>
                <a:ea typeface="Arial"/>
                <a:cs typeface="Arial"/>
              </a:rPr>
              <a:t>Random Forest macro-F1: 0.9588; report the observed winner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DEDA52-E896-4A74-A9CD-638A2B720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86125"/>
            <a:ext cx="10629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1466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14661"/>
                </a:solidFill>
                <a:latin typeface="Arial"/>
                <a:ea typeface="Arial"/>
                <a:cs typeface="Arial"/>
              </a:rPr>
              <a:t>Rare classes, topology and historical sampling limit reliability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4BB41B-4C9E-4544-9411-636A17F9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48125"/>
            <a:ext cx="10629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1466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14661"/>
                </a:solidFill>
                <a:latin typeface="Arial"/>
                <a:ea typeface="Arial"/>
                <a:cs typeface="Arial"/>
              </a:rPr>
              <a:t>Anomaly scoring is weak and does not prove zero-day detection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864ECE-947D-4760-93ED-11953C955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0125"/>
            <a:ext cx="10629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1466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14661"/>
                </a:solidFill>
                <a:latin typeface="Arial"/>
                <a:ea typeface="Arial"/>
                <a:cs typeface="Arial"/>
              </a:rPr>
              <a:t>Next validation: live driver, extraction parity and external 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4785DE-E5B0-47C6-95A7-E19AD14AA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B7F9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B7F99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400356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174B31-0282-476C-80CC-CAD31164A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33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33C"/>
                </a:solidFill>
                <a:latin typeface="Arial"/>
                <a:ea typeface="Arial"/>
                <a:cs typeface="Arial"/>
              </a:rPr>
              <a:t>References and contribution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33E5DE-9C06-41C9-B6A4-4261F7FF3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10629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1466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14661"/>
                </a:solidFill>
                <a:latin typeface="Arial"/>
                <a:ea typeface="Arial"/>
                <a:cs typeface="Arial"/>
              </a:rPr>
              <a:t>Reproducible implementation, trained artifacts and local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C9853A-51CD-4825-9E8B-E63D23B86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0629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1466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14661"/>
                </a:solidFill>
                <a:latin typeface="Arial"/>
                <a:ea typeface="Arial"/>
                <a:cs typeface="Arial"/>
              </a:rPr>
              <a:t>CIC-IDS2017: Sharafaldin, Lashkari and Ghorbani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B778E5-294D-4350-B6B9-148495E17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86125"/>
            <a:ext cx="10629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1466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14661"/>
                </a:solidFill>
                <a:latin typeface="Arial"/>
                <a:ea typeface="Arial"/>
                <a:cs typeface="Arial"/>
              </a:rPr>
              <a:t>Attention, tabular, vision, graph and FedAvg methods acknowledged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ED5182-102C-453F-B83C-17D2C4C21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48125"/>
            <a:ext cx="10629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1466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14661"/>
                </a:solidFill>
                <a:latin typeface="Arial"/>
                <a:ea typeface="Arial"/>
                <a:cs typeface="Arial"/>
              </a:rPr>
              <a:t>SHAP/LIME citations and complete evidence in the report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FB730E-662E-4C8E-B6D0-BD0AB9842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0125"/>
            <a:ext cx="10629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1466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14661"/>
                </a:solidFill>
                <a:latin typeface="Arial"/>
                <a:ea typeface="Arial"/>
                <a:cs typeface="Arial"/>
              </a:rPr>
              <a:t>Student identity and submission format need personalization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EB899C-433A-476A-84F0-BAED51398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B7F9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B7F99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1664790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2026-10-05T17:48:58.0600000Z</dcterms:created>
  <dcterms:modified xsi:type="dcterms:W3CDTF">2026-10-05T17:48:58.0600000Z</dcterms:modified>
</coreProperties>
</file>