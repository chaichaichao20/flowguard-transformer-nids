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fbcae8f4b24ca3" /><Relationship Type="http://schemas.openxmlformats.org/officeDocument/2006/relationships/extended-properties" Target="/docProps/app.xml" Id="Rfa89164ddd6f4972" /><Relationship Type="http://schemas.openxmlformats.org/officeDocument/2006/relationships/officeDocument" Target="/ppt/presentation.xml" Id="Ra14f7f406972421b" /></Relationships>
</file>

<file path=ppt/presentation.xml><?xml version="1.0" encoding="utf-8"?>
<p:presentation xmlns:p="http://schemas.openxmlformats.org/presentationml/2006/main">
  <p:sldMasterIdLst>
    <p:sldMasterId xmlns:r="http://schemas.openxmlformats.org/officeDocument/2006/relationships" id="2147483648" r:id="Rb2dd001e00c644c3"/>
  </p:sldMasterIdLst>
  <p:notesMasterIdLst>
    <p:notesMasterId xmlns:r="http://schemas.openxmlformats.org/officeDocument/2006/relationships" r:id="Rf648c027fa804069"/>
  </p:notesMasterIdLst>
  <p:sldIdLst>
    <p:sldId xmlns:r="http://schemas.openxmlformats.org/officeDocument/2006/relationships" id="256" r:id="Rfb3953331e0c416e"/>
    <p:sldId xmlns:r="http://schemas.openxmlformats.org/officeDocument/2006/relationships" id="257" r:id="R2c63d446f0514d4a"/>
    <p:sldId xmlns:r="http://schemas.openxmlformats.org/officeDocument/2006/relationships" id="258" r:id="R9a97d0a134274df0"/>
    <p:sldId xmlns:r="http://schemas.openxmlformats.org/officeDocument/2006/relationships" id="259" r:id="R03120559433346c0"/>
    <p:sldId xmlns:r="http://schemas.openxmlformats.org/officeDocument/2006/relationships" id="260" r:id="R157f83dc5342432a"/>
    <p:sldId xmlns:r="http://schemas.openxmlformats.org/officeDocument/2006/relationships" id="261" r:id="R9a93e84488754dbb"/>
    <p:sldId xmlns:r="http://schemas.openxmlformats.org/officeDocument/2006/relationships" id="262" r:id="R81eb36604f49476e"/>
    <p:sldId xmlns:r="http://schemas.openxmlformats.org/officeDocument/2006/relationships" id="263" r:id="Raf6e0189f68d4a86"/>
    <p:sldId xmlns:r="http://schemas.openxmlformats.org/officeDocument/2006/relationships" id="264" r:id="R8908fcc9772d43dd"/>
    <p:sldId xmlns:r="http://schemas.openxmlformats.org/officeDocument/2006/relationships" id="265" r:id="R3a51c9416667461b"/>
    <p:sldId xmlns:r="http://schemas.openxmlformats.org/officeDocument/2006/relationships" id="266" r:id="Re220a5e671d14577"/>
    <p:sldId xmlns:r="http://schemas.openxmlformats.org/officeDocument/2006/relationships" id="267" r:id="Rc16013a27c7a453a"/>
    <p:sldId xmlns:r="http://schemas.openxmlformats.org/officeDocument/2006/relationships" id="268" r:id="R9757f144f9464688"/>
    <p:sldId xmlns:r="http://schemas.openxmlformats.org/officeDocument/2006/relationships" id="269" r:id="R3043bacd380c4e2d"/>
    <p:sldId xmlns:r="http://schemas.openxmlformats.org/officeDocument/2006/relationships" id="270" r:id="Rc0d6bee9dde743e2"/>
    <p:sldId xmlns:r="http://schemas.openxmlformats.org/officeDocument/2006/relationships" id="271" r:id="R8b8a603ad99e42e6"/>
    <p:sldId xmlns:r="http://schemas.openxmlformats.org/officeDocument/2006/relationships" id="272" r:id="Rb12c52e9f0d14186"/>
    <p:sldId xmlns:r="http://schemas.openxmlformats.org/officeDocument/2006/relationships" id="273" r:id="Rc9c4ef5f30b34ba8"/>
    <p:sldId xmlns:r="http://schemas.openxmlformats.org/officeDocument/2006/relationships" id="274" r:id="R0bcb0cee06504c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47aa019c134eaa" /><Relationship Type="http://schemas.openxmlformats.org/officeDocument/2006/relationships/slideMaster" Target="/ppt/slideMasters/slideMaster1.xml" Id="Rb2dd001e00c644c3" /><Relationship Type="http://schemas.openxmlformats.org/officeDocument/2006/relationships/notesMaster" Target="/ppt/notesMasters/notesMaster1.xml" Id="Rf648c027fa804069" /><Relationship Type="http://schemas.openxmlformats.org/officeDocument/2006/relationships/presProps" Target="/ppt/presProps.xml" Id="R025f3b32be9e46ac" /><Relationship Type="http://schemas.openxmlformats.org/officeDocument/2006/relationships/tableStyles" Target="/ppt/tableStyles.xml" Id="R319978373eef4be8" /><Relationship Type="http://schemas.openxmlformats.org/officeDocument/2006/relationships/slide" Target="/ppt/slides/slide1.xml" Id="Rfb3953331e0c416e" /><Relationship Type="http://schemas.openxmlformats.org/officeDocument/2006/relationships/slide" Target="/ppt/slides/slide2.xml" Id="R2c63d446f0514d4a" /><Relationship Type="http://schemas.openxmlformats.org/officeDocument/2006/relationships/slide" Target="/ppt/slides/slide3.xml" Id="R9a97d0a134274df0" /><Relationship Type="http://schemas.openxmlformats.org/officeDocument/2006/relationships/slide" Target="/ppt/slides/slide4.xml" Id="R03120559433346c0" /><Relationship Type="http://schemas.openxmlformats.org/officeDocument/2006/relationships/slide" Target="/ppt/slides/slide5.xml" Id="R157f83dc5342432a" /><Relationship Type="http://schemas.openxmlformats.org/officeDocument/2006/relationships/slide" Target="/ppt/slides/slide6.xml" Id="R9a93e84488754dbb" /><Relationship Type="http://schemas.openxmlformats.org/officeDocument/2006/relationships/slide" Target="/ppt/slides/slide7.xml" Id="R81eb36604f49476e" /><Relationship Type="http://schemas.openxmlformats.org/officeDocument/2006/relationships/slide" Target="/ppt/slides/slide8.xml" Id="Raf6e0189f68d4a86" /><Relationship Type="http://schemas.openxmlformats.org/officeDocument/2006/relationships/slide" Target="/ppt/slides/slide9.xml" Id="R8908fcc9772d43dd" /><Relationship Type="http://schemas.openxmlformats.org/officeDocument/2006/relationships/slide" Target="/ppt/slides/slide10.xml" Id="R3a51c9416667461b" /><Relationship Type="http://schemas.openxmlformats.org/officeDocument/2006/relationships/slide" Target="/ppt/slides/slide11.xml" Id="Re220a5e671d14577" /><Relationship Type="http://schemas.openxmlformats.org/officeDocument/2006/relationships/slide" Target="/ppt/slides/slide12.xml" Id="Rc16013a27c7a453a" /><Relationship Type="http://schemas.openxmlformats.org/officeDocument/2006/relationships/slide" Target="/ppt/slides/slide13.xml" Id="R9757f144f9464688" /><Relationship Type="http://schemas.openxmlformats.org/officeDocument/2006/relationships/slide" Target="/ppt/slides/slide14.xml" Id="R3043bacd380c4e2d" /><Relationship Type="http://schemas.openxmlformats.org/officeDocument/2006/relationships/slide" Target="/ppt/slides/slide15.xml" Id="Rc0d6bee9dde743e2" /><Relationship Type="http://schemas.openxmlformats.org/officeDocument/2006/relationships/slide" Target="/ppt/slides/slide16.xml" Id="R8b8a603ad99e42e6" /><Relationship Type="http://schemas.openxmlformats.org/officeDocument/2006/relationships/slide" Target="/ppt/slides/slide17.xml" Id="Rb12c52e9f0d14186" /><Relationship Type="http://schemas.openxmlformats.org/officeDocument/2006/relationships/slide" Target="/ppt/slides/slide18.xml" Id="Rc9c4ef5f30b34ba8" /><Relationship Type="http://schemas.openxmlformats.org/officeDocument/2006/relationships/slide" Target="/ppt/slides/slide19.xml" Id="R0bcb0cee06504c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9cc3c2c18a4c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a5139619334c05" /><Relationship Type="http://schemas.openxmlformats.org/officeDocument/2006/relationships/notesMaster" Target="/ppt/notesMasters/notesMaster1.xml" Id="R0eb1ee74482b47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394016391b42a7" /><Relationship Type="http://schemas.openxmlformats.org/officeDocument/2006/relationships/notesMaster" Target="/ppt/notesMasters/notesMaster1.xml" Id="R6fc7fcaf2ed847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d3dc091a974d1f" /><Relationship Type="http://schemas.openxmlformats.org/officeDocument/2006/relationships/notesMaster" Target="/ppt/notesMasters/notesMaster1.xml" Id="Ra0485ec9262946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b43a9a8be14158" /><Relationship Type="http://schemas.openxmlformats.org/officeDocument/2006/relationships/notesMaster" Target="/ppt/notesMasters/notesMaster1.xml" Id="R105753dc8f4545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1688490ef144ec" /><Relationship Type="http://schemas.openxmlformats.org/officeDocument/2006/relationships/notesMaster" Target="/ppt/notesMasters/notesMaster1.xml" Id="R396273925f2c4b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e4fd4ef0a74985" /><Relationship Type="http://schemas.openxmlformats.org/officeDocument/2006/relationships/notesMaster" Target="/ppt/notesMasters/notesMaster1.xml" Id="R9c35d9c5be3c4d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1cf5566ff8485f" /><Relationship Type="http://schemas.openxmlformats.org/officeDocument/2006/relationships/notesMaster" Target="/ppt/notesMasters/notesMaster1.xml" Id="Re1f6ceb82b7042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6bc89f6b2141cd" /><Relationship Type="http://schemas.openxmlformats.org/officeDocument/2006/relationships/notesMaster" Target="/ppt/notesMasters/notesMaster1.xml" Id="Ra931fa01b5fe43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3808589c814a47" /><Relationship Type="http://schemas.openxmlformats.org/officeDocument/2006/relationships/notesMaster" Target="/ppt/notesMasters/notesMaster1.xml" Id="R9311d93b97a045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813d2bef254093" /><Relationship Type="http://schemas.openxmlformats.org/officeDocument/2006/relationships/notesMaster" Target="/ppt/notesMasters/notesMaster1.xml" Id="R247604565e004a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b0a5e02ff74bd8" /><Relationship Type="http://schemas.openxmlformats.org/officeDocument/2006/relationships/notesMaster" Target="/ppt/notesMasters/notesMaster1.xml" Id="R9a362a7d3cc440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e5e6e9722349b0" /><Relationship Type="http://schemas.openxmlformats.org/officeDocument/2006/relationships/notesMaster" Target="/ppt/notesMasters/notesMaster1.xml" Id="Ra16fc5b7a6794d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314393690740f6" /><Relationship Type="http://schemas.openxmlformats.org/officeDocument/2006/relationships/notesMaster" Target="/ppt/notesMasters/notesMaster1.xml" Id="R0aceffdd5ad54c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7bf783f31f469b" /><Relationship Type="http://schemas.openxmlformats.org/officeDocument/2006/relationships/notesMaster" Target="/ppt/notesMasters/notesMaster1.xml" Id="Rdb3c888633ae4f3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c5f936d99964921" /><Relationship Type="http://schemas.openxmlformats.org/officeDocument/2006/relationships/notesMaster" Target="/ppt/notesMasters/notesMaster1.xml" Id="R1c39ecff2b314e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bdfa64a6a6d4f12" /><Relationship Type="http://schemas.openxmlformats.org/officeDocument/2006/relationships/notesMaster" Target="/ppt/notesMasters/notesMaster1.xml" Id="R9d29d06595b74b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19c885aa5a40c0" /><Relationship Type="http://schemas.openxmlformats.org/officeDocument/2006/relationships/notesMaster" Target="/ppt/notesMasters/notesMaster1.xml" Id="Ra3d72deddffc4ca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f127c344f3444f8" /><Relationship Type="http://schemas.openxmlformats.org/officeDocument/2006/relationships/notesMaster" Target="/ppt/notesMasters/notesMaster1.xml" Id="R237ca25defd149a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412eff37f784479" /><Relationship Type="http://schemas.openxmlformats.org/officeDocument/2006/relationships/notesMaster" Target="/ppt/notesMasters/notesMaster1.xml" Id="R8c90aa37c3004d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(Project foundations: problem, scope, data and flow inputs). Slide 1.</a:t>
            </a:r>
          </a:p>
          <a:p xmlns:a="http://schemas.openxmlformats.org/drawingml/2006/main">
            <a:r>
              <a:t/>
            </a:r>
          </a:p>
          <a:p xmlns:a="http://schemas.openxmlformats.org/drawingml/2006/main">
            <a:r>
              <a:t>Good morning. We are presenting FlowGuard, a network intrusion detection research prototype. It classifies completed network flows as benign or one of six attack categories. We will explain the data, models, measured results, and limits of the evidence.</a:t>
            </a:r>
          </a:p>
          <a:p xmlns:a="http://schemas.openxmlformats.org/drawingml/2006/main">
            <a:r>
              <a:t/>
            </a:r>
          </a:p>
          <a:p xmlns:a="http://schemas.openxmlformats.org/drawingml/2006/main">
            <a:r>
              <a:t>Presenter cue: Add the three presenters' names and confirmed course details before presenting.</a:t>
            </a:r>
          </a:p>
          <a:p xmlns:a="http://schemas.openxmlformats.org/drawingml/2006/main">
            <a:r>
              <a:t/>
            </a:r>
          </a:p>
          <a:p xmlns:a="http://schemas.openxmlformats.org/drawingml/2006/main">
            <a:r>
              <a:t>Sources: PROJECT_REPORT.pdf; PROJECT_PRESENTATION_FINAL.pptx.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(Project foundations: problem, scope, data and flow inputs). Slide 2.</a:t>
            </a:r>
          </a:p>
          <a:p xmlns:a="http://schemas.openxmlformats.org/drawingml/2006/main">
            <a:r>
              <a:t/>
            </a:r>
          </a:p>
          <a:p xmlns:a="http://schemas.openxmlformats.org/drawingml/2006/main">
            <a:r>
              <a:t>The project studies supervised classification of network-flow records. A flow is a summary of traffic between endpoints, so the model works on features extracted from packets rather than raw payload. The intended result is a class prediction to support analysis, not an intrusion prevention action.</a:t>
            </a:r>
          </a:p>
          <a:p xmlns:a="http://schemas.openxmlformats.org/drawingml/2006/main">
            <a:r>
              <a:t/>
            </a:r>
          </a:p>
          <a:p xmlns:a="http://schemas.openxmlformats.org/drawingml/2006/main">
            <a:r>
              <a:t>Presenter cue: Define a flow in one sentence before listing classes.</a:t>
            </a:r>
          </a:p>
          <a:p xmlns:a="http://schemas.openxmlformats.org/drawingml/2006/main">
            <a:r>
              <a:t/>
            </a:r>
          </a:p>
          <a:p xmlns:a="http://schemas.openxmlformats.org/drawingml/2006/main">
            <a:r>
              <a:t>Sources: PROJECT_REPORT.pdf, sections 1 and 5; docs/REQUIREMENT_TRACEABILITY.md.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(Project foundations: problem, scope, data and flow inputs). Slide 3.</a:t>
            </a:r>
          </a:p>
          <a:p xmlns:a="http://schemas.openxmlformats.org/drawingml/2006/main">
            <a:r>
              <a:t/>
            </a:r>
          </a:p>
          <a:p xmlns:a="http://schemas.openxmlformats.org/drawingml/2006/main">
            <a:r>
              <a:t>The delivered project is broad, but we should describe the boundaries as clearly as the features. CIC-IDS2017 was the chosen dataset. Several other datasets were alternatives in the original brief, not training sources. The dashboard is local. Packet replay is included, while physical interface capture still needs validation.</a:t>
            </a:r>
          </a:p>
          <a:p xmlns:a="http://schemas.openxmlformats.org/drawingml/2006/main">
            <a:r>
              <a:t/>
            </a:r>
          </a:p>
          <a:p xmlns:a="http://schemas.openxmlformats.org/drawingml/2006/main">
            <a:r>
              <a:t>Presenter cue: Do not treat every optional idea in the original checklist as a completed requirement.</a:t>
            </a:r>
          </a:p>
          <a:p xmlns:a="http://schemas.openxmlformats.org/drawingml/2006/main">
            <a:r>
              <a:t/>
            </a:r>
          </a:p>
          <a:p xmlns:a="http://schemas.openxmlformats.org/drawingml/2006/main">
            <a:r>
              <a:t>Sources: WORK_COMPLETED_AND_TEAM_HANDOFF.pdf, pages 1-2 and 5-6; docs/REQUIREMENT_TRACEABILITY.md.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(Project foundations: problem, scope, data and flow inputs). Slide 4.</a:t>
            </a:r>
          </a:p>
          <a:p xmlns:a="http://schemas.openxmlformats.org/drawingml/2006/main">
            <a:r>
              <a:t/>
            </a:r>
          </a:p>
          <a:p xmlns:a="http://schemas.openxmlformats.org/drawingml/2006/main">
            <a:r>
              <a:t>The seven-class extended feature test contains 1,811 sampled flows. Support is not balanced across classes, and Infiltration has only five examples. That count matters when interpreting its recall or F1. These results describe this fixed sample and do not prove performance on a live network.</a:t>
            </a:r>
          </a:p>
          <a:p xmlns:a="http://schemas.openxmlformats.org/drawingml/2006/main">
            <a:r>
              <a:t/>
            </a:r>
          </a:p>
          <a:p xmlns:a="http://schemas.openxmlformats.org/drawingml/2006/main">
            <a:r>
              <a:t>Presenter cue: Pause on Infiltration = 5; class support is central to interpreting the metrics.</a:t>
            </a:r>
          </a:p>
          <a:p xmlns:a="http://schemas.openxmlformats.org/drawingml/2006/main">
            <a:r>
              <a:t/>
            </a:r>
          </a:p>
          <a:p xmlns:a="http://schemas.openxmlformats.org/drawingml/2006/main">
            <a:r>
              <a:t>Sources: results/extended/test_metrics.json; PROJECT_REPORT.pdf, sections 2 and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(Project foundations: problem, scope, data and flow inputs). Slide 5.</a:t>
            </a:r>
          </a:p>
          <a:p xmlns:a="http://schemas.openxmlformats.org/drawingml/2006/main">
            <a:r>
              <a:t/>
            </a:r>
          </a:p>
          <a:p xmlns:a="http://schemas.openxmlformats.org/drawingml/2006/main">
            <a:r>
              <a:t>The dataset pipeline audits files, maps labels, removes exact selected-feature duplicates and resolves conflicting labels before creating the feature benchmark. Preprocessing is trained only on the training partition, and validation data selects the checkpoint. The report also documents the limits of random splits: related hosts or campaigns may still occur across partitions.</a:t>
            </a:r>
          </a:p>
          <a:p xmlns:a="http://schemas.openxmlformats.org/drawingml/2006/main">
            <a:r>
              <a:t/>
            </a:r>
          </a:p>
          <a:p xmlns:a="http://schemas.openxmlformats.org/drawingml/2006/main">
            <a:r>
              <a:t>Presenter cue: Say how leakage controls help, then state what they cannot guarantee.</a:t>
            </a:r>
          </a:p>
          <a:p xmlns:a="http://schemas.openxmlformats.org/drawingml/2006/main">
            <a:r>
              <a:t/>
            </a:r>
          </a:p>
          <a:p xmlns:a="http://schemas.openxmlformats.org/drawingml/2006/main">
            <a:r>
              <a:t>Sources: PROJECT_REPORT.pdf, section 2; results/extended/processed/data_audit.json; docs/REQUIREMENT_TRACEABILITY.md.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(Project foundations: problem, scope, data and flow inputs). Slide 6.</a:t>
            </a:r>
          </a:p>
          <a:p xmlns:a="http://schemas.openxmlformats.org/drawingml/2006/main">
            <a:r>
              <a:t/>
            </a:r>
          </a:p>
          <a:p xmlns:a="http://schemas.openxmlformats.org/drawingml/2006/main">
            <a:r>
              <a:t>The core model receives 24 flow statistics. Context experiments add ports, protocol, endpoint-derived features and a state proxy. Raw IP addresses are used to group temporal activity and construct graph edges. Context models use deterministic hash buckets and private-status features, so collisions and dataset-specific topology remain possible.</a:t>
            </a:r>
          </a:p>
          <a:p xmlns:a="http://schemas.openxmlformats.org/drawingml/2006/main">
            <a:r>
              <a:t/>
            </a:r>
          </a:p>
          <a:p xmlns:a="http://schemas.openxmlformats.org/drawingml/2006/main">
            <a:r>
              <a:t>Presenter cue: Distinguish the core 24-feature input from the larger context input.</a:t>
            </a:r>
          </a:p>
          <a:p xmlns:a="http://schemas.openxmlformats.org/drawingml/2006/main">
            <a:r>
              <a:t/>
            </a:r>
          </a:p>
          <a:p xmlns:a="http://schemas.openxmlformats.org/drawingml/2006/main">
            <a:r>
              <a:t>Sources: PROJECT_REPORT.pdf, sections 5-6; data/extended/processed/feature_dictionary.csv.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(Model design and evaluation: architectures, training and measured results). Slide 7.</a:t>
            </a:r>
          </a:p>
          <a:p xmlns:a="http://schemas.openxmlformats.org/drawingml/2006/main">
            <a:r>
              <a:t/>
            </a:r>
          </a:p>
          <a:p xmlns:a="http://schemas.openxmlformats.org/drawingml/2006/main">
            <a:r>
              <a:t>There are two distinct attention tasks. The core feature Transformer attends among feature tokens inside one flow. The temporal model attends across a chronological window of eight flow records and predicts the last flow. The CNN, LSTM and GRU baselines scan fixed feature order; they are not temporal traffic models.</a:t>
            </a:r>
          </a:p>
          <a:p xmlns:a="http://schemas.openxmlformats.org/drawingml/2006/main">
            <a:r>
              <a:t/>
            </a:r>
          </a:p>
          <a:p xmlns:a="http://schemas.openxmlformats.org/drawingml/2006/main">
            <a:r>
              <a:t>Presenter cue: Use this distinction throughout the presentation; do not call every sequence model temporal.</a:t>
            </a:r>
          </a:p>
          <a:p xmlns:a="http://schemas.openxmlformats.org/drawingml/2006/main">
            <a:r>
              <a:t/>
            </a:r>
          </a:p>
          <a:p xmlns:a="http://schemas.openxmlformats.org/drawingml/2006/main">
            <a:r>
              <a:t>Sources: PROJECT_REPORT.pdf, sections 6-9; docs/DEMO_AND_VIVA.md.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(Model design and evaluation: architectures, training and measured results). Slide 8.</a:t>
            </a:r>
          </a:p>
          <a:p xmlns:a="http://schemas.openxmlformats.org/drawingml/2006/main">
            <a:r>
              <a:t/>
            </a:r>
          </a:p>
          <a:p xmlns:a="http://schemas.openxmlformats.org/drawingml/2006/main">
            <a:r>
              <a:t>The feature Transformer tokenizes the 24 input values and adds learned feature identities. A CLS token summarizes the tokens. The encoder has two layers, four attention heads and dimension 32, followed by a seven-class head. It is a feature-relation model for individual flows, not a model of long traffic history.</a:t>
            </a:r>
          </a:p>
          <a:p xmlns:a="http://schemas.openxmlformats.org/drawingml/2006/main">
            <a:r>
              <a:t/>
            </a:r>
          </a:p>
          <a:p xmlns:a="http://schemas.openxmlformats.org/drawingml/2006/main">
            <a:r>
              <a:t>Presenter cue: Walk left to right and name what each representation means.</a:t>
            </a:r>
          </a:p>
          <a:p xmlns:a="http://schemas.openxmlformats.org/drawingml/2006/main">
            <a:r>
              <a:t/>
            </a:r>
          </a:p>
          <a:p xmlns:a="http://schemas.openxmlformats.org/drawingml/2006/main">
            <a:r>
              <a:t>Sources: PROJECT_REPORT.pdf, section 7; nids/models.py; artifacts/extended/model_metadata.json.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(Model design and evaluation: architectures, training and measured results). Slide 9.</a:t>
            </a:r>
          </a:p>
          <a:p xmlns:a="http://schemas.openxmlformats.org/drawingml/2006/main">
            <a:r>
              <a:t/>
            </a:r>
          </a:p>
          <a:p xmlns:a="http://schemas.openxmlformats.org/drawingml/2006/main">
            <a:r>
              <a:t>The seven-model comparison uses matching rows and features. Neural models use AdamW, a learning rate of 0.001, weighted cross-entropy, batch size 256 and gradient clipping, with validation macro-F1 for checkpoint choice. Each model uses one fixed configuration and seed. The evidence is controlled for the delivered split, but not an exhaustive tuning study.</a:t>
            </a:r>
          </a:p>
          <a:p xmlns:a="http://schemas.openxmlformats.org/drawingml/2006/main">
            <a:r>
              <a:t/>
            </a:r>
          </a:p>
          <a:p xmlns:a="http://schemas.openxmlformats.org/drawingml/2006/main">
            <a:r>
              <a:t>Presenter cue: Mention the one-seed limitation before drawing broad model conclusions.</a:t>
            </a:r>
          </a:p>
          <a:p xmlns:a="http://schemas.openxmlformats.org/drawingml/2006/main">
            <a:r>
              <a:t/>
            </a:r>
          </a:p>
          <a:p xmlns:a="http://schemas.openxmlformats.org/drawingml/2006/main">
            <a:r>
              <a:t>Sources: PROJECT_REPORT.pdf, sections 7-8; results/extended/model_comparison.csv.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(Model design and evaluation: architectures, training and measured results). Slide 10.</a:t>
            </a:r>
          </a:p>
          <a:p xmlns:a="http://schemas.openxmlformats.org/drawingml/2006/main">
            <a:r>
              <a:t/>
            </a:r>
          </a:p>
          <a:p xmlns:a="http://schemas.openxmlformats.org/drawingml/2006/main">
            <a:r>
              <a:t>On this fixed split, Random Forest achieved the highest macro-F1 at 0.9588. The feature Transformer scored 0.9409, and CNN scored 0.9539. Random Forest accuracy was 99.23 percent and benign false-positive rate was 0.89 percent; the Transformer reached 97.02 percent accuracy and a 4.44 percent benign false-positive rate. We report the measured baseline winner rather than assuming attention wins.</a:t>
            </a:r>
          </a:p>
          <a:p xmlns:a="http://schemas.openxmlformats.org/drawingml/2006/main">
            <a:r>
              <a:t/>
            </a:r>
          </a:p>
          <a:p xmlns:a="http://schemas.openxmlformats.org/drawingml/2006/main">
            <a:r>
              <a:t>Presenter cue: Point to the Random Forest bar, then state why this does not prove universal superiority.</a:t>
            </a:r>
          </a:p>
          <a:p xmlns:a="http://schemas.openxmlformats.org/drawingml/2006/main">
            <a:r>
              <a:t/>
            </a:r>
          </a:p>
          <a:p xmlns:a="http://schemas.openxmlformats.org/drawingml/2006/main">
            <a:r>
              <a:t>Sources: results/extended/model_comparison.csv; PROJECT_REPORT.pdf,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(Model design and evaluation: architectures, training and measured results). Slide 11.</a:t>
            </a:r>
          </a:p>
          <a:p xmlns:a="http://schemas.openxmlformats.org/drawingml/2006/main">
            <a:r>
              <a:t/>
            </a:r>
          </a:p>
          <a:p xmlns:a="http://schemas.openxmlformats.org/drawingml/2006/main">
            <a:r>
              <a:t>The Transformer classified three of the five Infiltration test flows correctly, giving 0.60 recall and 0.75 F1 in this split. With only five test examples, a single example changes recall by 20 percentage points. This is an evaluation warning, not evidence that Infiltration detection is dependable.</a:t>
            </a:r>
          </a:p>
          <a:p xmlns:a="http://schemas.openxmlformats.org/drawingml/2006/main">
            <a:r>
              <a:t/>
            </a:r>
          </a:p>
          <a:p xmlns:a="http://schemas.openxmlformats.org/drawingml/2006/main">
            <a:r>
              <a:t>Presenter cue: Do not hide this result behind overall accuracy.</a:t>
            </a:r>
          </a:p>
          <a:p xmlns:a="http://schemas.openxmlformats.org/drawingml/2006/main">
            <a:r>
              <a:t/>
            </a:r>
          </a:p>
          <a:p xmlns:a="http://schemas.openxmlformats.org/drawingml/2006/main">
            <a:r>
              <a:t>Sources: results/extended/test_metrics.json; PROJECT_REPORT.pdf, sections 8 and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(Model design and evaluation: architectures, training and measured results). Slide 12.</a:t>
            </a:r>
          </a:p>
          <a:p xmlns:a="http://schemas.openxmlformats.org/drawingml/2006/main">
            <a:r>
              <a:t/>
            </a:r>
          </a:p>
          <a:p xmlns:a="http://schemas.openxmlformats.org/drawingml/2006/main">
            <a:r>
              <a:t>The temporal model predicts the endpoint of complete eight-flow windows. It scored 93.88 percent accuracy and 0.8003 macro-F1 across seven labels on 196 endpoints. The test split contains no Infiltration endpoint and only six Benign endpoints. Those outputs are not directly comparable with the individual-flow benchmark because the evaluation units differ.</a:t>
            </a:r>
          </a:p>
          <a:p xmlns:a="http://schemas.openxmlformats.org/drawingml/2006/main">
            <a:r>
              <a:t/>
            </a:r>
          </a:p>
          <a:p xmlns:a="http://schemas.openxmlformats.org/drawingml/2006/main">
            <a:r>
              <a:t>Presenter cue: Point out the missing Infiltration support on the confusion matrix.</a:t>
            </a:r>
          </a:p>
          <a:p xmlns:a="http://schemas.openxmlformats.org/drawingml/2006/main">
            <a:r>
              <a:t/>
            </a:r>
          </a:p>
          <a:p xmlns:a="http://schemas.openxmlformats.org/drawingml/2006/main">
            <a:r>
              <a:t>Sources: results/advanced/test_metrics.json; results/advanced/plots/TemporalTransformer_confusion.png; PROJECT_REPORT.pdf, section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(Extensions and handoff: context models, demo, limitations and conclusion). Slide 13.</a:t>
            </a:r>
          </a:p>
          <a:p xmlns:a="http://schemas.openxmlformats.org/drawingml/2006/main">
            <a:r>
              <a:t/>
            </a:r>
          </a:p>
          <a:p xmlns:a="http://schemas.openxmlformats.org/drawingml/2006/main">
            <a:r>
              <a:t>The context models use additional network information in different ways. BERTStyleEncoder is a bidirectional feature encoder trained from scratch; TabTransformer embeds categorical inputs; FlowViT uses numerical patches; and the graph network connects flows sharing an endpoint inside a batch. Each produced 3,526 individual-flow test outputs. These experimental rows should be interpreted with the documented protocol and topology limits.</a:t>
            </a:r>
          </a:p>
          <a:p xmlns:a="http://schemas.openxmlformats.org/drawingml/2006/main">
            <a:r>
              <a:t/>
            </a:r>
          </a:p>
          <a:p xmlns:a="http://schemas.openxmlformats.org/drawingml/2006/main">
            <a:r>
              <a:t>Presenter cue: Explain one model representation; emphasize that BERT-style is not pretrained BERT.</a:t>
            </a:r>
          </a:p>
          <a:p xmlns:a="http://schemas.openxmlformats.org/drawingml/2006/main">
            <a:r>
              <a:t/>
            </a:r>
          </a:p>
          <a:p xmlns:a="http://schemas.openxmlformats.org/drawingml/2006/main">
            <a:r>
              <a:t>Sources: results/advanced/model_comparison.csv; PROJECT_REPORT.pdf, section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(Extensions and handoff: context models, demo, limitations and conclusion). Slide 14.</a:t>
            </a:r>
          </a:p>
          <a:p xmlns:a="http://schemas.openxmlformats.org/drawingml/2006/main">
            <a:r>
              <a:t/>
            </a:r>
          </a:p>
          <a:p xmlns:a="http://schemas.openxmlformats.org/drawingml/2006/main">
            <a:r>
              <a:t>The FedAvg experiment simulates three local clients and sample-weighted model aggregation over three rounds; it does not provide a privacy guarantee. The online experiment predicts before revealing true labels and updates with those labels. It is a supervised adaptation study, not unlabeled online learning.</a:t>
            </a:r>
          </a:p>
          <a:p xmlns:a="http://schemas.openxmlformats.org/drawingml/2006/main">
            <a:r>
              <a:t/>
            </a:r>
          </a:p>
          <a:p xmlns:a="http://schemas.openxmlformats.org/drawingml/2006/main">
            <a:r>
              <a:t>Presenter cue: Use the word simulation; do not claim privacy or real-world drift validation.</a:t>
            </a:r>
          </a:p>
          <a:p xmlns:a="http://schemas.openxmlformats.org/drawingml/2006/main">
            <a:r>
              <a:t/>
            </a:r>
          </a:p>
          <a:p xmlns:a="http://schemas.openxmlformats.org/drawingml/2006/main">
            <a:r>
              <a:t>Sources: results/advanced/federated_rounds.json; results/advanced/online_prequential.csv; PROJECT_REPORT.pdf, section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(Extensions and handoff: context models, demo, limitations and conclusion). Slide 15.</a:t>
            </a:r>
          </a:p>
          <a:p xmlns:a="http://schemas.openxmlformats.org/drawingml/2006/main">
            <a:r>
              <a:t/>
            </a:r>
          </a:p>
          <a:p xmlns:a="http://schemas.openxmlformats.org/drawingml/2006/main">
            <a:r>
              <a:t>The saved SHAP example reports its reference probability, attribution sum and reconstructed DDoS probability. The LIME example has R-squared 0.1440, which is weak fidelity and limits interpretation. The anomaly flag is based on a benign-trained Isolation Forest, but its known-attack recall is only 1.98 percent. Neither method establishes causal explanations or zero-day reliability.</a:t>
            </a:r>
          </a:p>
          <a:p xmlns:a="http://schemas.openxmlformats.org/drawingml/2006/main">
            <a:r>
              <a:t/>
            </a:r>
          </a:p>
          <a:p xmlns:a="http://schemas.openxmlformats.org/drawingml/2006/main">
            <a:r>
              <a:t>Presenter cue: Lead with the LIME limitation and the weak anomaly recall.</a:t>
            </a:r>
          </a:p>
          <a:p xmlns:a="http://schemas.openxmlformats.org/drawingml/2006/main">
            <a:r>
              <a:t/>
            </a:r>
          </a:p>
          <a:p xmlns:a="http://schemas.openxmlformats.org/drawingml/2006/main">
            <a:r>
              <a:t>Sources: PROJECT_REPORT.pdf, section 12; results/explanations/shap.csv; results/extended/anomaly_metrics.json.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(Extensions and handoff: context models, demo, limitations and conclusion). Slide 16.</a:t>
            </a:r>
          </a:p>
          <a:p xmlns:a="http://schemas.openxmlformats.org/drawingml/2006/main">
            <a:r>
              <a:t/>
            </a:r>
          </a:p>
          <a:p xmlns:a="http://schemas.openxmlformats.org/drawingml/2006/main">
            <a:r>
              <a:t>The monitor groups IPv4 TCP and UDP packets into bounded bidirectional flows, predicts completed flows and writes JSONL records. The synthetic replay processed 48 packets into 12 events in 0.207 seconds, about 58 flows per second. This tiny plumbing run is not a production benchmark or attack-accuracy evaluation. Live capture requires Npcap and target-interface validation.</a:t>
            </a:r>
          </a:p>
          <a:p xmlns:a="http://schemas.openxmlformats.org/drawingml/2006/main">
            <a:r>
              <a:t/>
            </a:r>
          </a:p>
          <a:p xmlns:a="http://schemas.openxmlformats.org/drawingml/2006/main">
            <a:r>
              <a:t>Presenter cue: Describe this as packet-to-event plumbing, not real-time attack detection.</a:t>
            </a:r>
          </a:p>
          <a:p xmlns:a="http://schemas.openxmlformats.org/drawingml/2006/main">
            <a:r>
              <a:t/>
            </a:r>
          </a:p>
          <a:p xmlns:a="http://schemas.openxmlformats.org/drawingml/2006/main">
            <a:r>
              <a:t>Sources: results/pcap_replay.summary.json; PROJECT_REPORT.pdf, section 13; nids/capture.py; scripts/monitor.py.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(Extensions and handoff: context models, demo, limitations and conclusion). Slide 17.</a:t>
            </a:r>
          </a:p>
          <a:p xmlns:a="http://schemas.openxmlformats.org/drawingml/2006/main">
            <a:r>
              <a:t/>
            </a:r>
          </a:p>
          <a:p xmlns:a="http://schemas.openxmlformats.org/drawingml/2006/main">
            <a:r>
              <a:t>The dashboard provides profile selection, sample classification, metrics, model comparisons and an Extended lab. We can show the current local app at http://127.0.0.1:8502. Start with included samples, open performance and class support, then show one advanced model if time permits. If the app is unavailable, use the supplied screenshot and do not claim that physical capture was demonstrated.</a:t>
            </a:r>
          </a:p>
          <a:p xmlns:a="http://schemas.openxmlformats.org/drawingml/2006/main">
            <a:r>
              <a:t/>
            </a:r>
          </a:p>
          <a:p xmlns:a="http://schemas.openxmlformats.org/drawingml/2006/main">
            <a:r>
              <a:t>Presenter cue: Presenter 3 controls the screen. Presenter 2 handles metric questions.</a:t>
            </a:r>
          </a:p>
          <a:p xmlns:a="http://schemas.openxmlformats.org/drawingml/2006/main">
            <a:r>
              <a:t/>
            </a:r>
          </a:p>
          <a:p xmlns:a="http://schemas.openxmlformats.org/drawingml/2006/main">
            <a:r>
              <a:t>Sources: docs/screenshots/extended_lab.jpg; app.py; CODEX_HANDOFF.md.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(Extensions and handoff: context models, demo, limitations and conclusion). Slide 18.</a:t>
            </a:r>
          </a:p>
          <a:p xmlns:a="http://schemas.openxmlformats.org/drawingml/2006/main">
            <a:r>
              <a:t/>
            </a:r>
          </a:p>
          <a:p xmlns:a="http://schemas.openxmlformats.org/drawingml/2006/main">
            <a:r>
              <a:t>The main follow-up work is validation. Physical capture needs an installed driver and interface testing. The packet extractor must be compared with the training feature definitions. The experiments need more rare-class sequences, stronger host or campaign holdouts, more seeds and external datasets. Target-network false-alert rates and load also need evaluation before considering deployment.</a:t>
            </a:r>
          </a:p>
          <a:p xmlns:a="http://schemas.openxmlformats.org/drawingml/2006/main">
            <a:r>
              <a:t/>
            </a:r>
          </a:p>
          <a:p xmlns:a="http://schemas.openxmlformats.org/drawingml/2006/main">
            <a:r>
              <a:t>Presenter cue: Present these as the next research steps; do not imply they have already been done.</a:t>
            </a:r>
          </a:p>
          <a:p xmlns:a="http://schemas.openxmlformats.org/drawingml/2006/main">
            <a:r>
              <a:t/>
            </a:r>
          </a:p>
          <a:p xmlns:a="http://schemas.openxmlformats.org/drawingml/2006/main">
            <a:r>
              <a:t>Sources: WORK_COMPLETED_AND_TEAM_HANDOFF.pdf, pages 4 and 6; PROJECT_REPORT.pdf, section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(Extensions and handoff: context models, demo, limitations and conclusion). Slide 19.</a:t>
            </a:r>
          </a:p>
          <a:p xmlns:a="http://schemas.openxmlformats.org/drawingml/2006/main">
            <a:r>
              <a:t/>
            </a:r>
          </a:p>
          <a:p xmlns:a="http://schemas.openxmlformats.org/drawingml/2006/main">
            <a:r>
              <a:t>To conclude, this project provides a reproducible implementation and an honest evaluation of established methods. In this benchmark, Random Forest outperformed the feature Transformer. The project does not establish architecture novelty, production readiness or zero-day reliability. Thank you; we are ready for questions. Full references are in the report.</a:t>
            </a:r>
          </a:p>
          <a:p xmlns:a="http://schemas.openxmlformats.org/drawingml/2006/main">
            <a:r>
              <a:t/>
            </a:r>
          </a:p>
          <a:p xmlns:a="http://schemas.openxmlformats.org/drawingml/2006/main">
            <a:r>
              <a:t>Presenter cue: Close together and invite questions. Add confirmed names and institution details before submission.</a:t>
            </a:r>
          </a:p>
          <a:p xmlns:a="http://schemas.openxmlformats.org/drawingml/2006/main">
            <a:r>
              <a:t/>
            </a:r>
          </a:p>
          <a:p xmlns:a="http://schemas.openxmlformats.org/drawingml/2006/main">
            <a:r>
              <a:t>Sources: PROJECT_REPORT.pdf, references and section 14; docs/REQUIREMENT_TRACEABILITY.md.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935bdd79e744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03ba634bb444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d29f968172444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d34f91bdb940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20444d3a8841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ef5e25f1f264c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8154DC-4A6F-43B4-809C-82C8F38BC71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1255AB-DF15-4973-9AB4-3A38AB22AD2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E85C746-EB75-4BFC-8D3E-1EB8615CC36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AA802F-4677-4574-B28F-6339BD0720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17A0336-FBF9-4346-97CA-76175934F0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48E9901-5368-45FD-AE3A-0123480B03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6F37E9-E0F4-47FB-9180-7275D1F6A9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8D9465-D78F-4472-BB89-4B8DB31272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9CA226-86D2-4341-B7BF-2A969309EA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C10E2C-93DB-425C-8A95-9777DF8DE6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e48c142df34fbe" /><Relationship Type="http://schemas.openxmlformats.org/officeDocument/2006/relationships/slideLayout" Target="/ppt/slideLayouts/slideLayout1.xml" Id="R9ecdfe4b0be641c6" /><Relationship Type="http://schemas.openxmlformats.org/officeDocument/2006/relationships/slideLayout" Target="/ppt/slideLayouts/slideLayout2.xml" Id="Re408ddae9abc4269" /><Relationship Type="http://schemas.openxmlformats.org/officeDocument/2006/relationships/slideLayout" Target="/ppt/slideLayouts/slideLayout3.xml" Id="R9be10f0786df4c5e" /><Relationship Type="http://schemas.openxmlformats.org/officeDocument/2006/relationships/slideLayout" Target="/ppt/slideLayouts/slideLayout4.xml" Id="Ra7f5bb82d2484c31" /><Relationship Type="http://schemas.openxmlformats.org/officeDocument/2006/relationships/slideLayout" Target="/ppt/slideLayouts/slideLayout5.xml" Id="Re1698ced6cd14499" /><Relationship Type="http://schemas.openxmlformats.org/officeDocument/2006/relationships/slideLayout" Target="/ppt/slideLayouts/slideLayout6.xml" Id="R024648f3902c47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cdfe4b0be641c6"/>
    <p:sldLayoutId xmlns:r="http://schemas.openxmlformats.org/officeDocument/2006/relationships" id="2147483650" r:id="Re408ddae9abc4269"/>
    <p:sldLayoutId xmlns:r="http://schemas.openxmlformats.org/officeDocument/2006/relationships" id="2147483651" r:id="R9be10f0786df4c5e"/>
    <p:sldLayoutId xmlns:r="http://schemas.openxmlformats.org/officeDocument/2006/relationships" id="2147483652" r:id="Ra7f5bb82d2484c31"/>
    <p:sldLayoutId xmlns:r="http://schemas.openxmlformats.org/officeDocument/2006/relationships" id="2147483653" r:id="Re1698ced6cd14499"/>
    <p:sldLayoutId xmlns:r="http://schemas.openxmlformats.org/officeDocument/2006/relationships" id="2147483654" r:id="R024648f3902c47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466eea72ac4080" /><Relationship Type="http://schemas.openxmlformats.org/officeDocument/2006/relationships/notesSlide" Target="/ppt/notesSlides/notesSlide1.xml" Id="R6cb781bd67f44e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fe3c9a42fa438c" /><Relationship Type="http://schemas.openxmlformats.org/officeDocument/2006/relationships/notesSlide" Target="/ppt/notesSlides/notesSlide2.xml" Id="R5ef161c9b79c40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f12664dcf724f4b" /><Relationship Type="http://schemas.openxmlformats.org/officeDocument/2006/relationships/notesSlide" Target="/ppt/notesSlides/notesSlide3.xml" Id="R67bc58ea8d9c45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c453d8c2b774332" /><Relationship Type="http://schemas.openxmlformats.org/officeDocument/2006/relationships/notesSlide" Target="/ppt/notesSlides/notesSlide4.xml" Id="Rdc93b8e2a79d47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d5a574a83c84065" /><Relationship Type="http://schemas.openxmlformats.org/officeDocument/2006/relationships/notesSlide" Target="/ppt/notesSlides/notesSlide5.xml" Id="R5d64296378f249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46b74913a4d4e22" /><Relationship Type="http://schemas.openxmlformats.org/officeDocument/2006/relationships/notesSlide" Target="/ppt/notesSlides/notesSlide6.xml" Id="R1d6541a2092a4e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814625bd05543e8" /><Relationship Type="http://schemas.openxmlformats.org/officeDocument/2006/relationships/notesSlide" Target="/ppt/notesSlides/notesSlide7.xml" Id="Rb3880de25f5248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49ea49442f9473c" /><Relationship Type="http://schemas.openxmlformats.org/officeDocument/2006/relationships/notesSlide" Target="/ppt/notesSlides/notesSlide8.xml" Id="R728cb26273c542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cdb2bf6aecf43ab" /><Relationship Type="http://schemas.openxmlformats.org/officeDocument/2006/relationships/notesSlide" Target="/ppt/notesSlides/notesSlide9.xml" Id="Rb546a571bb7d4d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7ec995f1de64019" /><Relationship Type="http://schemas.openxmlformats.org/officeDocument/2006/relationships/chart" Target="/ppt/slides/charts/chart1.xml" Id="R10843d734eb1495c" /><Relationship Type="http://schemas.openxmlformats.org/officeDocument/2006/relationships/notesSlide" Target="/ppt/notesSlides/notesSlide10.xml" Id="Rded2132ae7c24b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20bf3fd4cc64533" /><Relationship Type="http://schemas.openxmlformats.org/officeDocument/2006/relationships/notesSlide" Target="/ppt/notesSlides/notesSlide11.xml" Id="R0607cd2ffdc246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124c8e5746d44f0" /><Relationship Type="http://schemas.openxmlformats.org/officeDocument/2006/relationships/image" Target="/ppt/media/image.png" Id="Ra181453c16d14e94" /><Relationship Type="http://schemas.openxmlformats.org/officeDocument/2006/relationships/notesSlide" Target="/ppt/notesSlides/notesSlide12.xml" Id="R7d955d91d03248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0bddcfbabcc480d" /><Relationship Type="http://schemas.openxmlformats.org/officeDocument/2006/relationships/notesSlide" Target="/ppt/notesSlides/notesSlide13.xml" Id="R752cd3c2495e463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5af325f87a74324" /><Relationship Type="http://schemas.openxmlformats.org/officeDocument/2006/relationships/notesSlide" Target="/ppt/notesSlides/notesSlide14.xml" Id="Ra38b6e554c944c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f9bdfc6d9e34f96" /><Relationship Type="http://schemas.openxmlformats.org/officeDocument/2006/relationships/notesSlide" Target="/ppt/notesSlides/notesSlide15.xml" Id="R9d3389f384964d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4fe7c4719c64cc2" /><Relationship Type="http://schemas.openxmlformats.org/officeDocument/2006/relationships/notesSlide" Target="/ppt/notesSlides/notesSlide16.xml" Id="R3c78185c582f4bc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923cb1915a84a0b" /><Relationship Type="http://schemas.openxmlformats.org/officeDocument/2006/relationships/image" Target="/ppt/media/image.jpeg" Id="Rd9e396ec551b44b3" /><Relationship Type="http://schemas.openxmlformats.org/officeDocument/2006/relationships/notesSlide" Target="/ppt/notesSlides/notesSlide17.xml" Id="Rc8bbb9dac52448f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62b3d313d0f41e7" /><Relationship Type="http://schemas.openxmlformats.org/officeDocument/2006/relationships/notesSlide" Target="/ppt/notesSlides/notesSlide18.xml" Id="R94718f975cbe475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c5e5c32b34641c5" /><Relationship Type="http://schemas.openxmlformats.org/officeDocument/2006/relationships/notesSlide" Target="/ppt/notesSlides/notesSlide19.xml" Id="R53bb861662384a93" /></Relationships>
</file>

<file path=ppt/slides/charts/chart1.xml><?xml version="1.0" encoding="utf-8"?>
<c:chartSpace xmlns:c="http://schemas.openxmlformats.org/drawingml/2006/chart">
  <c:lang val="en-US"/>
  <c:chart>
    <c:plotArea>
      <c:barChart>
        <c:barDir val="bar"/>
        <c:grouping val="clustered"/>
        <c:varyColors val="0"/>
        <c:ser>
          <c:idx val="0"/>
          <c:order val="0"/>
          <c:tx>
            <c:v>Macro-F1</c:v>
          </c:tx>
          <c:spPr>
            <a:solidFill xmlns:a="http://schemas.openxmlformats.org/drawingml/2006/main">
              <a:srgbClr val="087E8B"/>
            </a:solidFill>
          </c:spPr>
          <c:invertIfNegative val="0"/>
          <c:cat>
            <c:strLit>
              <c:ptCount val="7"/>
              <c:pt idx="0">
                <c:v>Logistic Regression</c:v>
              </c:pt>
              <c:pt idx="1">
                <c:v>Random Forest</c:v>
              </c:pt>
              <c:pt idx="2">
                <c:v>MLP</c:v>
              </c:pt>
              <c:pt idx="3">
                <c:v>CNN</c:v>
              </c:pt>
              <c:pt idx="4">
                <c:v>LSTM</c:v>
              </c:pt>
              <c:pt idx="5">
                <c:v>GRU</c:v>
              </c:pt>
              <c:pt idx="6">
                <c:v>Transformer</c:v>
              </c:pt>
            </c:strLit>
          </c:cat>
          <c:val>
            <c:numLit>
              <c:formatCode>0.0%</c:formatCode>
              <c:ptCount val="7"/>
              <c:pt idx="0">
                <c:v>0.8767</c:v>
              </c:pt>
              <c:pt idx="1">
                <c:v>0.9588</c:v>
              </c:pt>
              <c:pt idx="2">
                <c:v>0.9348</c:v>
              </c:pt>
              <c:pt idx="3">
                <c:v>0.9539</c:v>
              </c:pt>
              <c:pt idx="4">
                <c:v>0.8946</c:v>
              </c:pt>
              <c:pt idx="5">
                <c:v>0.9223</c:v>
              </c:pt>
              <c:pt idx="6">
                <c:v>0.9409</c:v>
              </c:pt>
            </c:numLit>
          </c:val>
        </c:ser>
        <c:dLbls>
          <c:numFmt formatCode="0.000" sourceLinked="0"/>
          <c:txPr>
            <a:bodyPr xmlns:a="http://schemas.openxmlformats.org/drawingml/2006/main" anchorCtr="1"/>
            <a:lstStyle xmlns:a="http://schemas.openxmlformats.org/drawingml/2006/main"/>
            <a:p xmlns:a="http://schemas.openxmlformats.org/drawingml/2006/main">
              <a:pPr>
                <a:defRPr sz="1200" b="1">
                  <a:solidFill>
                    <a:srgbClr val="1E3445"/>
                  </a:solidFill>
                  <a:latin typeface="Aptos"/>
                  <a:ea typeface="Aptos"/>
                  <a:cs typeface="Aptos"/>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75">
                <a:solidFill>
                  <a:srgbClr val="1E3445"/>
                </a:solidFill>
                <a:latin typeface="Aptos"/>
                <a:ea typeface="Aptos"/>
                <a:cs typeface="Aptos"/>
              </a:defRPr>
            </a:pPr>
          </a:p>
        </c:txPr>
        <c:crossAx val="48672768"/>
      </c:catAx>
      <c:valAx>
        <c:axId val="48672768"/>
        <c:scaling>
          <c:orientation val="minMax"/>
          <c:max val="1"/>
          <c:min val="0"/>
        </c:scaling>
        <c:delete val="0"/>
        <c:axPos val="b"/>
        <c:majorGridlines>
          <c:spPr>
            <a:ln xmlns:a="http://schemas.openxmlformats.org/drawingml/2006/main" w="9525">
              <a:solidFill>
                <a:srgbClr val="D7E0E6"/>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36878"/>
                </a:solidFill>
                <a:latin typeface="Aptos"/>
                <a:ea typeface="Aptos"/>
                <a:cs typeface="Aptos"/>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CA85C702-BC7E-4CE2-8854-6C45A7521640}"/>
              </a:ext>
            </a:extLst>
          </p:cNvPr>
          <p:cNvSpPr>
            <a:spLocks xmlns:a="http://schemas.openxmlformats.org/drawingml/2006/main" noGrp="1"/>
          </p:cNvSpPr>
          <p:nvPr/>
        </p:nvSpPr>
        <p:spPr>
          <a:xfrm xmlns:a="http://schemas.openxmlformats.org/drawingml/2006/main">
            <a:off x="704850" y="8001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087E8B"/>
                </a:solidFill>
                <a:latin typeface="Aptos"/>
                <a:ea typeface="Aptos"/>
                <a:cs typeface="Aptos"/>
              </a:defRPr>
            </a:defPPr>
            <a:lvl1pPr algn="l">
              <a:defRPr sz="1500" b="1">
                <a:solidFill>
                  <a:srgbClr val="087E8B"/>
                </a:solidFill>
                <a:latin typeface="Aptos"/>
                <a:ea typeface="Aptos"/>
                <a:cs typeface="Aptos"/>
              </a:defRPr>
            </a:lvl1pPr>
            <a:lvl2pPr algn="l">
              <a:defRPr sz="1500" b="1">
                <a:solidFill>
                  <a:srgbClr val="087E8B"/>
                </a:solidFill>
                <a:latin typeface="Aptos"/>
                <a:ea typeface="Aptos"/>
                <a:cs typeface="Aptos"/>
              </a:defRPr>
            </a:lvl2pPr>
            <a:lvl3pPr algn="l">
              <a:defRPr sz="1500" b="1">
                <a:solidFill>
                  <a:srgbClr val="087E8B"/>
                </a:solidFill>
                <a:latin typeface="Aptos"/>
                <a:ea typeface="Aptos"/>
                <a:cs typeface="Aptos"/>
              </a:defRPr>
            </a:lvl3pPr>
            <a:lvl4pPr algn="l">
              <a:defRPr sz="1500" b="1">
                <a:solidFill>
                  <a:srgbClr val="087E8B"/>
                </a:solidFill>
                <a:latin typeface="Aptos"/>
                <a:ea typeface="Aptos"/>
                <a:cs typeface="Aptos"/>
              </a:defRPr>
            </a:lvl4pPr>
            <a:lvl5pPr algn="l">
              <a:defRPr sz="1500" b="1">
                <a:solidFill>
                  <a:srgbClr val="087E8B"/>
                </a:solidFill>
                <a:latin typeface="Aptos"/>
                <a:ea typeface="Aptos"/>
                <a:cs typeface="Aptos"/>
              </a:defRPr>
            </a:lvl5pPr>
            <a:lvl6pPr algn="l">
              <a:defRPr sz="1500" b="1">
                <a:solidFill>
                  <a:srgbClr val="087E8B"/>
                </a:solidFill>
                <a:latin typeface="Aptos"/>
                <a:ea typeface="Aptos"/>
                <a:cs typeface="Aptos"/>
              </a:defRPr>
            </a:lvl6pPr>
            <a:lvl7pPr algn="l">
              <a:defRPr sz="1500" b="1">
                <a:solidFill>
                  <a:srgbClr val="087E8B"/>
                </a:solidFill>
                <a:latin typeface="Aptos"/>
                <a:ea typeface="Aptos"/>
                <a:cs typeface="Aptos"/>
              </a:defRPr>
            </a:lvl7pPr>
            <a:lvl8pPr algn="l">
              <a:defRPr sz="1500" b="1">
                <a:solidFill>
                  <a:srgbClr val="087E8B"/>
                </a:solidFill>
                <a:latin typeface="Aptos"/>
                <a:ea typeface="Aptos"/>
                <a:cs typeface="Aptos"/>
              </a:defRPr>
            </a:lvl8pPr>
            <a:lvl9pPr algn="l">
              <a:defRPr sz="1500" b="1">
                <a:solidFill>
                  <a:srgbClr val="087E8B"/>
                </a:solidFill>
                <a:latin typeface="Aptos"/>
                <a:ea typeface="Aptos"/>
                <a:cs typeface="Aptos"/>
              </a:defRPr>
            </a:lvl9pPr>
          </a:lstStyle>
          <a:p xmlns:a="http://schemas.openxmlformats.org/drawingml/2006/main">
            <a:pPr algn="l">
              <a:lnSpc>
                <a:spcPct val="108000"/>
              </a:lnSpc>
              <a:buNone/>
              <a:defRPr sz="1500" b="1">
                <a:solidFill>
                  <a:srgbClr val="087E8B"/>
                </a:solidFill>
                <a:latin typeface="Aptos"/>
                <a:ea typeface="Aptos"/>
                <a:cs typeface="Aptos"/>
              </a:defRPr>
            </a:pPr>
            <a:r>
              <a:rPr sz="1500" b="1">
                <a:solidFill>
                  <a:srgbClr val="087E8B"/>
                </a:solidFill>
                <a:latin typeface="Aptos"/>
                <a:ea typeface="Aptos"/>
                <a:cs typeface="Aptos"/>
              </a:rPr>
              <a:t>FLOWGUARD</a:t>
            </a:r>
          </a:p>
        </p:txBody>
      </p:sp>
      <p:sp>
        <p:nvSpPr>
          <p:cNvPr id="2" name="text">
            <a:extLst xmlns:a="http://schemas.openxmlformats.org/drawingml/2006/main">
              <a:ext uri="{FF2B5EF4-FFF2-40B4-BE49-F238E27FC236}">
                <a16:creationId xmlns:a16="http://schemas.microsoft.com/office/drawing/2014/main" id="{AC1FF398-1E55-4BD8-80A2-D1B0F57853D3}"/>
              </a:ext>
            </a:extLst>
          </p:cNvPr>
          <p:cNvSpPr>
            <a:spLocks xmlns:a="http://schemas.openxmlformats.org/drawingml/2006/main" noGrp="1"/>
          </p:cNvSpPr>
          <p:nvPr/>
        </p:nvSpPr>
        <p:spPr>
          <a:xfrm xmlns:a="http://schemas.openxmlformats.org/drawingml/2006/main">
            <a:off x="704850" y="1581150"/>
            <a:ext cx="10287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4575" b="1">
                <a:solidFill>
                  <a:srgbClr val="FFFFFF"/>
                </a:solidFill>
                <a:latin typeface="Aptos"/>
                <a:ea typeface="Aptos"/>
                <a:cs typeface="Aptos"/>
              </a:defRPr>
            </a:defPPr>
            <a:lvl1pPr algn="l">
              <a:defRPr sz="4575" b="1">
                <a:solidFill>
                  <a:srgbClr val="FFFFFF"/>
                </a:solidFill>
                <a:latin typeface="Aptos"/>
                <a:ea typeface="Aptos"/>
                <a:cs typeface="Aptos"/>
              </a:defRPr>
            </a:lvl1pPr>
            <a:lvl2pPr algn="l">
              <a:defRPr sz="4575" b="1">
                <a:solidFill>
                  <a:srgbClr val="FFFFFF"/>
                </a:solidFill>
                <a:latin typeface="Aptos"/>
                <a:ea typeface="Aptos"/>
                <a:cs typeface="Aptos"/>
              </a:defRPr>
            </a:lvl2pPr>
            <a:lvl3pPr algn="l">
              <a:defRPr sz="4575" b="1">
                <a:solidFill>
                  <a:srgbClr val="FFFFFF"/>
                </a:solidFill>
                <a:latin typeface="Aptos"/>
                <a:ea typeface="Aptos"/>
                <a:cs typeface="Aptos"/>
              </a:defRPr>
            </a:lvl3pPr>
            <a:lvl4pPr algn="l">
              <a:defRPr sz="4575" b="1">
                <a:solidFill>
                  <a:srgbClr val="FFFFFF"/>
                </a:solidFill>
                <a:latin typeface="Aptos"/>
                <a:ea typeface="Aptos"/>
                <a:cs typeface="Aptos"/>
              </a:defRPr>
            </a:lvl4pPr>
            <a:lvl5pPr algn="l">
              <a:defRPr sz="4575" b="1">
                <a:solidFill>
                  <a:srgbClr val="FFFFFF"/>
                </a:solidFill>
                <a:latin typeface="Aptos"/>
                <a:ea typeface="Aptos"/>
                <a:cs typeface="Aptos"/>
              </a:defRPr>
            </a:lvl5pPr>
            <a:lvl6pPr algn="l">
              <a:defRPr sz="4575" b="1">
                <a:solidFill>
                  <a:srgbClr val="FFFFFF"/>
                </a:solidFill>
                <a:latin typeface="Aptos"/>
                <a:ea typeface="Aptos"/>
                <a:cs typeface="Aptos"/>
              </a:defRPr>
            </a:lvl6pPr>
            <a:lvl7pPr algn="l">
              <a:defRPr sz="4575" b="1">
                <a:solidFill>
                  <a:srgbClr val="FFFFFF"/>
                </a:solidFill>
                <a:latin typeface="Aptos"/>
                <a:ea typeface="Aptos"/>
                <a:cs typeface="Aptos"/>
              </a:defRPr>
            </a:lvl7pPr>
            <a:lvl8pPr algn="l">
              <a:defRPr sz="4575" b="1">
                <a:solidFill>
                  <a:srgbClr val="FFFFFF"/>
                </a:solidFill>
                <a:latin typeface="Aptos"/>
                <a:ea typeface="Aptos"/>
                <a:cs typeface="Aptos"/>
              </a:defRPr>
            </a:lvl8pPr>
            <a:lvl9pPr algn="l">
              <a:defRPr sz="4575" b="1">
                <a:solidFill>
                  <a:srgbClr val="FFFFFF"/>
                </a:solidFill>
                <a:latin typeface="Aptos"/>
                <a:ea typeface="Aptos"/>
                <a:cs typeface="Aptos"/>
              </a:defRPr>
            </a:lvl9pPr>
          </a:lstStyle>
          <a:p xmlns:a="http://schemas.openxmlformats.org/drawingml/2006/main">
            <a:pPr algn="l">
              <a:lnSpc>
                <a:spcPct val="95000"/>
              </a:lnSpc>
              <a:buNone/>
              <a:defRPr sz="4575" b="1">
                <a:solidFill>
                  <a:srgbClr val="FFFFFF"/>
                </a:solidFill>
                <a:latin typeface="Aptos"/>
                <a:ea typeface="Aptos"/>
                <a:cs typeface="Aptos"/>
              </a:defRPr>
            </a:pPr>
            <a:r>
              <a:rPr sz="4575" b="1">
                <a:solidFill>
                  <a:srgbClr val="FFFFFF"/>
                </a:solidFill>
                <a:latin typeface="Aptos"/>
                <a:ea typeface="Aptos"/>
                <a:cs typeface="Aptos"/>
              </a:rPr>
              <a:t>FlowGuard</a:t>
            </a:r>
          </a:p>
        </p:txBody>
      </p:sp>
      <p:sp>
        <p:nvSpPr>
          <p:cNvPr id="3" name="text">
            <a:extLst xmlns:a="http://schemas.openxmlformats.org/drawingml/2006/main">
              <a:ext uri="{FF2B5EF4-FFF2-40B4-BE49-F238E27FC236}">
                <a16:creationId xmlns:a16="http://schemas.microsoft.com/office/drawing/2014/main" id="{960E7B75-1310-4F32-96F4-04B4E1C0F93C}"/>
              </a:ext>
            </a:extLst>
          </p:cNvPr>
          <p:cNvSpPr>
            <a:spLocks xmlns:a="http://schemas.openxmlformats.org/drawingml/2006/main" noGrp="1"/>
          </p:cNvSpPr>
          <p:nvPr/>
        </p:nvSpPr>
        <p:spPr>
          <a:xfrm xmlns:a="http://schemas.openxmlformats.org/drawingml/2006/main">
            <a:off x="742950" y="2724150"/>
            <a:ext cx="10096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775" b="1">
                <a:solidFill>
                  <a:srgbClr val="FFFFFF"/>
                </a:solidFill>
                <a:latin typeface="Aptos"/>
                <a:ea typeface="Aptos"/>
                <a:cs typeface="Aptos"/>
              </a:defRPr>
            </a:defPPr>
            <a:lvl1pPr algn="l">
              <a:defRPr sz="2775" b="1">
                <a:solidFill>
                  <a:srgbClr val="FFFFFF"/>
                </a:solidFill>
                <a:latin typeface="Aptos"/>
                <a:ea typeface="Aptos"/>
                <a:cs typeface="Aptos"/>
              </a:defRPr>
            </a:lvl1pPr>
            <a:lvl2pPr algn="l">
              <a:defRPr sz="2775" b="1">
                <a:solidFill>
                  <a:srgbClr val="FFFFFF"/>
                </a:solidFill>
                <a:latin typeface="Aptos"/>
                <a:ea typeface="Aptos"/>
                <a:cs typeface="Aptos"/>
              </a:defRPr>
            </a:lvl2pPr>
            <a:lvl3pPr algn="l">
              <a:defRPr sz="2775" b="1">
                <a:solidFill>
                  <a:srgbClr val="FFFFFF"/>
                </a:solidFill>
                <a:latin typeface="Aptos"/>
                <a:ea typeface="Aptos"/>
                <a:cs typeface="Aptos"/>
              </a:defRPr>
            </a:lvl3pPr>
            <a:lvl4pPr algn="l">
              <a:defRPr sz="2775" b="1">
                <a:solidFill>
                  <a:srgbClr val="FFFFFF"/>
                </a:solidFill>
                <a:latin typeface="Aptos"/>
                <a:ea typeface="Aptos"/>
                <a:cs typeface="Aptos"/>
              </a:defRPr>
            </a:lvl4pPr>
            <a:lvl5pPr algn="l">
              <a:defRPr sz="2775" b="1">
                <a:solidFill>
                  <a:srgbClr val="FFFFFF"/>
                </a:solidFill>
                <a:latin typeface="Aptos"/>
                <a:ea typeface="Aptos"/>
                <a:cs typeface="Aptos"/>
              </a:defRPr>
            </a:lvl5pPr>
            <a:lvl6pPr algn="l">
              <a:defRPr sz="2775" b="1">
                <a:solidFill>
                  <a:srgbClr val="FFFFFF"/>
                </a:solidFill>
                <a:latin typeface="Aptos"/>
                <a:ea typeface="Aptos"/>
                <a:cs typeface="Aptos"/>
              </a:defRPr>
            </a:lvl6pPr>
            <a:lvl7pPr algn="l">
              <a:defRPr sz="2775" b="1">
                <a:solidFill>
                  <a:srgbClr val="FFFFFF"/>
                </a:solidFill>
                <a:latin typeface="Aptos"/>
                <a:ea typeface="Aptos"/>
                <a:cs typeface="Aptos"/>
              </a:defRPr>
            </a:lvl7pPr>
            <a:lvl8pPr algn="l">
              <a:defRPr sz="2775" b="1">
                <a:solidFill>
                  <a:srgbClr val="FFFFFF"/>
                </a:solidFill>
                <a:latin typeface="Aptos"/>
                <a:ea typeface="Aptos"/>
                <a:cs typeface="Aptos"/>
              </a:defRPr>
            </a:lvl8pPr>
            <a:lvl9pPr algn="l">
              <a:defRPr sz="2775" b="1">
                <a:solidFill>
                  <a:srgbClr val="FFFFFF"/>
                </a:solidFill>
                <a:latin typeface="Aptos"/>
                <a:ea typeface="Aptos"/>
                <a:cs typeface="Aptos"/>
              </a:defRPr>
            </a:lvl9pPr>
          </a:lstStyle>
          <a:p xmlns:a="http://schemas.openxmlformats.org/drawingml/2006/main">
            <a:pPr algn="l">
              <a:lnSpc>
                <a:spcPct val="102000"/>
              </a:lnSpc>
              <a:buNone/>
              <a:defRPr sz="2775" b="1">
                <a:solidFill>
                  <a:srgbClr val="FFFFFF"/>
                </a:solidFill>
                <a:latin typeface="Aptos"/>
                <a:ea typeface="Aptos"/>
                <a:cs typeface="Aptos"/>
              </a:defRPr>
            </a:pPr>
            <a:r>
              <a:rPr sz="2775" b="1">
                <a:solidFill>
                  <a:srgbClr val="FFFFFF"/>
                </a:solidFill>
                <a:latin typeface="Aptos"/>
                <a:ea typeface="Aptos"/>
                <a:cs typeface="Aptos"/>
              </a:rPr>
              <a:t>Transformer-Based Network Intrusion Detection System</a:t>
            </a:r>
          </a:p>
        </p:txBody>
      </p:sp>
      <p:sp>
        <p:nvSpPr>
          <p:cNvPr id="4" name="text">
            <a:extLst xmlns:a="http://schemas.openxmlformats.org/drawingml/2006/main">
              <a:ext uri="{FF2B5EF4-FFF2-40B4-BE49-F238E27FC236}">
                <a16:creationId xmlns:a16="http://schemas.microsoft.com/office/drawing/2014/main" id="{DF5B12AA-C572-4A87-BAB1-57CFFD216FCC}"/>
              </a:ext>
            </a:extLst>
          </p:cNvPr>
          <p:cNvSpPr>
            <a:spLocks xmlns:a="http://schemas.openxmlformats.org/drawingml/2006/main" noGrp="1"/>
          </p:cNvSpPr>
          <p:nvPr/>
        </p:nvSpPr>
        <p:spPr>
          <a:xfrm xmlns:a="http://schemas.openxmlformats.org/drawingml/2006/main">
            <a:off x="742950" y="4000500"/>
            <a:ext cx="942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0">
                <a:solidFill>
                  <a:srgbClr val="C9D6DF"/>
                </a:solidFill>
                <a:latin typeface="Aptos"/>
                <a:ea typeface="Aptos"/>
                <a:cs typeface="Aptos"/>
              </a:defRPr>
            </a:defPPr>
            <a:lvl1pPr algn="l">
              <a:defRPr sz="1875" b="0">
                <a:solidFill>
                  <a:srgbClr val="C9D6DF"/>
                </a:solidFill>
                <a:latin typeface="Aptos"/>
                <a:ea typeface="Aptos"/>
                <a:cs typeface="Aptos"/>
              </a:defRPr>
            </a:lvl1pPr>
            <a:lvl2pPr algn="l">
              <a:defRPr sz="1875" b="0">
                <a:solidFill>
                  <a:srgbClr val="C9D6DF"/>
                </a:solidFill>
                <a:latin typeface="Aptos"/>
                <a:ea typeface="Aptos"/>
                <a:cs typeface="Aptos"/>
              </a:defRPr>
            </a:lvl2pPr>
            <a:lvl3pPr algn="l">
              <a:defRPr sz="1875" b="0">
                <a:solidFill>
                  <a:srgbClr val="C9D6DF"/>
                </a:solidFill>
                <a:latin typeface="Aptos"/>
                <a:ea typeface="Aptos"/>
                <a:cs typeface="Aptos"/>
              </a:defRPr>
            </a:lvl3pPr>
            <a:lvl4pPr algn="l">
              <a:defRPr sz="1875" b="0">
                <a:solidFill>
                  <a:srgbClr val="C9D6DF"/>
                </a:solidFill>
                <a:latin typeface="Aptos"/>
                <a:ea typeface="Aptos"/>
                <a:cs typeface="Aptos"/>
              </a:defRPr>
            </a:lvl4pPr>
            <a:lvl5pPr algn="l">
              <a:defRPr sz="1875" b="0">
                <a:solidFill>
                  <a:srgbClr val="C9D6DF"/>
                </a:solidFill>
                <a:latin typeface="Aptos"/>
                <a:ea typeface="Aptos"/>
                <a:cs typeface="Aptos"/>
              </a:defRPr>
            </a:lvl5pPr>
            <a:lvl6pPr algn="l">
              <a:defRPr sz="1875" b="0">
                <a:solidFill>
                  <a:srgbClr val="C9D6DF"/>
                </a:solidFill>
                <a:latin typeface="Aptos"/>
                <a:ea typeface="Aptos"/>
                <a:cs typeface="Aptos"/>
              </a:defRPr>
            </a:lvl6pPr>
            <a:lvl7pPr algn="l">
              <a:defRPr sz="1875" b="0">
                <a:solidFill>
                  <a:srgbClr val="C9D6DF"/>
                </a:solidFill>
                <a:latin typeface="Aptos"/>
                <a:ea typeface="Aptos"/>
                <a:cs typeface="Aptos"/>
              </a:defRPr>
            </a:lvl7pPr>
            <a:lvl8pPr algn="l">
              <a:defRPr sz="1875" b="0">
                <a:solidFill>
                  <a:srgbClr val="C9D6DF"/>
                </a:solidFill>
                <a:latin typeface="Aptos"/>
                <a:ea typeface="Aptos"/>
                <a:cs typeface="Aptos"/>
              </a:defRPr>
            </a:lvl8pPr>
            <a:lvl9pPr algn="l">
              <a:defRPr sz="1875" b="0">
                <a:solidFill>
                  <a:srgbClr val="C9D6DF"/>
                </a:solidFill>
                <a:latin typeface="Aptos"/>
                <a:ea typeface="Aptos"/>
                <a:cs typeface="Aptos"/>
              </a:defRPr>
            </a:lvl9pPr>
          </a:lstStyle>
          <a:p xmlns:a="http://schemas.openxmlformats.org/drawingml/2006/main">
            <a:pPr algn="l">
              <a:lnSpc>
                <a:spcPct val="108000"/>
              </a:lnSpc>
              <a:buNone/>
              <a:defRPr sz="1875" b="0">
                <a:solidFill>
                  <a:srgbClr val="C9D6DF"/>
                </a:solidFill>
                <a:latin typeface="Aptos"/>
                <a:ea typeface="Aptos"/>
                <a:cs typeface="Aptos"/>
              </a:defRPr>
            </a:pPr>
            <a:r>
              <a:rPr sz="1875" b="0">
                <a:solidFill>
                  <a:srgbClr val="C9D6DF"/>
                </a:solidFill>
                <a:latin typeface="Aptos"/>
                <a:ea typeface="Aptos"/>
                <a:cs typeface="Aptos"/>
              </a:rPr>
              <a:t>Multi-class classification of network flows</a:t>
            </a:r>
          </a:p>
        </p:txBody>
      </p:sp>
      <p:sp>
        <p:nvSpPr>
          <p:cNvPr id="5" name="text">
            <a:extLst xmlns:a="http://schemas.openxmlformats.org/drawingml/2006/main">
              <a:ext uri="{FF2B5EF4-FFF2-40B4-BE49-F238E27FC236}">
                <a16:creationId xmlns:a16="http://schemas.microsoft.com/office/drawing/2014/main" id="{BA12A175-EDDC-439A-8EF2-47C54EB78B4A}"/>
              </a:ext>
            </a:extLst>
          </p:cNvPr>
          <p:cNvSpPr>
            <a:spLocks xmlns:a="http://schemas.openxmlformats.org/drawingml/2006/main" noGrp="1"/>
          </p:cNvSpPr>
          <p:nvPr/>
        </p:nvSpPr>
        <p:spPr>
          <a:xfrm xmlns:a="http://schemas.openxmlformats.org/drawingml/2006/main">
            <a:off x="742950" y="5562600"/>
            <a:ext cx="714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A9C2D2"/>
                </a:solidFill>
                <a:latin typeface="Aptos"/>
                <a:ea typeface="Aptos"/>
                <a:cs typeface="Aptos"/>
              </a:defRPr>
            </a:defPPr>
            <a:lvl1pPr algn="l">
              <a:defRPr sz="1425" b="0">
                <a:solidFill>
                  <a:srgbClr val="A9C2D2"/>
                </a:solidFill>
                <a:latin typeface="Aptos"/>
                <a:ea typeface="Aptos"/>
                <a:cs typeface="Aptos"/>
              </a:defRPr>
            </a:lvl1pPr>
            <a:lvl2pPr algn="l">
              <a:defRPr sz="1425" b="0">
                <a:solidFill>
                  <a:srgbClr val="A9C2D2"/>
                </a:solidFill>
                <a:latin typeface="Aptos"/>
                <a:ea typeface="Aptos"/>
                <a:cs typeface="Aptos"/>
              </a:defRPr>
            </a:lvl2pPr>
            <a:lvl3pPr algn="l">
              <a:defRPr sz="1425" b="0">
                <a:solidFill>
                  <a:srgbClr val="A9C2D2"/>
                </a:solidFill>
                <a:latin typeface="Aptos"/>
                <a:ea typeface="Aptos"/>
                <a:cs typeface="Aptos"/>
              </a:defRPr>
            </a:lvl3pPr>
            <a:lvl4pPr algn="l">
              <a:defRPr sz="1425" b="0">
                <a:solidFill>
                  <a:srgbClr val="A9C2D2"/>
                </a:solidFill>
                <a:latin typeface="Aptos"/>
                <a:ea typeface="Aptos"/>
                <a:cs typeface="Aptos"/>
              </a:defRPr>
            </a:lvl4pPr>
            <a:lvl5pPr algn="l">
              <a:defRPr sz="1425" b="0">
                <a:solidFill>
                  <a:srgbClr val="A9C2D2"/>
                </a:solidFill>
                <a:latin typeface="Aptos"/>
                <a:ea typeface="Aptos"/>
                <a:cs typeface="Aptos"/>
              </a:defRPr>
            </a:lvl5pPr>
            <a:lvl6pPr algn="l">
              <a:defRPr sz="1425" b="0">
                <a:solidFill>
                  <a:srgbClr val="A9C2D2"/>
                </a:solidFill>
                <a:latin typeface="Aptos"/>
                <a:ea typeface="Aptos"/>
                <a:cs typeface="Aptos"/>
              </a:defRPr>
            </a:lvl6pPr>
            <a:lvl7pPr algn="l">
              <a:defRPr sz="1425" b="0">
                <a:solidFill>
                  <a:srgbClr val="A9C2D2"/>
                </a:solidFill>
                <a:latin typeface="Aptos"/>
                <a:ea typeface="Aptos"/>
                <a:cs typeface="Aptos"/>
              </a:defRPr>
            </a:lvl7pPr>
            <a:lvl8pPr algn="l">
              <a:defRPr sz="1425" b="0">
                <a:solidFill>
                  <a:srgbClr val="A9C2D2"/>
                </a:solidFill>
                <a:latin typeface="Aptos"/>
                <a:ea typeface="Aptos"/>
                <a:cs typeface="Aptos"/>
              </a:defRPr>
            </a:lvl8pPr>
            <a:lvl9pPr algn="l">
              <a:defRPr sz="1425" b="0">
                <a:solidFill>
                  <a:srgbClr val="A9C2D2"/>
                </a:solidFill>
                <a:latin typeface="Aptos"/>
                <a:ea typeface="Aptos"/>
                <a:cs typeface="Aptos"/>
              </a:defRPr>
            </a:lvl9pPr>
          </a:lstStyle>
          <a:p xmlns:a="http://schemas.openxmlformats.org/drawingml/2006/main">
            <a:pPr algn="l">
              <a:lnSpc>
                <a:spcPct val="108000"/>
              </a:lnSpc>
              <a:buNone/>
              <a:defRPr sz="1425" b="0">
                <a:solidFill>
                  <a:srgbClr val="A9C2D2"/>
                </a:solidFill>
                <a:latin typeface="Aptos"/>
                <a:ea typeface="Aptos"/>
                <a:cs typeface="Aptos"/>
              </a:defRPr>
            </a:pPr>
            <a:r>
              <a:rPr sz="1425" b="0">
                <a:solidFill>
                  <a:srgbClr val="A9C2D2"/>
                </a:solidFill>
                <a:latin typeface="Aptos"/>
                <a:ea typeface="Aptos"/>
                <a:cs typeface="Aptos"/>
              </a:rPr>
              <a:t>Computer Networks Project  |  Team presentation</a:t>
            </a:r>
          </a:p>
        </p:txBody>
      </p:sp>
      <p:sp>
        <p:nvSpPr>
          <p:cNvPr id="6" name="text">
            <a:extLst xmlns:a="http://schemas.openxmlformats.org/drawingml/2006/main">
              <a:ext uri="{FF2B5EF4-FFF2-40B4-BE49-F238E27FC236}">
                <a16:creationId xmlns:a16="http://schemas.microsoft.com/office/drawing/2014/main" id="{CBCB7404-5F67-4EC9-A34E-CBB195410707}"/>
              </a:ext>
            </a:extLst>
          </p:cNvPr>
          <p:cNvSpPr>
            <a:spLocks xmlns:a="http://schemas.openxmlformats.org/drawingml/2006/main" noGrp="1"/>
          </p:cNvSpPr>
          <p:nvPr/>
        </p:nvSpPr>
        <p:spPr>
          <a:xfrm xmlns:a="http://schemas.openxmlformats.org/drawingml/2006/main">
            <a:off x="742950" y="60198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A9C2D2"/>
                </a:solidFill>
                <a:latin typeface="Aptos"/>
                <a:ea typeface="Aptos"/>
                <a:cs typeface="Aptos"/>
              </a:defRPr>
            </a:defPPr>
            <a:lvl1pPr algn="l">
              <a:defRPr sz="1275" b="0">
                <a:solidFill>
                  <a:srgbClr val="A9C2D2"/>
                </a:solidFill>
                <a:latin typeface="Aptos"/>
                <a:ea typeface="Aptos"/>
                <a:cs typeface="Aptos"/>
              </a:defRPr>
            </a:lvl1pPr>
            <a:lvl2pPr algn="l">
              <a:defRPr sz="1275" b="0">
                <a:solidFill>
                  <a:srgbClr val="A9C2D2"/>
                </a:solidFill>
                <a:latin typeface="Aptos"/>
                <a:ea typeface="Aptos"/>
                <a:cs typeface="Aptos"/>
              </a:defRPr>
            </a:lvl2pPr>
            <a:lvl3pPr algn="l">
              <a:defRPr sz="1275" b="0">
                <a:solidFill>
                  <a:srgbClr val="A9C2D2"/>
                </a:solidFill>
                <a:latin typeface="Aptos"/>
                <a:ea typeface="Aptos"/>
                <a:cs typeface="Aptos"/>
              </a:defRPr>
            </a:lvl3pPr>
            <a:lvl4pPr algn="l">
              <a:defRPr sz="1275" b="0">
                <a:solidFill>
                  <a:srgbClr val="A9C2D2"/>
                </a:solidFill>
                <a:latin typeface="Aptos"/>
                <a:ea typeface="Aptos"/>
                <a:cs typeface="Aptos"/>
              </a:defRPr>
            </a:lvl4pPr>
            <a:lvl5pPr algn="l">
              <a:defRPr sz="1275" b="0">
                <a:solidFill>
                  <a:srgbClr val="A9C2D2"/>
                </a:solidFill>
                <a:latin typeface="Aptos"/>
                <a:ea typeface="Aptos"/>
                <a:cs typeface="Aptos"/>
              </a:defRPr>
            </a:lvl5pPr>
            <a:lvl6pPr algn="l">
              <a:defRPr sz="1275" b="0">
                <a:solidFill>
                  <a:srgbClr val="A9C2D2"/>
                </a:solidFill>
                <a:latin typeface="Aptos"/>
                <a:ea typeface="Aptos"/>
                <a:cs typeface="Aptos"/>
              </a:defRPr>
            </a:lvl6pPr>
            <a:lvl7pPr algn="l">
              <a:defRPr sz="1275" b="0">
                <a:solidFill>
                  <a:srgbClr val="A9C2D2"/>
                </a:solidFill>
                <a:latin typeface="Aptos"/>
                <a:ea typeface="Aptos"/>
                <a:cs typeface="Aptos"/>
              </a:defRPr>
            </a:lvl7pPr>
            <a:lvl8pPr algn="l">
              <a:defRPr sz="1275" b="0">
                <a:solidFill>
                  <a:srgbClr val="A9C2D2"/>
                </a:solidFill>
                <a:latin typeface="Aptos"/>
                <a:ea typeface="Aptos"/>
                <a:cs typeface="Aptos"/>
              </a:defRPr>
            </a:lvl8pPr>
            <a:lvl9pPr algn="l">
              <a:defRPr sz="1275" b="0">
                <a:solidFill>
                  <a:srgbClr val="A9C2D2"/>
                </a:solidFill>
                <a:latin typeface="Aptos"/>
                <a:ea typeface="Aptos"/>
                <a:cs typeface="Aptos"/>
              </a:defRPr>
            </a:lvl9pPr>
          </a:lstStyle>
          <a:p xmlns:a="http://schemas.openxmlformats.org/drawingml/2006/main">
            <a:pPr algn="l">
              <a:lnSpc>
                <a:spcPct val="108000"/>
              </a:lnSpc>
              <a:buNone/>
              <a:defRPr sz="1275" b="0">
                <a:solidFill>
                  <a:srgbClr val="A9C2D2"/>
                </a:solidFill>
                <a:latin typeface="Aptos"/>
                <a:ea typeface="Aptos"/>
                <a:cs typeface="Aptos"/>
              </a:defRPr>
            </a:pPr>
            <a:r>
              <a:rPr sz="1275" b="0">
                <a:solidFill>
                  <a:srgbClr val="A9C2D2"/>
                </a:solidFill>
                <a:latin typeface="Aptos"/>
                <a:ea typeface="Aptos"/>
                <a:cs typeface="Aptos"/>
              </a:rPr>
              <a:t>Presenters: __________________  __________________  __________________</a:t>
            </a:r>
          </a:p>
        </p:txBody>
      </p:sp>
    </p:spTree>
    <p:extLst>
      <p:ext uri="{BB962C8B-B14F-4D97-AF65-F5344CB8AC3E}">
        <p14:creationId xmlns:p14="http://schemas.microsoft.com/office/powerpoint/2010/main" val="784963581"/>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73B155A1-8B5A-4065-94B7-2E4006ED20C8}"/>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1  /  PROJECT FOUNDATIONS</a:t>
            </a:r>
          </a:p>
        </p:txBody>
      </p:sp>
      <p:sp>
        <p:nvSpPr>
          <p:cNvPr id="2" name="text">
            <a:extLst xmlns:a="http://schemas.openxmlformats.org/drawingml/2006/main">
              <a:ext uri="{FF2B5EF4-FFF2-40B4-BE49-F238E27FC236}">
                <a16:creationId xmlns:a16="http://schemas.microsoft.com/office/drawing/2014/main" id="{22E6B6E2-73E9-465E-88C1-EFF7AEF61019}"/>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Problem and project goal</a:t>
            </a:r>
          </a:p>
        </p:txBody>
      </p:sp>
      <p:sp>
        <p:nvSpPr>
          <p:cNvPr id="3" name="text">
            <a:extLst xmlns:a="http://schemas.openxmlformats.org/drawingml/2006/main">
              <a:ext uri="{FF2B5EF4-FFF2-40B4-BE49-F238E27FC236}">
                <a16:creationId xmlns:a16="http://schemas.microsoft.com/office/drawing/2014/main" id="{8D4B3A1A-DACA-4701-8C3E-CB32E99D40B7}"/>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F6614955-0C1E-431B-9CDF-D60F2F0BD00E}"/>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02</a:t>
            </a:r>
          </a:p>
        </p:txBody>
      </p:sp>
      <p:sp>
        <p:nvSpPr>
          <p:cNvPr id="5" name="editable bullet list">
            <a:extLst xmlns:a="http://schemas.openxmlformats.org/drawingml/2006/main">
              <a:ext uri="{FF2B5EF4-FFF2-40B4-BE49-F238E27FC236}">
                <a16:creationId xmlns:a16="http://schemas.microsoft.com/office/drawing/2014/main" id="{1917B024-2519-4252-978C-EBDA1069EEAD}"/>
              </a:ext>
            </a:extLst>
          </p:cNvPr>
          <p:cNvSpPr>
            <a:spLocks xmlns:a="http://schemas.openxmlformats.org/drawingml/2006/main" noGrp="1"/>
          </p:cNvSpPr>
          <p:nvPr/>
        </p:nvSpPr>
        <p:spPr>
          <a:xfrm xmlns:a="http://schemas.openxmlformats.org/drawingml/2006/main">
            <a:off x="876300" y="1619250"/>
            <a:ext cx="10287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a:solidFill>
                  <a:srgbClr val="1E3445"/>
                </a:solidFill>
                <a:latin typeface="Aptos"/>
                <a:ea typeface="Aptos"/>
                <a:cs typeface="Aptos"/>
              </a:defRPr>
            </a:defPPr>
            <a:lvl1pPr algn="l">
              <a:defRPr sz="1875">
                <a:solidFill>
                  <a:srgbClr val="1E3445"/>
                </a:solidFill>
                <a:latin typeface="Aptos"/>
                <a:ea typeface="Aptos"/>
                <a:cs typeface="Aptos"/>
              </a:defRPr>
            </a:lvl1pPr>
            <a:lvl2pPr algn="l">
              <a:defRPr sz="1875">
                <a:solidFill>
                  <a:srgbClr val="1E3445"/>
                </a:solidFill>
                <a:latin typeface="Aptos"/>
                <a:ea typeface="Aptos"/>
                <a:cs typeface="Aptos"/>
              </a:defRPr>
            </a:lvl2pPr>
            <a:lvl3pPr algn="l">
              <a:defRPr sz="1875">
                <a:solidFill>
                  <a:srgbClr val="1E3445"/>
                </a:solidFill>
                <a:latin typeface="Aptos"/>
                <a:ea typeface="Aptos"/>
                <a:cs typeface="Aptos"/>
              </a:defRPr>
            </a:lvl3pPr>
            <a:lvl4pPr algn="l">
              <a:defRPr sz="1875">
                <a:solidFill>
                  <a:srgbClr val="1E3445"/>
                </a:solidFill>
                <a:latin typeface="Aptos"/>
                <a:ea typeface="Aptos"/>
                <a:cs typeface="Aptos"/>
              </a:defRPr>
            </a:lvl4pPr>
            <a:lvl5pPr algn="l">
              <a:defRPr sz="1875">
                <a:solidFill>
                  <a:srgbClr val="1E3445"/>
                </a:solidFill>
                <a:latin typeface="Aptos"/>
                <a:ea typeface="Aptos"/>
                <a:cs typeface="Aptos"/>
              </a:defRPr>
            </a:lvl5pPr>
            <a:lvl6pPr algn="l">
              <a:defRPr sz="1875">
                <a:solidFill>
                  <a:srgbClr val="1E3445"/>
                </a:solidFill>
                <a:latin typeface="Aptos"/>
                <a:ea typeface="Aptos"/>
                <a:cs typeface="Aptos"/>
              </a:defRPr>
            </a:lvl6pPr>
            <a:lvl7pPr algn="l">
              <a:defRPr sz="1875">
                <a:solidFill>
                  <a:srgbClr val="1E3445"/>
                </a:solidFill>
                <a:latin typeface="Aptos"/>
                <a:ea typeface="Aptos"/>
                <a:cs typeface="Aptos"/>
              </a:defRPr>
            </a:lvl7pPr>
            <a:lvl8pPr algn="l">
              <a:defRPr sz="1875">
                <a:solidFill>
                  <a:srgbClr val="1E3445"/>
                </a:solidFill>
                <a:latin typeface="Aptos"/>
                <a:ea typeface="Aptos"/>
                <a:cs typeface="Aptos"/>
              </a:defRPr>
            </a:lvl8pPr>
            <a:lvl9pPr algn="l">
              <a:defRPr sz="1875">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Packet-by-packet inspection is difficult to scale for a student demonstration.</a:t>
            </a:r>
          </a:p>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A flow summary turns packets into duration, size, rate, timing and flag statistics.</a:t>
            </a:r>
          </a:p>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Goal: classify a completed flow as Benign, DoS, DDoS, Botnet, Port Scan, Brute Force or Infiltration.</a:t>
            </a:r>
          </a:p>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The output supports inspection; this prototype does not block traffic.</a:t>
            </a:r>
          </a:p>
        </p:txBody>
      </p:sp>
    </p:spTree>
    <p:extLst>
      <p:ext uri="{BB962C8B-B14F-4D97-AF65-F5344CB8AC3E}">
        <p14:creationId xmlns:p14="http://schemas.microsoft.com/office/powerpoint/2010/main" val="1895683127"/>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FD23AC97-73B1-438D-A5D1-D2A091F7678C}"/>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1  /  PROJECT FOUNDATIONS</a:t>
            </a:r>
          </a:p>
        </p:txBody>
      </p:sp>
      <p:sp>
        <p:nvSpPr>
          <p:cNvPr id="2" name="text">
            <a:extLst xmlns:a="http://schemas.openxmlformats.org/drawingml/2006/main">
              <a:ext uri="{FF2B5EF4-FFF2-40B4-BE49-F238E27FC236}">
                <a16:creationId xmlns:a16="http://schemas.microsoft.com/office/drawing/2014/main" id="{762F0BD6-3CB6-4FA6-B4D9-2FCF5A878F5A}"/>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What the project includes</a:t>
            </a:r>
          </a:p>
        </p:txBody>
      </p:sp>
      <p:sp>
        <p:nvSpPr>
          <p:cNvPr id="3" name="text">
            <a:extLst xmlns:a="http://schemas.openxmlformats.org/drawingml/2006/main">
              <a:ext uri="{FF2B5EF4-FFF2-40B4-BE49-F238E27FC236}">
                <a16:creationId xmlns:a16="http://schemas.microsoft.com/office/drawing/2014/main" id="{38D75234-342C-4C90-BF09-DA134F098A07}"/>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C5792439-6624-4984-9D7D-144315A50ED7}"/>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03</a:t>
            </a:r>
          </a:p>
        </p:txBody>
      </p:sp>
      <p:sp>
        <p:nvSpPr>
          <p:cNvPr id="5" name="text">
            <a:extLst xmlns:a="http://schemas.openxmlformats.org/drawingml/2006/main">
              <a:ext uri="{FF2B5EF4-FFF2-40B4-BE49-F238E27FC236}">
                <a16:creationId xmlns:a16="http://schemas.microsoft.com/office/drawing/2014/main" id="{193B91A7-CA20-4A31-9E33-0F83DB60649C}"/>
              </a:ext>
            </a:extLst>
          </p:cNvPr>
          <p:cNvSpPr>
            <a:spLocks xmlns:a="http://schemas.openxmlformats.org/drawingml/2006/main" noGrp="1"/>
          </p:cNvSpPr>
          <p:nvPr/>
        </p:nvSpPr>
        <p:spPr>
          <a:xfrm xmlns:a="http://schemas.openxmlformats.org/drawingml/2006/main">
            <a:off x="742950" y="15621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087E8B"/>
                </a:solidFill>
                <a:latin typeface="Aptos"/>
                <a:ea typeface="Aptos"/>
                <a:cs typeface="Aptos"/>
              </a:defRPr>
            </a:defPPr>
            <a:lvl1pPr algn="l">
              <a:defRPr sz="2025" b="1">
                <a:solidFill>
                  <a:srgbClr val="087E8B"/>
                </a:solidFill>
                <a:latin typeface="Aptos"/>
                <a:ea typeface="Aptos"/>
                <a:cs typeface="Aptos"/>
              </a:defRPr>
            </a:lvl1pPr>
            <a:lvl2pPr algn="l">
              <a:defRPr sz="2025" b="1">
                <a:solidFill>
                  <a:srgbClr val="087E8B"/>
                </a:solidFill>
                <a:latin typeface="Aptos"/>
                <a:ea typeface="Aptos"/>
                <a:cs typeface="Aptos"/>
              </a:defRPr>
            </a:lvl2pPr>
            <a:lvl3pPr algn="l">
              <a:defRPr sz="2025" b="1">
                <a:solidFill>
                  <a:srgbClr val="087E8B"/>
                </a:solidFill>
                <a:latin typeface="Aptos"/>
                <a:ea typeface="Aptos"/>
                <a:cs typeface="Aptos"/>
              </a:defRPr>
            </a:lvl3pPr>
            <a:lvl4pPr algn="l">
              <a:defRPr sz="2025" b="1">
                <a:solidFill>
                  <a:srgbClr val="087E8B"/>
                </a:solidFill>
                <a:latin typeface="Aptos"/>
                <a:ea typeface="Aptos"/>
                <a:cs typeface="Aptos"/>
              </a:defRPr>
            </a:lvl4pPr>
            <a:lvl5pPr algn="l">
              <a:defRPr sz="2025" b="1">
                <a:solidFill>
                  <a:srgbClr val="087E8B"/>
                </a:solidFill>
                <a:latin typeface="Aptos"/>
                <a:ea typeface="Aptos"/>
                <a:cs typeface="Aptos"/>
              </a:defRPr>
            </a:lvl5pPr>
            <a:lvl6pPr algn="l">
              <a:defRPr sz="2025" b="1">
                <a:solidFill>
                  <a:srgbClr val="087E8B"/>
                </a:solidFill>
                <a:latin typeface="Aptos"/>
                <a:ea typeface="Aptos"/>
                <a:cs typeface="Aptos"/>
              </a:defRPr>
            </a:lvl6pPr>
            <a:lvl7pPr algn="l">
              <a:defRPr sz="2025" b="1">
                <a:solidFill>
                  <a:srgbClr val="087E8B"/>
                </a:solidFill>
                <a:latin typeface="Aptos"/>
                <a:ea typeface="Aptos"/>
                <a:cs typeface="Aptos"/>
              </a:defRPr>
            </a:lvl7pPr>
            <a:lvl8pPr algn="l">
              <a:defRPr sz="2025" b="1">
                <a:solidFill>
                  <a:srgbClr val="087E8B"/>
                </a:solidFill>
                <a:latin typeface="Aptos"/>
                <a:ea typeface="Aptos"/>
                <a:cs typeface="Aptos"/>
              </a:defRPr>
            </a:lvl8pPr>
            <a:lvl9pPr algn="l">
              <a:defRPr sz="2025" b="1">
                <a:solidFill>
                  <a:srgbClr val="087E8B"/>
                </a:solidFill>
                <a:latin typeface="Aptos"/>
                <a:ea typeface="Aptos"/>
                <a:cs typeface="Aptos"/>
              </a:defRPr>
            </a:lvl9pPr>
          </a:lstStyle>
          <a:p xmlns:a="http://schemas.openxmlformats.org/drawingml/2006/main">
            <a:pPr algn="l">
              <a:lnSpc>
                <a:spcPct val="108000"/>
              </a:lnSpc>
              <a:buNone/>
              <a:defRPr sz="2025" b="1">
                <a:solidFill>
                  <a:srgbClr val="087E8B"/>
                </a:solidFill>
                <a:latin typeface="Aptos"/>
                <a:ea typeface="Aptos"/>
                <a:cs typeface="Aptos"/>
              </a:defRPr>
            </a:pPr>
            <a:r>
              <a:rPr sz="2025" b="1">
                <a:solidFill>
                  <a:srgbClr val="087E8B"/>
                </a:solidFill>
                <a:latin typeface="Aptos"/>
                <a:ea typeface="Aptos"/>
                <a:cs typeface="Aptos"/>
              </a:rPr>
              <a:t>Implemented in the package</a:t>
            </a:r>
          </a:p>
        </p:txBody>
      </p:sp>
      <p:sp>
        <p:nvSpPr>
          <p:cNvPr id="6" name="editable bullet list">
            <a:extLst xmlns:a="http://schemas.openxmlformats.org/drawingml/2006/main">
              <a:ext uri="{FF2B5EF4-FFF2-40B4-BE49-F238E27FC236}">
                <a16:creationId xmlns:a16="http://schemas.microsoft.com/office/drawing/2014/main" id="{F1BEA7D3-2F84-489C-BCAA-E60C069F5AFF}"/>
              </a:ext>
            </a:extLst>
          </p:cNvPr>
          <p:cNvSpPr>
            <a:spLocks xmlns:a="http://schemas.openxmlformats.org/drawingml/2006/main" noGrp="1"/>
          </p:cNvSpPr>
          <p:nvPr/>
        </p:nvSpPr>
        <p:spPr>
          <a:xfrm xmlns:a="http://schemas.openxmlformats.org/drawingml/2006/main">
            <a:off x="742950" y="2076450"/>
            <a:ext cx="495300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a:solidFill>
                  <a:srgbClr val="1E3445"/>
                </a:solidFill>
                <a:latin typeface="Aptos"/>
                <a:ea typeface="Aptos"/>
                <a:cs typeface="Aptos"/>
              </a:defRPr>
            </a:defPPr>
            <a:lvl1pPr algn="l">
              <a:defRPr sz="1650">
                <a:solidFill>
                  <a:srgbClr val="1E3445"/>
                </a:solidFill>
                <a:latin typeface="Aptos"/>
                <a:ea typeface="Aptos"/>
                <a:cs typeface="Aptos"/>
              </a:defRPr>
            </a:lvl1pPr>
            <a:lvl2pPr algn="l">
              <a:defRPr sz="1650">
                <a:solidFill>
                  <a:srgbClr val="1E3445"/>
                </a:solidFill>
                <a:latin typeface="Aptos"/>
                <a:ea typeface="Aptos"/>
                <a:cs typeface="Aptos"/>
              </a:defRPr>
            </a:lvl2pPr>
            <a:lvl3pPr algn="l">
              <a:defRPr sz="1650">
                <a:solidFill>
                  <a:srgbClr val="1E3445"/>
                </a:solidFill>
                <a:latin typeface="Aptos"/>
                <a:ea typeface="Aptos"/>
                <a:cs typeface="Aptos"/>
              </a:defRPr>
            </a:lvl3pPr>
            <a:lvl4pPr algn="l">
              <a:defRPr sz="1650">
                <a:solidFill>
                  <a:srgbClr val="1E3445"/>
                </a:solidFill>
                <a:latin typeface="Aptos"/>
                <a:ea typeface="Aptos"/>
                <a:cs typeface="Aptos"/>
              </a:defRPr>
            </a:lvl4pPr>
            <a:lvl5pPr algn="l">
              <a:defRPr sz="1650">
                <a:solidFill>
                  <a:srgbClr val="1E3445"/>
                </a:solidFill>
                <a:latin typeface="Aptos"/>
                <a:ea typeface="Aptos"/>
                <a:cs typeface="Aptos"/>
              </a:defRPr>
            </a:lvl5pPr>
            <a:lvl6pPr algn="l">
              <a:defRPr sz="1650">
                <a:solidFill>
                  <a:srgbClr val="1E3445"/>
                </a:solidFill>
                <a:latin typeface="Aptos"/>
                <a:ea typeface="Aptos"/>
                <a:cs typeface="Aptos"/>
              </a:defRPr>
            </a:lvl6pPr>
            <a:lvl7pPr algn="l">
              <a:defRPr sz="1650">
                <a:solidFill>
                  <a:srgbClr val="1E3445"/>
                </a:solidFill>
                <a:latin typeface="Aptos"/>
                <a:ea typeface="Aptos"/>
                <a:cs typeface="Aptos"/>
              </a:defRPr>
            </a:lvl7pPr>
            <a:lvl8pPr algn="l">
              <a:defRPr sz="1650">
                <a:solidFill>
                  <a:srgbClr val="1E3445"/>
                </a:solidFill>
                <a:latin typeface="Aptos"/>
                <a:ea typeface="Aptos"/>
                <a:cs typeface="Aptos"/>
              </a:defRPr>
            </a:lvl8pPr>
            <a:lvl9pPr algn="l">
              <a:defRPr sz="165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Seven-class flow classifier and six baseline comparisons</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Temporal and contextual model experiments</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Streamlit dashboard, CSV prediction and PCAP replay</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Saved checkpoints, metrics, plots and project documentation</a:t>
            </a:r>
          </a:p>
        </p:txBody>
      </p:sp>
      <p:sp>
        <p:nvSpPr>
          <p:cNvPr id="7" name="text">
            <a:extLst xmlns:a="http://schemas.openxmlformats.org/drawingml/2006/main">
              <a:ext uri="{FF2B5EF4-FFF2-40B4-BE49-F238E27FC236}">
                <a16:creationId xmlns:a16="http://schemas.microsoft.com/office/drawing/2014/main" id="{78B51835-C2B4-4CA2-8DA8-C960B6A560D4}"/>
              </a:ext>
            </a:extLst>
          </p:cNvPr>
          <p:cNvSpPr>
            <a:spLocks xmlns:a="http://schemas.openxmlformats.org/drawingml/2006/main" noGrp="1"/>
          </p:cNvSpPr>
          <p:nvPr/>
        </p:nvSpPr>
        <p:spPr>
          <a:xfrm xmlns:a="http://schemas.openxmlformats.org/drawingml/2006/main">
            <a:off x="6419850" y="15621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087E8B"/>
                </a:solidFill>
                <a:latin typeface="Aptos"/>
                <a:ea typeface="Aptos"/>
                <a:cs typeface="Aptos"/>
              </a:defRPr>
            </a:defPPr>
            <a:lvl1pPr algn="l">
              <a:defRPr sz="2025" b="1">
                <a:solidFill>
                  <a:srgbClr val="087E8B"/>
                </a:solidFill>
                <a:latin typeface="Aptos"/>
                <a:ea typeface="Aptos"/>
                <a:cs typeface="Aptos"/>
              </a:defRPr>
            </a:lvl1pPr>
            <a:lvl2pPr algn="l">
              <a:defRPr sz="2025" b="1">
                <a:solidFill>
                  <a:srgbClr val="087E8B"/>
                </a:solidFill>
                <a:latin typeface="Aptos"/>
                <a:ea typeface="Aptos"/>
                <a:cs typeface="Aptos"/>
              </a:defRPr>
            </a:lvl2pPr>
            <a:lvl3pPr algn="l">
              <a:defRPr sz="2025" b="1">
                <a:solidFill>
                  <a:srgbClr val="087E8B"/>
                </a:solidFill>
                <a:latin typeface="Aptos"/>
                <a:ea typeface="Aptos"/>
                <a:cs typeface="Aptos"/>
              </a:defRPr>
            </a:lvl3pPr>
            <a:lvl4pPr algn="l">
              <a:defRPr sz="2025" b="1">
                <a:solidFill>
                  <a:srgbClr val="087E8B"/>
                </a:solidFill>
                <a:latin typeface="Aptos"/>
                <a:ea typeface="Aptos"/>
                <a:cs typeface="Aptos"/>
              </a:defRPr>
            </a:lvl4pPr>
            <a:lvl5pPr algn="l">
              <a:defRPr sz="2025" b="1">
                <a:solidFill>
                  <a:srgbClr val="087E8B"/>
                </a:solidFill>
                <a:latin typeface="Aptos"/>
                <a:ea typeface="Aptos"/>
                <a:cs typeface="Aptos"/>
              </a:defRPr>
            </a:lvl5pPr>
            <a:lvl6pPr algn="l">
              <a:defRPr sz="2025" b="1">
                <a:solidFill>
                  <a:srgbClr val="087E8B"/>
                </a:solidFill>
                <a:latin typeface="Aptos"/>
                <a:ea typeface="Aptos"/>
                <a:cs typeface="Aptos"/>
              </a:defRPr>
            </a:lvl6pPr>
            <a:lvl7pPr algn="l">
              <a:defRPr sz="2025" b="1">
                <a:solidFill>
                  <a:srgbClr val="087E8B"/>
                </a:solidFill>
                <a:latin typeface="Aptos"/>
                <a:ea typeface="Aptos"/>
                <a:cs typeface="Aptos"/>
              </a:defRPr>
            </a:lvl7pPr>
            <a:lvl8pPr algn="l">
              <a:defRPr sz="2025" b="1">
                <a:solidFill>
                  <a:srgbClr val="087E8B"/>
                </a:solidFill>
                <a:latin typeface="Aptos"/>
                <a:ea typeface="Aptos"/>
                <a:cs typeface="Aptos"/>
              </a:defRPr>
            </a:lvl8pPr>
            <a:lvl9pPr algn="l">
              <a:defRPr sz="2025" b="1">
                <a:solidFill>
                  <a:srgbClr val="087E8B"/>
                </a:solidFill>
                <a:latin typeface="Aptos"/>
                <a:ea typeface="Aptos"/>
                <a:cs typeface="Aptos"/>
              </a:defRPr>
            </a:lvl9pPr>
          </a:lstStyle>
          <a:p xmlns:a="http://schemas.openxmlformats.org/drawingml/2006/main">
            <a:pPr algn="l">
              <a:lnSpc>
                <a:spcPct val="108000"/>
              </a:lnSpc>
              <a:buNone/>
              <a:defRPr sz="2025" b="1">
                <a:solidFill>
                  <a:srgbClr val="087E8B"/>
                </a:solidFill>
                <a:latin typeface="Aptos"/>
                <a:ea typeface="Aptos"/>
                <a:cs typeface="Aptos"/>
              </a:defRPr>
            </a:pPr>
            <a:r>
              <a:rPr sz="2025" b="1">
                <a:solidFill>
                  <a:srgbClr val="087E8B"/>
                </a:solidFill>
                <a:latin typeface="Aptos"/>
                <a:ea typeface="Aptos"/>
                <a:cs typeface="Aptos"/>
              </a:rPr>
              <a:t>Scope boundaries</a:t>
            </a:r>
          </a:p>
        </p:txBody>
      </p:sp>
      <p:sp>
        <p:nvSpPr>
          <p:cNvPr id="8" name="editable bullet list">
            <a:extLst xmlns:a="http://schemas.openxmlformats.org/drawingml/2006/main">
              <a:ext uri="{FF2B5EF4-FFF2-40B4-BE49-F238E27FC236}">
                <a16:creationId xmlns:a16="http://schemas.microsoft.com/office/drawing/2014/main" id="{E78F8694-3967-4D25-915F-2AB048DAA02C}"/>
              </a:ext>
            </a:extLst>
          </p:cNvPr>
          <p:cNvSpPr>
            <a:spLocks xmlns:a="http://schemas.openxmlformats.org/drawingml/2006/main" noGrp="1"/>
          </p:cNvSpPr>
          <p:nvPr/>
        </p:nvSpPr>
        <p:spPr>
          <a:xfrm xmlns:a="http://schemas.openxmlformats.org/drawingml/2006/main">
            <a:off x="6419850" y="2076450"/>
            <a:ext cx="495300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a:solidFill>
                  <a:srgbClr val="1E3445"/>
                </a:solidFill>
                <a:latin typeface="Aptos"/>
                <a:ea typeface="Aptos"/>
                <a:cs typeface="Aptos"/>
              </a:defRPr>
            </a:defPPr>
            <a:lvl1pPr algn="l">
              <a:defRPr sz="1650">
                <a:solidFill>
                  <a:srgbClr val="1E3445"/>
                </a:solidFill>
                <a:latin typeface="Aptos"/>
                <a:ea typeface="Aptos"/>
                <a:cs typeface="Aptos"/>
              </a:defRPr>
            </a:lvl1pPr>
            <a:lvl2pPr algn="l">
              <a:defRPr sz="1650">
                <a:solidFill>
                  <a:srgbClr val="1E3445"/>
                </a:solidFill>
                <a:latin typeface="Aptos"/>
                <a:ea typeface="Aptos"/>
                <a:cs typeface="Aptos"/>
              </a:defRPr>
            </a:lvl2pPr>
            <a:lvl3pPr algn="l">
              <a:defRPr sz="1650">
                <a:solidFill>
                  <a:srgbClr val="1E3445"/>
                </a:solidFill>
                <a:latin typeface="Aptos"/>
                <a:ea typeface="Aptos"/>
                <a:cs typeface="Aptos"/>
              </a:defRPr>
            </a:lvl3pPr>
            <a:lvl4pPr algn="l">
              <a:defRPr sz="1650">
                <a:solidFill>
                  <a:srgbClr val="1E3445"/>
                </a:solidFill>
                <a:latin typeface="Aptos"/>
                <a:ea typeface="Aptos"/>
                <a:cs typeface="Aptos"/>
              </a:defRPr>
            </a:lvl4pPr>
            <a:lvl5pPr algn="l">
              <a:defRPr sz="1650">
                <a:solidFill>
                  <a:srgbClr val="1E3445"/>
                </a:solidFill>
                <a:latin typeface="Aptos"/>
                <a:ea typeface="Aptos"/>
                <a:cs typeface="Aptos"/>
              </a:defRPr>
            </a:lvl5pPr>
            <a:lvl6pPr algn="l">
              <a:defRPr sz="1650">
                <a:solidFill>
                  <a:srgbClr val="1E3445"/>
                </a:solidFill>
                <a:latin typeface="Aptos"/>
                <a:ea typeface="Aptos"/>
                <a:cs typeface="Aptos"/>
              </a:defRPr>
            </a:lvl6pPr>
            <a:lvl7pPr algn="l">
              <a:defRPr sz="1650">
                <a:solidFill>
                  <a:srgbClr val="1E3445"/>
                </a:solidFill>
                <a:latin typeface="Aptos"/>
                <a:ea typeface="Aptos"/>
                <a:cs typeface="Aptos"/>
              </a:defRPr>
            </a:lvl7pPr>
            <a:lvl8pPr algn="l">
              <a:defRPr sz="1650">
                <a:solidFill>
                  <a:srgbClr val="1E3445"/>
                </a:solidFill>
                <a:latin typeface="Aptos"/>
                <a:ea typeface="Aptos"/>
                <a:cs typeface="Aptos"/>
              </a:defRPr>
            </a:lvl8pPr>
            <a:lvl9pPr algn="l">
              <a:defRPr sz="165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CIC-IDS2017 was selected; alternatives were not all evaluated</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No custom Mininet, NS-3 or SDN simulation is included</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No public hosted site or production deployment is claimed</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Live interface capture remains unverified on the source machine</a:t>
            </a:r>
          </a:p>
        </p:txBody>
      </p:sp>
    </p:spTree>
    <p:extLst>
      <p:ext uri="{BB962C8B-B14F-4D97-AF65-F5344CB8AC3E}">
        <p14:creationId xmlns:p14="http://schemas.microsoft.com/office/powerpoint/2010/main" val="444004232"/>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B4CA8A54-9632-4490-8446-40CF0052EE7C}"/>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1  /  PROJECT FOUNDATIONS</a:t>
            </a:r>
          </a:p>
        </p:txBody>
      </p:sp>
      <p:sp>
        <p:nvSpPr>
          <p:cNvPr id="2" name="text">
            <a:extLst xmlns:a="http://schemas.openxmlformats.org/drawingml/2006/main">
              <a:ext uri="{FF2B5EF4-FFF2-40B4-BE49-F238E27FC236}">
                <a16:creationId xmlns:a16="http://schemas.microsoft.com/office/drawing/2014/main" id="{C7D26762-F377-4BE7-9C08-EFB41AD8035D}"/>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Dataset and seven-class test support</a:t>
            </a:r>
          </a:p>
        </p:txBody>
      </p:sp>
      <p:sp>
        <p:nvSpPr>
          <p:cNvPr id="3" name="text">
            <a:extLst xmlns:a="http://schemas.openxmlformats.org/drawingml/2006/main">
              <a:ext uri="{FF2B5EF4-FFF2-40B4-BE49-F238E27FC236}">
                <a16:creationId xmlns:a16="http://schemas.microsoft.com/office/drawing/2014/main" id="{9EA3F8A5-4EA1-4AFD-9EEF-10E51D176BCE}"/>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C6DFE0DF-6A61-43AB-B6BA-C0788AAEF9C2}"/>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04</a:t>
            </a:r>
          </a:p>
        </p:txBody>
      </p:sp>
      <p:sp>
        <p:nvSpPr>
          <p:cNvPr id="5" name="text">
            <a:extLst xmlns:a="http://schemas.openxmlformats.org/drawingml/2006/main">
              <a:ext uri="{FF2B5EF4-FFF2-40B4-BE49-F238E27FC236}">
                <a16:creationId xmlns:a16="http://schemas.microsoft.com/office/drawing/2014/main" id="{A04A7908-C82F-408A-9365-A2E5402A1362}"/>
              </a:ext>
            </a:extLst>
          </p:cNvPr>
          <p:cNvSpPr>
            <a:spLocks xmlns:a="http://schemas.openxmlformats.org/drawingml/2006/main" noGrp="1"/>
          </p:cNvSpPr>
          <p:nvPr/>
        </p:nvSpPr>
        <p:spPr>
          <a:xfrm xmlns:a="http://schemas.openxmlformats.org/drawingml/2006/main">
            <a:off x="742950" y="14668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536878"/>
                </a:solidFill>
                <a:latin typeface="Aptos"/>
                <a:ea typeface="Aptos"/>
                <a:cs typeface="Aptos"/>
              </a:defRPr>
            </a:defPPr>
            <a:lvl1pPr algn="l">
              <a:defRPr sz="1650" b="1">
                <a:solidFill>
                  <a:srgbClr val="536878"/>
                </a:solidFill>
                <a:latin typeface="Aptos"/>
                <a:ea typeface="Aptos"/>
                <a:cs typeface="Aptos"/>
              </a:defRPr>
            </a:lvl1pPr>
            <a:lvl2pPr algn="l">
              <a:defRPr sz="1650" b="1">
                <a:solidFill>
                  <a:srgbClr val="536878"/>
                </a:solidFill>
                <a:latin typeface="Aptos"/>
                <a:ea typeface="Aptos"/>
                <a:cs typeface="Aptos"/>
              </a:defRPr>
            </a:lvl2pPr>
            <a:lvl3pPr algn="l">
              <a:defRPr sz="1650" b="1">
                <a:solidFill>
                  <a:srgbClr val="536878"/>
                </a:solidFill>
                <a:latin typeface="Aptos"/>
                <a:ea typeface="Aptos"/>
                <a:cs typeface="Aptos"/>
              </a:defRPr>
            </a:lvl3pPr>
            <a:lvl4pPr algn="l">
              <a:defRPr sz="1650" b="1">
                <a:solidFill>
                  <a:srgbClr val="536878"/>
                </a:solidFill>
                <a:latin typeface="Aptos"/>
                <a:ea typeface="Aptos"/>
                <a:cs typeface="Aptos"/>
              </a:defRPr>
            </a:lvl4pPr>
            <a:lvl5pPr algn="l">
              <a:defRPr sz="1650" b="1">
                <a:solidFill>
                  <a:srgbClr val="536878"/>
                </a:solidFill>
                <a:latin typeface="Aptos"/>
                <a:ea typeface="Aptos"/>
                <a:cs typeface="Aptos"/>
              </a:defRPr>
            </a:lvl5pPr>
            <a:lvl6pPr algn="l">
              <a:defRPr sz="1650" b="1">
                <a:solidFill>
                  <a:srgbClr val="536878"/>
                </a:solidFill>
                <a:latin typeface="Aptos"/>
                <a:ea typeface="Aptos"/>
                <a:cs typeface="Aptos"/>
              </a:defRPr>
            </a:lvl6pPr>
            <a:lvl7pPr algn="l">
              <a:defRPr sz="1650" b="1">
                <a:solidFill>
                  <a:srgbClr val="536878"/>
                </a:solidFill>
                <a:latin typeface="Aptos"/>
                <a:ea typeface="Aptos"/>
                <a:cs typeface="Aptos"/>
              </a:defRPr>
            </a:lvl7pPr>
            <a:lvl8pPr algn="l">
              <a:defRPr sz="1650" b="1">
                <a:solidFill>
                  <a:srgbClr val="536878"/>
                </a:solidFill>
                <a:latin typeface="Aptos"/>
                <a:ea typeface="Aptos"/>
                <a:cs typeface="Aptos"/>
              </a:defRPr>
            </a:lvl8pPr>
            <a:lvl9pPr algn="l">
              <a:defRPr sz="1650" b="1">
                <a:solidFill>
                  <a:srgbClr val="536878"/>
                </a:solidFill>
                <a:latin typeface="Aptos"/>
                <a:ea typeface="Aptos"/>
                <a:cs typeface="Aptos"/>
              </a:defRPr>
            </a:lvl9pPr>
          </a:lstStyle>
          <a:p xmlns:a="http://schemas.openxmlformats.org/drawingml/2006/main">
            <a:pPr algn="l">
              <a:lnSpc>
                <a:spcPct val="108000"/>
              </a:lnSpc>
              <a:buNone/>
              <a:defRPr sz="1650" b="1">
                <a:solidFill>
                  <a:srgbClr val="536878"/>
                </a:solidFill>
                <a:latin typeface="Aptos"/>
                <a:ea typeface="Aptos"/>
                <a:cs typeface="Aptos"/>
              </a:defRPr>
            </a:pPr>
            <a:r>
              <a:rPr sz="1650" b="1">
                <a:solidFill>
                  <a:srgbClr val="536878"/>
                </a:solidFill>
                <a:latin typeface="Aptos"/>
                <a:ea typeface="Aptos"/>
                <a:cs typeface="Aptos"/>
              </a:rPr>
              <a:t>Extended feature test split</a:t>
            </a:r>
          </a:p>
        </p:txBody>
      </p:sp>
      <p:graphicFrame>
        <p:nvGraphicFramePr>
          <p:cNvPr id="6" name="">
            <a:extLst xmlns:a="http://schemas.openxmlformats.org/drawingml/2006/main">
              <a:ext uri="{FF2B5EF4-FFF2-40B4-BE49-F238E27FC236}">
                <a16:creationId xmlns:a16="http://schemas.microsoft.com/office/drawing/2014/main" id="{7F3FFB46-9B46-4143-BB2F-2EDD8DC7E5D4}"/>
              </a:ext>
            </a:extLst>
          </p:cNvPr>
          <p:cNvGraphicFramePr/>
          <p:nvPr/>
        </p:nvGraphicFramePr>
        <p:xfrm>
          <a:off xmlns:a="http://schemas.openxmlformats.org/drawingml/2006/main" x="666750" y="1885950"/>
          <a:ext xmlns:a="http://schemas.openxmlformats.org/drawingml/2006/main" cx="10858500" cy="3486150"/>
        </p:xfrm>
        <a:graphic xmlns:a="http://schemas.openxmlformats.org/drawingml/2006/main">
          <a:graphicData uri="http://schemas.openxmlformats.org/drawingml/2006/table">
            <a:tbl>
              <a:tblPr firstRow="1" bandRow="1"/>
              <a:tblGrid>
                <a:gridCol w="5429250"/>
                <a:gridCol w="5429250"/>
              </a:tblGrid>
              <a:tr h="435769">
                <a:tc>
                  <a:txBody>
                    <a:bodyPr>
                      <a:normAutofit/>
                    </a:bodyPr>
                    <a:lstStyle/>
                    <a:p>
                      <a:pPr algn="l"/>
                      <a:r>
                        <a:rPr sz="1425" b="1">
                          <a:solidFill>
                            <a:srgbClr val="FFFFFF"/>
                          </a:solidFill>
                          <a:latin typeface="Aptos"/>
                          <a:ea typeface="Aptos"/>
                          <a:cs typeface="Aptos"/>
                        </a:rPr>
                        <a:t>Class</a:t>
                      </a:r>
                    </a:p>
                  </a:txBody>
                  <a:tcPr marL="91440" marR="91440" marT="45720" marB="45720" anchor="ctr">
                    <a:lnL w="9525">
                      <a:solidFill>
                        <a:srgbClr val="D7E0E6"/>
                      </a:solidFill>
                      <a:prstDash val="solid"/>
                    </a:lnL>
                    <a:lnR w="9525">
                      <a:solidFill>
                        <a:srgbClr val="D7E0E6"/>
                      </a:solidFill>
                      <a:prstDash val="solid"/>
                    </a:lnR>
                    <a:lnT w="9525">
                      <a:solidFill>
                        <a:srgbClr val="D7E0E6"/>
                      </a:solidFill>
                      <a:prstDash val="solid"/>
                    </a:lnT>
                    <a:lnB w="9525">
                      <a:solidFill>
                        <a:srgbClr val="D7E0E6"/>
                      </a:solidFill>
                      <a:prstDash val="solid"/>
                    </a:lnB>
                    <a:solidFill>
                      <a:srgbClr val="102A43"/>
                    </a:solidFill>
                  </a:tcPr>
                </a:tc>
                <a:tc>
                  <a:txBody>
                    <a:bodyPr>
                      <a:normAutofit/>
                    </a:bodyPr>
                    <a:lstStyle/>
                    <a:p>
                      <a:pPr algn="ctr"/>
                      <a:r>
                        <a:rPr sz="1425" b="1">
                          <a:solidFill>
                            <a:srgbClr val="FFFFFF"/>
                          </a:solidFill>
                          <a:latin typeface="Aptos"/>
                          <a:ea typeface="Aptos"/>
                          <a:cs typeface="Aptos"/>
                        </a:rPr>
                        <a:t>Test rows</a:t>
                      </a:r>
                    </a:p>
                  </a:txBody>
                  <a:tcPr marL="91440" marR="91440" marT="45720" marB="45720" anchor="ctr">
                    <a:lnR w="9525">
                      <a:solidFill>
                        <a:srgbClr val="D7E0E6"/>
                      </a:solidFill>
                      <a:prstDash val="solid"/>
                    </a:lnR>
                    <a:lnT w="9525">
                      <a:solidFill>
                        <a:srgbClr val="D7E0E6"/>
                      </a:solidFill>
                      <a:prstDash val="solid"/>
                    </a:lnT>
                    <a:lnB w="9525">
                      <a:solidFill>
                        <a:srgbClr val="D7E0E6"/>
                      </a:solidFill>
                      <a:prstDash val="solid"/>
                    </a:lnB>
                    <a:solidFill>
                      <a:srgbClr val="102A43"/>
                    </a:solidFill>
                  </a:tcPr>
                </a:tc>
              </a:tr>
              <a:tr h="435769">
                <a:tc>
                  <a:txBody>
                    <a:bodyPr>
                      <a:normAutofit/>
                    </a:bodyPr>
                    <a:lstStyle/>
                    <a:p>
                      <a:pPr algn="l"/>
                      <a:r>
                        <a:rPr sz="1500" b="0">
                          <a:solidFill>
                            <a:srgbClr val="1E3445"/>
                          </a:solidFill>
                          <a:latin typeface="Aptos"/>
                          <a:ea typeface="Aptos"/>
                          <a:cs typeface="Aptos"/>
                        </a:rPr>
                        <a:t>Benign</a:t>
                      </a:r>
                    </a:p>
                  </a:txBody>
                  <a:tcPr marL="91440" marR="91440" marT="45720" marB="45720" anchor="ctr">
                    <a:lnL w="9525">
                      <a:solidFill>
                        <a:srgbClr val="D7E0E6"/>
                      </a:solidFill>
                      <a:prstDash val="solid"/>
                    </a:lnL>
                    <a:lnR w="9525">
                      <a:solidFill>
                        <a:srgbClr val="D7E0E6"/>
                      </a:solidFill>
                      <a:prstDash val="solid"/>
                    </a:lnR>
                    <a:lnB w="9525">
                      <a:solidFill>
                        <a:srgbClr val="D7E0E6"/>
                      </a:solidFill>
                      <a:prstDash val="solid"/>
                    </a:lnB>
                    <a:solidFill>
                      <a:srgbClr val="FFFFFF"/>
                    </a:solidFill>
                  </a:tcPr>
                </a:tc>
                <a:tc>
                  <a:txBody>
                    <a:bodyPr>
                      <a:normAutofit/>
                    </a:bodyPr>
                    <a:lstStyle/>
                    <a:p>
                      <a:pPr algn="ctr"/>
                      <a:r>
                        <a:rPr sz="1500" b="0">
                          <a:solidFill>
                            <a:srgbClr val="1E3445"/>
                          </a:solidFill>
                          <a:latin typeface="Aptos"/>
                          <a:ea typeface="Aptos"/>
                          <a:cs typeface="Aptos"/>
                        </a:rPr>
                        <a:t>450</a:t>
                      </a:r>
                    </a:p>
                  </a:txBody>
                  <a:tcPr marL="91440" marR="91440" marT="45720" marB="45720" anchor="ctr">
                    <a:lnR w="9525">
                      <a:solidFill>
                        <a:srgbClr val="D7E0E6"/>
                      </a:solidFill>
                      <a:prstDash val="solid"/>
                    </a:lnR>
                    <a:lnB w="9525">
                      <a:solidFill>
                        <a:srgbClr val="D7E0E6"/>
                      </a:solidFill>
                      <a:prstDash val="solid"/>
                    </a:lnB>
                    <a:solidFill>
                      <a:srgbClr val="FFFFFF"/>
                    </a:solidFill>
                  </a:tcPr>
                </a:tc>
              </a:tr>
              <a:tr h="435769">
                <a:tc>
                  <a:txBody>
                    <a:bodyPr>
                      <a:normAutofit/>
                    </a:bodyPr>
                    <a:lstStyle/>
                    <a:p>
                      <a:pPr algn="l"/>
                      <a:r>
                        <a:rPr sz="1500" b="0">
                          <a:solidFill>
                            <a:srgbClr val="1E3445"/>
                          </a:solidFill>
                          <a:latin typeface="Aptos"/>
                          <a:ea typeface="Aptos"/>
                          <a:cs typeface="Aptos"/>
                        </a:rPr>
                        <a:t>DoS</a:t>
                      </a:r>
                    </a:p>
                  </a:txBody>
                  <a:tcPr marL="91440" marR="91440" marT="45720" marB="45720" anchor="ctr">
                    <a:lnL w="9525">
                      <a:solidFill>
                        <a:srgbClr val="D7E0E6"/>
                      </a:solidFill>
                      <a:prstDash val="solid"/>
                    </a:lnL>
                    <a:lnR w="9525">
                      <a:solidFill>
                        <a:srgbClr val="D7E0E6"/>
                      </a:solidFill>
                      <a:prstDash val="solid"/>
                    </a:lnR>
                    <a:lnB w="9525">
                      <a:solidFill>
                        <a:srgbClr val="D7E0E6"/>
                      </a:solidFill>
                      <a:prstDash val="solid"/>
                    </a:lnB>
                    <a:solidFill>
                      <a:srgbClr val="EEF4F7"/>
                    </a:solidFill>
                  </a:tcPr>
                </a:tc>
                <a:tc>
                  <a:txBody>
                    <a:bodyPr>
                      <a:normAutofit/>
                    </a:bodyPr>
                    <a:lstStyle/>
                    <a:p>
                      <a:pPr algn="ctr"/>
                      <a:r>
                        <a:rPr sz="1500" b="0">
                          <a:solidFill>
                            <a:srgbClr val="1E3445"/>
                          </a:solidFill>
                          <a:latin typeface="Aptos"/>
                          <a:ea typeface="Aptos"/>
                          <a:cs typeface="Aptos"/>
                        </a:rPr>
                        <a:t>300</a:t>
                      </a:r>
                    </a:p>
                  </a:txBody>
                  <a:tcPr marL="91440" marR="91440" marT="45720" marB="45720" anchor="ctr">
                    <a:lnR w="9525">
                      <a:solidFill>
                        <a:srgbClr val="D7E0E6"/>
                      </a:solidFill>
                      <a:prstDash val="solid"/>
                    </a:lnR>
                    <a:lnB w="9525">
                      <a:solidFill>
                        <a:srgbClr val="D7E0E6"/>
                      </a:solidFill>
                      <a:prstDash val="solid"/>
                    </a:lnB>
                    <a:solidFill>
                      <a:srgbClr val="EEF4F7"/>
                    </a:solidFill>
                  </a:tcPr>
                </a:tc>
              </a:tr>
              <a:tr h="435769">
                <a:tc>
                  <a:txBody>
                    <a:bodyPr>
                      <a:normAutofit/>
                    </a:bodyPr>
                    <a:lstStyle/>
                    <a:p>
                      <a:pPr algn="l"/>
                      <a:r>
                        <a:rPr sz="1500" b="0">
                          <a:solidFill>
                            <a:srgbClr val="1E3445"/>
                          </a:solidFill>
                          <a:latin typeface="Aptos"/>
                          <a:ea typeface="Aptos"/>
                          <a:cs typeface="Aptos"/>
                        </a:rPr>
                        <a:t>DDoS</a:t>
                      </a:r>
                    </a:p>
                  </a:txBody>
                  <a:tcPr marL="91440" marR="91440" marT="45720" marB="45720" anchor="ctr">
                    <a:lnL w="9525">
                      <a:solidFill>
                        <a:srgbClr val="D7E0E6"/>
                      </a:solidFill>
                      <a:prstDash val="solid"/>
                    </a:lnL>
                    <a:lnR w="9525">
                      <a:solidFill>
                        <a:srgbClr val="D7E0E6"/>
                      </a:solidFill>
                      <a:prstDash val="solid"/>
                    </a:lnR>
                    <a:lnB w="9525">
                      <a:solidFill>
                        <a:srgbClr val="D7E0E6"/>
                      </a:solidFill>
                      <a:prstDash val="solid"/>
                    </a:lnB>
                    <a:solidFill>
                      <a:srgbClr val="FFFFFF"/>
                    </a:solidFill>
                  </a:tcPr>
                </a:tc>
                <a:tc>
                  <a:txBody>
                    <a:bodyPr>
                      <a:normAutofit/>
                    </a:bodyPr>
                    <a:lstStyle/>
                    <a:p>
                      <a:pPr algn="ctr"/>
                      <a:r>
                        <a:rPr sz="1500" b="0">
                          <a:solidFill>
                            <a:srgbClr val="1E3445"/>
                          </a:solidFill>
                          <a:latin typeface="Aptos"/>
                          <a:ea typeface="Aptos"/>
                          <a:cs typeface="Aptos"/>
                        </a:rPr>
                        <a:t>300</a:t>
                      </a:r>
                    </a:p>
                  </a:txBody>
                  <a:tcPr marL="91440" marR="91440" marT="45720" marB="45720" anchor="ctr">
                    <a:lnR w="9525">
                      <a:solidFill>
                        <a:srgbClr val="D7E0E6"/>
                      </a:solidFill>
                      <a:prstDash val="solid"/>
                    </a:lnR>
                    <a:lnB w="9525">
                      <a:solidFill>
                        <a:srgbClr val="D7E0E6"/>
                      </a:solidFill>
                      <a:prstDash val="solid"/>
                    </a:lnB>
                    <a:solidFill>
                      <a:srgbClr val="FFFFFF"/>
                    </a:solidFill>
                  </a:tcPr>
                </a:tc>
              </a:tr>
              <a:tr h="435769">
                <a:tc>
                  <a:txBody>
                    <a:bodyPr>
                      <a:normAutofit/>
                    </a:bodyPr>
                    <a:lstStyle/>
                    <a:p>
                      <a:pPr algn="l"/>
                      <a:r>
                        <a:rPr sz="1500" b="0">
                          <a:solidFill>
                            <a:srgbClr val="1E3445"/>
                          </a:solidFill>
                          <a:latin typeface="Aptos"/>
                          <a:ea typeface="Aptos"/>
                          <a:cs typeface="Aptos"/>
                        </a:rPr>
                        <a:t>Botnet</a:t>
                      </a:r>
                    </a:p>
                  </a:txBody>
                  <a:tcPr marL="91440" marR="91440" marT="45720" marB="45720" anchor="ctr">
                    <a:lnL w="9525">
                      <a:solidFill>
                        <a:srgbClr val="D7E0E6"/>
                      </a:solidFill>
                      <a:prstDash val="solid"/>
                    </a:lnL>
                    <a:lnR w="9525">
                      <a:solidFill>
                        <a:srgbClr val="D7E0E6"/>
                      </a:solidFill>
                      <a:prstDash val="solid"/>
                    </a:lnR>
                    <a:lnB w="9525">
                      <a:solidFill>
                        <a:srgbClr val="D7E0E6"/>
                      </a:solidFill>
                      <a:prstDash val="solid"/>
                    </a:lnB>
                    <a:solidFill>
                      <a:srgbClr val="EEF4F7"/>
                    </a:solidFill>
                  </a:tcPr>
                </a:tc>
                <a:tc>
                  <a:txBody>
                    <a:bodyPr>
                      <a:normAutofit/>
                    </a:bodyPr>
                    <a:lstStyle/>
                    <a:p>
                      <a:pPr algn="ctr"/>
                      <a:r>
                        <a:rPr sz="1500" b="0">
                          <a:solidFill>
                            <a:srgbClr val="1E3445"/>
                          </a:solidFill>
                          <a:latin typeface="Aptos"/>
                          <a:ea typeface="Aptos"/>
                          <a:cs typeface="Aptos"/>
                        </a:rPr>
                        <a:t>185</a:t>
                      </a:r>
                    </a:p>
                  </a:txBody>
                  <a:tcPr marL="91440" marR="91440" marT="45720" marB="45720" anchor="ctr">
                    <a:lnR w="9525">
                      <a:solidFill>
                        <a:srgbClr val="D7E0E6"/>
                      </a:solidFill>
                      <a:prstDash val="solid"/>
                    </a:lnR>
                    <a:lnB w="9525">
                      <a:solidFill>
                        <a:srgbClr val="D7E0E6"/>
                      </a:solidFill>
                      <a:prstDash val="solid"/>
                    </a:lnB>
                    <a:solidFill>
                      <a:srgbClr val="EEF4F7"/>
                    </a:solidFill>
                  </a:tcPr>
                </a:tc>
              </a:tr>
              <a:tr h="435769">
                <a:tc>
                  <a:txBody>
                    <a:bodyPr>
                      <a:normAutofit/>
                    </a:bodyPr>
                    <a:lstStyle/>
                    <a:p>
                      <a:pPr algn="l"/>
                      <a:r>
                        <a:rPr sz="1500" b="0">
                          <a:solidFill>
                            <a:srgbClr val="1E3445"/>
                          </a:solidFill>
                          <a:latin typeface="Aptos"/>
                          <a:ea typeface="Aptos"/>
                          <a:cs typeface="Aptos"/>
                        </a:rPr>
                        <a:t>Port Scan</a:t>
                      </a:r>
                    </a:p>
                  </a:txBody>
                  <a:tcPr marL="91440" marR="91440" marT="45720" marB="45720" anchor="ctr">
                    <a:lnL w="9525">
                      <a:solidFill>
                        <a:srgbClr val="D7E0E6"/>
                      </a:solidFill>
                      <a:prstDash val="solid"/>
                    </a:lnL>
                    <a:lnR w="9525">
                      <a:solidFill>
                        <a:srgbClr val="D7E0E6"/>
                      </a:solidFill>
                      <a:prstDash val="solid"/>
                    </a:lnR>
                    <a:lnB w="9525">
                      <a:solidFill>
                        <a:srgbClr val="D7E0E6"/>
                      </a:solidFill>
                      <a:prstDash val="solid"/>
                    </a:lnB>
                    <a:solidFill>
                      <a:srgbClr val="FFFFFF"/>
                    </a:solidFill>
                  </a:tcPr>
                </a:tc>
                <a:tc>
                  <a:txBody>
                    <a:bodyPr>
                      <a:normAutofit/>
                    </a:bodyPr>
                    <a:lstStyle/>
                    <a:p>
                      <a:pPr algn="ctr"/>
                      <a:r>
                        <a:rPr sz="1500" b="0">
                          <a:solidFill>
                            <a:srgbClr val="1E3445"/>
                          </a:solidFill>
                          <a:latin typeface="Aptos"/>
                          <a:ea typeface="Aptos"/>
                          <a:cs typeface="Aptos"/>
                        </a:rPr>
                        <a:t>272</a:t>
                      </a:r>
                    </a:p>
                  </a:txBody>
                  <a:tcPr marL="91440" marR="91440" marT="45720" marB="45720" anchor="ctr">
                    <a:lnR w="9525">
                      <a:solidFill>
                        <a:srgbClr val="D7E0E6"/>
                      </a:solidFill>
                      <a:prstDash val="solid"/>
                    </a:lnR>
                    <a:lnB w="9525">
                      <a:solidFill>
                        <a:srgbClr val="D7E0E6"/>
                      </a:solidFill>
                      <a:prstDash val="solid"/>
                    </a:lnB>
                    <a:solidFill>
                      <a:srgbClr val="FFFFFF"/>
                    </a:solidFill>
                  </a:tcPr>
                </a:tc>
              </a:tr>
              <a:tr h="435769">
                <a:tc>
                  <a:txBody>
                    <a:bodyPr>
                      <a:normAutofit/>
                    </a:bodyPr>
                    <a:lstStyle/>
                    <a:p>
                      <a:pPr algn="l"/>
                      <a:r>
                        <a:rPr sz="1500" b="0">
                          <a:solidFill>
                            <a:srgbClr val="1E3445"/>
                          </a:solidFill>
                          <a:latin typeface="Aptos"/>
                          <a:ea typeface="Aptos"/>
                          <a:cs typeface="Aptos"/>
                        </a:rPr>
                        <a:t>Brute Force</a:t>
                      </a:r>
                    </a:p>
                  </a:txBody>
                  <a:tcPr marL="91440" marR="91440" marT="45720" marB="45720" anchor="ctr">
                    <a:lnL w="9525">
                      <a:solidFill>
                        <a:srgbClr val="D7E0E6"/>
                      </a:solidFill>
                      <a:prstDash val="solid"/>
                    </a:lnL>
                    <a:lnR w="9525">
                      <a:solidFill>
                        <a:srgbClr val="D7E0E6"/>
                      </a:solidFill>
                      <a:prstDash val="solid"/>
                    </a:lnR>
                    <a:lnB w="9525">
                      <a:solidFill>
                        <a:srgbClr val="D7E0E6"/>
                      </a:solidFill>
                      <a:prstDash val="solid"/>
                    </a:lnB>
                    <a:solidFill>
                      <a:srgbClr val="EEF4F7"/>
                    </a:solidFill>
                  </a:tcPr>
                </a:tc>
                <a:tc>
                  <a:txBody>
                    <a:bodyPr>
                      <a:normAutofit/>
                    </a:bodyPr>
                    <a:lstStyle/>
                    <a:p>
                      <a:pPr algn="ctr"/>
                      <a:r>
                        <a:rPr sz="1500" b="0">
                          <a:solidFill>
                            <a:srgbClr val="1E3445"/>
                          </a:solidFill>
                          <a:latin typeface="Aptos"/>
                          <a:ea typeface="Aptos"/>
                          <a:cs typeface="Aptos"/>
                        </a:rPr>
                        <a:t>299</a:t>
                      </a:r>
                    </a:p>
                  </a:txBody>
                  <a:tcPr marL="91440" marR="91440" marT="45720" marB="45720" anchor="ctr">
                    <a:lnR w="9525">
                      <a:solidFill>
                        <a:srgbClr val="D7E0E6"/>
                      </a:solidFill>
                      <a:prstDash val="solid"/>
                    </a:lnR>
                    <a:lnB w="9525">
                      <a:solidFill>
                        <a:srgbClr val="D7E0E6"/>
                      </a:solidFill>
                      <a:prstDash val="solid"/>
                    </a:lnB>
                    <a:solidFill>
                      <a:srgbClr val="EEF4F7"/>
                    </a:solidFill>
                  </a:tcPr>
                </a:tc>
              </a:tr>
              <a:tr h="435769">
                <a:tc>
                  <a:txBody>
                    <a:bodyPr>
                      <a:normAutofit/>
                    </a:bodyPr>
                    <a:lstStyle/>
                    <a:p>
                      <a:pPr algn="l"/>
                      <a:r>
                        <a:rPr sz="1500" b="0">
                          <a:solidFill>
                            <a:srgbClr val="1E3445"/>
                          </a:solidFill>
                          <a:latin typeface="Aptos"/>
                          <a:ea typeface="Aptos"/>
                          <a:cs typeface="Aptos"/>
                        </a:rPr>
                        <a:t>Infiltration</a:t>
                      </a:r>
                    </a:p>
                  </a:txBody>
                  <a:tcPr marL="91440" marR="91440" marT="45720" marB="45720" anchor="ctr">
                    <a:lnL w="9525">
                      <a:solidFill>
                        <a:srgbClr val="D7E0E6"/>
                      </a:solidFill>
                      <a:prstDash val="solid"/>
                    </a:lnL>
                    <a:lnR w="9525">
                      <a:solidFill>
                        <a:srgbClr val="D7E0E6"/>
                      </a:solidFill>
                      <a:prstDash val="solid"/>
                    </a:lnR>
                    <a:lnB w="9525">
                      <a:solidFill>
                        <a:srgbClr val="D7E0E6"/>
                      </a:solidFill>
                      <a:prstDash val="solid"/>
                    </a:lnB>
                    <a:solidFill>
                      <a:srgbClr val="FFFFFF"/>
                    </a:solidFill>
                  </a:tcPr>
                </a:tc>
                <a:tc>
                  <a:txBody>
                    <a:bodyPr>
                      <a:normAutofit/>
                    </a:bodyPr>
                    <a:lstStyle/>
                    <a:p>
                      <a:pPr algn="ctr"/>
                      <a:r>
                        <a:rPr sz="1500" b="0">
                          <a:solidFill>
                            <a:srgbClr val="1E3445"/>
                          </a:solidFill>
                          <a:latin typeface="Aptos"/>
                          <a:ea typeface="Aptos"/>
                          <a:cs typeface="Aptos"/>
                        </a:rPr>
                        <a:t>5</a:t>
                      </a:r>
                    </a:p>
                  </a:txBody>
                  <a:tcPr marL="91440" marR="91440" marT="45720" marB="45720" anchor="ctr">
                    <a:lnR w="9525">
                      <a:solidFill>
                        <a:srgbClr val="D7E0E6"/>
                      </a:solidFill>
                      <a:prstDash val="solid"/>
                    </a:lnR>
                    <a:lnB w="9525">
                      <a:solidFill>
                        <a:srgbClr val="D7E0E6"/>
                      </a:solidFill>
                      <a:prstDash val="solid"/>
                    </a:lnB>
                    <a:solidFill>
                      <a:srgbClr val="FFFFFF"/>
                    </a:solidFill>
                  </a:tcPr>
                </a:tc>
              </a:tr>
            </a:tbl>
          </a:graphicData>
        </a:graphic>
      </p:graphicFrame>
      <p:sp>
        <p:nvSpPr>
          <p:cNvPr id="7" name="text">
            <a:extLst xmlns:a="http://schemas.openxmlformats.org/drawingml/2006/main">
              <a:ext uri="{FF2B5EF4-FFF2-40B4-BE49-F238E27FC236}">
                <a16:creationId xmlns:a16="http://schemas.microsoft.com/office/drawing/2014/main" id="{AF8C17DE-7C86-4CFB-8CE2-EA5D973C950E}"/>
              </a:ext>
            </a:extLst>
          </p:cNvPr>
          <p:cNvSpPr>
            <a:spLocks xmlns:a="http://schemas.openxmlformats.org/drawingml/2006/main" noGrp="1"/>
          </p:cNvSpPr>
          <p:nvPr/>
        </p:nvSpPr>
        <p:spPr>
          <a:xfrm xmlns:a="http://schemas.openxmlformats.org/drawingml/2006/main">
            <a:off x="666750" y="55435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36878"/>
                </a:solidFill>
                <a:latin typeface="Aptos"/>
                <a:ea typeface="Aptos"/>
                <a:cs typeface="Aptos"/>
              </a:defRPr>
            </a:defPPr>
            <a:lvl1pPr algn="l">
              <a:defRPr sz="1275" b="0">
                <a:solidFill>
                  <a:srgbClr val="536878"/>
                </a:solidFill>
                <a:latin typeface="Aptos"/>
                <a:ea typeface="Aptos"/>
                <a:cs typeface="Aptos"/>
              </a:defRPr>
            </a:lvl1pPr>
            <a:lvl2pPr algn="l">
              <a:defRPr sz="1275" b="0">
                <a:solidFill>
                  <a:srgbClr val="536878"/>
                </a:solidFill>
                <a:latin typeface="Aptos"/>
                <a:ea typeface="Aptos"/>
                <a:cs typeface="Aptos"/>
              </a:defRPr>
            </a:lvl2pPr>
            <a:lvl3pPr algn="l">
              <a:defRPr sz="1275" b="0">
                <a:solidFill>
                  <a:srgbClr val="536878"/>
                </a:solidFill>
                <a:latin typeface="Aptos"/>
                <a:ea typeface="Aptos"/>
                <a:cs typeface="Aptos"/>
              </a:defRPr>
            </a:lvl3pPr>
            <a:lvl4pPr algn="l">
              <a:defRPr sz="1275" b="0">
                <a:solidFill>
                  <a:srgbClr val="536878"/>
                </a:solidFill>
                <a:latin typeface="Aptos"/>
                <a:ea typeface="Aptos"/>
                <a:cs typeface="Aptos"/>
              </a:defRPr>
            </a:lvl4pPr>
            <a:lvl5pPr algn="l">
              <a:defRPr sz="1275" b="0">
                <a:solidFill>
                  <a:srgbClr val="536878"/>
                </a:solidFill>
                <a:latin typeface="Aptos"/>
                <a:ea typeface="Aptos"/>
                <a:cs typeface="Aptos"/>
              </a:defRPr>
            </a:lvl5pPr>
            <a:lvl6pPr algn="l">
              <a:defRPr sz="1275" b="0">
                <a:solidFill>
                  <a:srgbClr val="536878"/>
                </a:solidFill>
                <a:latin typeface="Aptos"/>
                <a:ea typeface="Aptos"/>
                <a:cs typeface="Aptos"/>
              </a:defRPr>
            </a:lvl6pPr>
            <a:lvl7pPr algn="l">
              <a:defRPr sz="1275" b="0">
                <a:solidFill>
                  <a:srgbClr val="536878"/>
                </a:solidFill>
                <a:latin typeface="Aptos"/>
                <a:ea typeface="Aptos"/>
                <a:cs typeface="Aptos"/>
              </a:defRPr>
            </a:lvl7pPr>
            <a:lvl8pPr algn="l">
              <a:defRPr sz="1275" b="0">
                <a:solidFill>
                  <a:srgbClr val="536878"/>
                </a:solidFill>
                <a:latin typeface="Aptos"/>
                <a:ea typeface="Aptos"/>
                <a:cs typeface="Aptos"/>
              </a:defRPr>
            </a:lvl8pPr>
            <a:lvl9pPr algn="l">
              <a:defRPr sz="1275" b="0">
                <a:solidFill>
                  <a:srgbClr val="536878"/>
                </a:solidFill>
                <a:latin typeface="Aptos"/>
                <a:ea typeface="Aptos"/>
                <a:cs typeface="Aptos"/>
              </a:defRPr>
            </a:lvl9pPr>
          </a:lstStyle>
          <a:p xmlns:a="http://schemas.openxmlformats.org/drawingml/2006/main">
            <a:pPr algn="l">
              <a:lnSpc>
                <a:spcPct val="108000"/>
              </a:lnSpc>
              <a:buNone/>
              <a:defRPr sz="1275" b="0">
                <a:solidFill>
                  <a:srgbClr val="536878"/>
                </a:solidFill>
                <a:latin typeface="Aptos"/>
                <a:ea typeface="Aptos"/>
                <a:cs typeface="Aptos"/>
              </a:defRPr>
            </a:pPr>
            <a:r>
              <a:rPr sz="1275" b="0">
                <a:solidFill>
                  <a:srgbClr val="536878"/>
                </a:solidFill>
                <a:latin typeface="Aptos"/>
                <a:ea typeface="Aptos"/>
                <a:cs typeface="Aptos"/>
              </a:rPr>
              <a:t>1,811 test flows total. The small Infiltration count limits what its score can establish.</a:t>
            </a:r>
          </a:p>
        </p:txBody>
      </p:sp>
    </p:spTree>
    <p:extLst>
      <p:ext uri="{BB962C8B-B14F-4D97-AF65-F5344CB8AC3E}">
        <p14:creationId xmlns:p14="http://schemas.microsoft.com/office/powerpoint/2010/main" val="2030303270"/>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525F5B80-1AE1-4F28-8A28-452B15F1CCE9}"/>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1  /  PROJECT FOUNDATIONS</a:t>
            </a:r>
          </a:p>
        </p:txBody>
      </p:sp>
      <p:sp>
        <p:nvSpPr>
          <p:cNvPr id="2" name="text">
            <a:extLst xmlns:a="http://schemas.openxmlformats.org/drawingml/2006/main">
              <a:ext uri="{FF2B5EF4-FFF2-40B4-BE49-F238E27FC236}">
                <a16:creationId xmlns:a16="http://schemas.microsoft.com/office/drawing/2014/main" id="{D050EE20-2CC6-4DEE-90AD-7F7EAC09906B}"/>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Data preparation and split controls</a:t>
            </a:r>
          </a:p>
        </p:txBody>
      </p:sp>
      <p:sp>
        <p:nvSpPr>
          <p:cNvPr id="3" name="text">
            <a:extLst xmlns:a="http://schemas.openxmlformats.org/drawingml/2006/main">
              <a:ext uri="{FF2B5EF4-FFF2-40B4-BE49-F238E27FC236}">
                <a16:creationId xmlns:a16="http://schemas.microsoft.com/office/drawing/2014/main" id="{898E119A-4E5B-496F-91EA-2413A0DDACED}"/>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4639A0CA-C255-4EEA-990B-B5DD345131FF}"/>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05</a:t>
            </a:r>
          </a:p>
        </p:txBody>
      </p:sp>
      <p:sp>
        <p:nvSpPr>
          <p:cNvPr id="5" name="editable bullet list">
            <a:extLst xmlns:a="http://schemas.openxmlformats.org/drawingml/2006/main">
              <a:ext uri="{FF2B5EF4-FFF2-40B4-BE49-F238E27FC236}">
                <a16:creationId xmlns:a16="http://schemas.microsoft.com/office/drawing/2014/main" id="{A1682E2D-D496-4565-8B3B-8E3CB9D6EB2A}"/>
              </a:ext>
            </a:extLst>
          </p:cNvPr>
          <p:cNvSpPr>
            <a:spLocks xmlns:a="http://schemas.openxmlformats.org/drawingml/2006/main" noGrp="1"/>
          </p:cNvSpPr>
          <p:nvPr/>
        </p:nvSpPr>
        <p:spPr>
          <a:xfrm xmlns:a="http://schemas.openxmlformats.org/drawingml/2006/main">
            <a:off x="876300" y="1619250"/>
            <a:ext cx="10287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a:solidFill>
                  <a:srgbClr val="1E3445"/>
                </a:solidFill>
                <a:latin typeface="Aptos"/>
                <a:ea typeface="Aptos"/>
                <a:cs typeface="Aptos"/>
              </a:defRPr>
            </a:defPPr>
            <a:lvl1pPr algn="l">
              <a:defRPr sz="1875">
                <a:solidFill>
                  <a:srgbClr val="1E3445"/>
                </a:solidFill>
                <a:latin typeface="Aptos"/>
                <a:ea typeface="Aptos"/>
                <a:cs typeface="Aptos"/>
              </a:defRPr>
            </a:lvl1pPr>
            <a:lvl2pPr algn="l">
              <a:defRPr sz="1875">
                <a:solidFill>
                  <a:srgbClr val="1E3445"/>
                </a:solidFill>
                <a:latin typeface="Aptos"/>
                <a:ea typeface="Aptos"/>
                <a:cs typeface="Aptos"/>
              </a:defRPr>
            </a:lvl2pPr>
            <a:lvl3pPr algn="l">
              <a:defRPr sz="1875">
                <a:solidFill>
                  <a:srgbClr val="1E3445"/>
                </a:solidFill>
                <a:latin typeface="Aptos"/>
                <a:ea typeface="Aptos"/>
                <a:cs typeface="Aptos"/>
              </a:defRPr>
            </a:lvl3pPr>
            <a:lvl4pPr algn="l">
              <a:defRPr sz="1875">
                <a:solidFill>
                  <a:srgbClr val="1E3445"/>
                </a:solidFill>
                <a:latin typeface="Aptos"/>
                <a:ea typeface="Aptos"/>
                <a:cs typeface="Aptos"/>
              </a:defRPr>
            </a:lvl4pPr>
            <a:lvl5pPr algn="l">
              <a:defRPr sz="1875">
                <a:solidFill>
                  <a:srgbClr val="1E3445"/>
                </a:solidFill>
                <a:latin typeface="Aptos"/>
                <a:ea typeface="Aptos"/>
                <a:cs typeface="Aptos"/>
              </a:defRPr>
            </a:lvl5pPr>
            <a:lvl6pPr algn="l">
              <a:defRPr sz="1875">
                <a:solidFill>
                  <a:srgbClr val="1E3445"/>
                </a:solidFill>
                <a:latin typeface="Aptos"/>
                <a:ea typeface="Aptos"/>
                <a:cs typeface="Aptos"/>
              </a:defRPr>
            </a:lvl6pPr>
            <a:lvl7pPr algn="l">
              <a:defRPr sz="1875">
                <a:solidFill>
                  <a:srgbClr val="1E3445"/>
                </a:solidFill>
                <a:latin typeface="Aptos"/>
                <a:ea typeface="Aptos"/>
                <a:cs typeface="Aptos"/>
              </a:defRPr>
            </a:lvl7pPr>
            <a:lvl8pPr algn="l">
              <a:defRPr sz="1875">
                <a:solidFill>
                  <a:srgbClr val="1E3445"/>
                </a:solidFill>
                <a:latin typeface="Aptos"/>
                <a:ea typeface="Aptos"/>
                <a:cs typeface="Aptos"/>
              </a:defRPr>
            </a:lvl8pPr>
            <a:lvl9pPr algn="l">
              <a:defRPr sz="1875">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Selected feature vectors were deduplicated; conflicting labels for identical vectors were removed.</a:t>
            </a:r>
          </a:p>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The feature benchmark uses stratified 70/15/15 train, validation and test partitions.</a:t>
            </a:r>
          </a:p>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Median imputation, signed log transform and standardization are fitted on training rows only.</a:t>
            </a:r>
          </a:p>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Validation macro-F1 selects checkpoints; the held-out test split is reserved for reporting.</a:t>
            </a:r>
          </a:p>
        </p:txBody>
      </p:sp>
    </p:spTree>
    <p:extLst>
      <p:ext uri="{BB962C8B-B14F-4D97-AF65-F5344CB8AC3E}">
        <p14:creationId xmlns:p14="http://schemas.microsoft.com/office/powerpoint/2010/main" val="1114887745"/>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5A33A32F-F61C-4FC9-AB99-C6290A05D516}"/>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1  /  PROJECT FOUNDATIONS</a:t>
            </a:r>
          </a:p>
        </p:txBody>
      </p:sp>
      <p:sp>
        <p:nvSpPr>
          <p:cNvPr id="2" name="text">
            <a:extLst xmlns:a="http://schemas.openxmlformats.org/drawingml/2006/main">
              <a:ext uri="{FF2B5EF4-FFF2-40B4-BE49-F238E27FC236}">
                <a16:creationId xmlns:a16="http://schemas.microsoft.com/office/drawing/2014/main" id="{1ECB1BAB-AADE-4040-8D3D-603598742978}"/>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What goes into a model?</a:t>
            </a:r>
          </a:p>
        </p:txBody>
      </p:sp>
      <p:sp>
        <p:nvSpPr>
          <p:cNvPr id="3" name="text">
            <a:extLst xmlns:a="http://schemas.openxmlformats.org/drawingml/2006/main">
              <a:ext uri="{FF2B5EF4-FFF2-40B4-BE49-F238E27FC236}">
                <a16:creationId xmlns:a16="http://schemas.microsoft.com/office/drawing/2014/main" id="{B264F982-E675-4B54-9EB8-658EF431549E}"/>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F49F7D67-4168-417C-95B2-FDA1646F41CC}"/>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06</a:t>
            </a:r>
          </a:p>
        </p:txBody>
      </p:sp>
      <p:sp>
        <p:nvSpPr>
          <p:cNvPr id="5" name="text">
            <a:extLst xmlns:a="http://schemas.openxmlformats.org/drawingml/2006/main">
              <a:ext uri="{FF2B5EF4-FFF2-40B4-BE49-F238E27FC236}">
                <a16:creationId xmlns:a16="http://schemas.microsoft.com/office/drawing/2014/main" id="{1C84DDB3-D538-447F-A20F-AB242D5068DE}"/>
              </a:ext>
            </a:extLst>
          </p:cNvPr>
          <p:cNvSpPr>
            <a:spLocks xmlns:a="http://schemas.openxmlformats.org/drawingml/2006/main" noGrp="1"/>
          </p:cNvSpPr>
          <p:nvPr/>
        </p:nvSpPr>
        <p:spPr>
          <a:xfrm xmlns:a="http://schemas.openxmlformats.org/drawingml/2006/main">
            <a:off x="742950" y="15621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087E8B"/>
                </a:solidFill>
                <a:latin typeface="Aptos"/>
                <a:ea typeface="Aptos"/>
                <a:cs typeface="Aptos"/>
              </a:defRPr>
            </a:defPPr>
            <a:lvl1pPr algn="l">
              <a:defRPr sz="2025" b="1">
                <a:solidFill>
                  <a:srgbClr val="087E8B"/>
                </a:solidFill>
                <a:latin typeface="Aptos"/>
                <a:ea typeface="Aptos"/>
                <a:cs typeface="Aptos"/>
              </a:defRPr>
            </a:lvl1pPr>
            <a:lvl2pPr algn="l">
              <a:defRPr sz="2025" b="1">
                <a:solidFill>
                  <a:srgbClr val="087E8B"/>
                </a:solidFill>
                <a:latin typeface="Aptos"/>
                <a:ea typeface="Aptos"/>
                <a:cs typeface="Aptos"/>
              </a:defRPr>
            </a:lvl2pPr>
            <a:lvl3pPr algn="l">
              <a:defRPr sz="2025" b="1">
                <a:solidFill>
                  <a:srgbClr val="087E8B"/>
                </a:solidFill>
                <a:latin typeface="Aptos"/>
                <a:ea typeface="Aptos"/>
                <a:cs typeface="Aptos"/>
              </a:defRPr>
            </a:lvl3pPr>
            <a:lvl4pPr algn="l">
              <a:defRPr sz="2025" b="1">
                <a:solidFill>
                  <a:srgbClr val="087E8B"/>
                </a:solidFill>
                <a:latin typeface="Aptos"/>
                <a:ea typeface="Aptos"/>
                <a:cs typeface="Aptos"/>
              </a:defRPr>
            </a:lvl4pPr>
            <a:lvl5pPr algn="l">
              <a:defRPr sz="2025" b="1">
                <a:solidFill>
                  <a:srgbClr val="087E8B"/>
                </a:solidFill>
                <a:latin typeface="Aptos"/>
                <a:ea typeface="Aptos"/>
                <a:cs typeface="Aptos"/>
              </a:defRPr>
            </a:lvl5pPr>
            <a:lvl6pPr algn="l">
              <a:defRPr sz="2025" b="1">
                <a:solidFill>
                  <a:srgbClr val="087E8B"/>
                </a:solidFill>
                <a:latin typeface="Aptos"/>
                <a:ea typeface="Aptos"/>
                <a:cs typeface="Aptos"/>
              </a:defRPr>
            </a:lvl6pPr>
            <a:lvl7pPr algn="l">
              <a:defRPr sz="2025" b="1">
                <a:solidFill>
                  <a:srgbClr val="087E8B"/>
                </a:solidFill>
                <a:latin typeface="Aptos"/>
                <a:ea typeface="Aptos"/>
                <a:cs typeface="Aptos"/>
              </a:defRPr>
            </a:lvl7pPr>
            <a:lvl8pPr algn="l">
              <a:defRPr sz="2025" b="1">
                <a:solidFill>
                  <a:srgbClr val="087E8B"/>
                </a:solidFill>
                <a:latin typeface="Aptos"/>
                <a:ea typeface="Aptos"/>
                <a:cs typeface="Aptos"/>
              </a:defRPr>
            </a:lvl8pPr>
            <a:lvl9pPr algn="l">
              <a:defRPr sz="2025" b="1">
                <a:solidFill>
                  <a:srgbClr val="087E8B"/>
                </a:solidFill>
                <a:latin typeface="Aptos"/>
                <a:ea typeface="Aptos"/>
                <a:cs typeface="Aptos"/>
              </a:defRPr>
            </a:lvl9pPr>
          </a:lstStyle>
          <a:p xmlns:a="http://schemas.openxmlformats.org/drawingml/2006/main">
            <a:pPr algn="l">
              <a:lnSpc>
                <a:spcPct val="108000"/>
              </a:lnSpc>
              <a:buNone/>
              <a:defRPr sz="2025" b="1">
                <a:solidFill>
                  <a:srgbClr val="087E8B"/>
                </a:solidFill>
                <a:latin typeface="Aptos"/>
                <a:ea typeface="Aptos"/>
                <a:cs typeface="Aptos"/>
              </a:defRPr>
            </a:pPr>
            <a:r>
              <a:rPr sz="2025" b="1">
                <a:solidFill>
                  <a:srgbClr val="087E8B"/>
                </a:solidFill>
                <a:latin typeface="Aptos"/>
                <a:ea typeface="Aptos"/>
                <a:cs typeface="Aptos"/>
              </a:rPr>
              <a:t>Core feature classifier</a:t>
            </a:r>
          </a:p>
        </p:txBody>
      </p:sp>
      <p:sp>
        <p:nvSpPr>
          <p:cNvPr id="6" name="editable bullet list">
            <a:extLst xmlns:a="http://schemas.openxmlformats.org/drawingml/2006/main">
              <a:ext uri="{FF2B5EF4-FFF2-40B4-BE49-F238E27FC236}">
                <a16:creationId xmlns:a16="http://schemas.microsoft.com/office/drawing/2014/main" id="{290ADEE9-5E88-454F-B437-EC7DF6121824}"/>
              </a:ext>
            </a:extLst>
          </p:cNvPr>
          <p:cNvSpPr>
            <a:spLocks xmlns:a="http://schemas.openxmlformats.org/drawingml/2006/main" noGrp="1"/>
          </p:cNvSpPr>
          <p:nvPr/>
        </p:nvSpPr>
        <p:spPr>
          <a:xfrm xmlns:a="http://schemas.openxmlformats.org/drawingml/2006/main">
            <a:off x="742950" y="2076450"/>
            <a:ext cx="495300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a:solidFill>
                  <a:srgbClr val="1E3445"/>
                </a:solidFill>
                <a:latin typeface="Aptos"/>
                <a:ea typeface="Aptos"/>
                <a:cs typeface="Aptos"/>
              </a:defRPr>
            </a:defPPr>
            <a:lvl1pPr algn="l">
              <a:defRPr sz="1650">
                <a:solidFill>
                  <a:srgbClr val="1E3445"/>
                </a:solidFill>
                <a:latin typeface="Aptos"/>
                <a:ea typeface="Aptos"/>
                <a:cs typeface="Aptos"/>
              </a:defRPr>
            </a:lvl1pPr>
            <a:lvl2pPr algn="l">
              <a:defRPr sz="1650">
                <a:solidFill>
                  <a:srgbClr val="1E3445"/>
                </a:solidFill>
                <a:latin typeface="Aptos"/>
                <a:ea typeface="Aptos"/>
                <a:cs typeface="Aptos"/>
              </a:defRPr>
            </a:lvl2pPr>
            <a:lvl3pPr algn="l">
              <a:defRPr sz="1650">
                <a:solidFill>
                  <a:srgbClr val="1E3445"/>
                </a:solidFill>
                <a:latin typeface="Aptos"/>
                <a:ea typeface="Aptos"/>
                <a:cs typeface="Aptos"/>
              </a:defRPr>
            </a:lvl3pPr>
            <a:lvl4pPr algn="l">
              <a:defRPr sz="1650">
                <a:solidFill>
                  <a:srgbClr val="1E3445"/>
                </a:solidFill>
                <a:latin typeface="Aptos"/>
                <a:ea typeface="Aptos"/>
                <a:cs typeface="Aptos"/>
              </a:defRPr>
            </a:lvl4pPr>
            <a:lvl5pPr algn="l">
              <a:defRPr sz="1650">
                <a:solidFill>
                  <a:srgbClr val="1E3445"/>
                </a:solidFill>
                <a:latin typeface="Aptos"/>
                <a:ea typeface="Aptos"/>
                <a:cs typeface="Aptos"/>
              </a:defRPr>
            </a:lvl5pPr>
            <a:lvl6pPr algn="l">
              <a:defRPr sz="1650">
                <a:solidFill>
                  <a:srgbClr val="1E3445"/>
                </a:solidFill>
                <a:latin typeface="Aptos"/>
                <a:ea typeface="Aptos"/>
                <a:cs typeface="Aptos"/>
              </a:defRPr>
            </a:lvl6pPr>
            <a:lvl7pPr algn="l">
              <a:defRPr sz="1650">
                <a:solidFill>
                  <a:srgbClr val="1E3445"/>
                </a:solidFill>
                <a:latin typeface="Aptos"/>
                <a:ea typeface="Aptos"/>
                <a:cs typeface="Aptos"/>
              </a:defRPr>
            </a:lvl7pPr>
            <a:lvl8pPr algn="l">
              <a:defRPr sz="1650">
                <a:solidFill>
                  <a:srgbClr val="1E3445"/>
                </a:solidFill>
                <a:latin typeface="Aptos"/>
                <a:ea typeface="Aptos"/>
                <a:cs typeface="Aptos"/>
              </a:defRPr>
            </a:lvl8pPr>
            <a:lvl9pPr algn="l">
              <a:defRPr sz="165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24 numeric flow statistics</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Duration, packet counts and lengths</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Rates, inter-arrival times and TCP flags</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Strict schema and invalid-row checks</a:t>
            </a:r>
          </a:p>
        </p:txBody>
      </p:sp>
      <p:sp>
        <p:nvSpPr>
          <p:cNvPr id="7" name="text">
            <a:extLst xmlns:a="http://schemas.openxmlformats.org/drawingml/2006/main">
              <a:ext uri="{FF2B5EF4-FFF2-40B4-BE49-F238E27FC236}">
                <a16:creationId xmlns:a16="http://schemas.microsoft.com/office/drawing/2014/main" id="{62718D90-1B28-41A2-B391-BCD3D1718798}"/>
              </a:ext>
            </a:extLst>
          </p:cNvPr>
          <p:cNvSpPr>
            <a:spLocks xmlns:a="http://schemas.openxmlformats.org/drawingml/2006/main" noGrp="1"/>
          </p:cNvSpPr>
          <p:nvPr/>
        </p:nvSpPr>
        <p:spPr>
          <a:xfrm xmlns:a="http://schemas.openxmlformats.org/drawingml/2006/main">
            <a:off x="6419850" y="15621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087E8B"/>
                </a:solidFill>
                <a:latin typeface="Aptos"/>
                <a:ea typeface="Aptos"/>
                <a:cs typeface="Aptos"/>
              </a:defRPr>
            </a:defPPr>
            <a:lvl1pPr algn="l">
              <a:defRPr sz="2025" b="1">
                <a:solidFill>
                  <a:srgbClr val="087E8B"/>
                </a:solidFill>
                <a:latin typeface="Aptos"/>
                <a:ea typeface="Aptos"/>
                <a:cs typeface="Aptos"/>
              </a:defRPr>
            </a:lvl1pPr>
            <a:lvl2pPr algn="l">
              <a:defRPr sz="2025" b="1">
                <a:solidFill>
                  <a:srgbClr val="087E8B"/>
                </a:solidFill>
                <a:latin typeface="Aptos"/>
                <a:ea typeface="Aptos"/>
                <a:cs typeface="Aptos"/>
              </a:defRPr>
            </a:lvl2pPr>
            <a:lvl3pPr algn="l">
              <a:defRPr sz="2025" b="1">
                <a:solidFill>
                  <a:srgbClr val="087E8B"/>
                </a:solidFill>
                <a:latin typeface="Aptos"/>
                <a:ea typeface="Aptos"/>
                <a:cs typeface="Aptos"/>
              </a:defRPr>
            </a:lvl3pPr>
            <a:lvl4pPr algn="l">
              <a:defRPr sz="2025" b="1">
                <a:solidFill>
                  <a:srgbClr val="087E8B"/>
                </a:solidFill>
                <a:latin typeface="Aptos"/>
                <a:ea typeface="Aptos"/>
                <a:cs typeface="Aptos"/>
              </a:defRPr>
            </a:lvl4pPr>
            <a:lvl5pPr algn="l">
              <a:defRPr sz="2025" b="1">
                <a:solidFill>
                  <a:srgbClr val="087E8B"/>
                </a:solidFill>
                <a:latin typeface="Aptos"/>
                <a:ea typeface="Aptos"/>
                <a:cs typeface="Aptos"/>
              </a:defRPr>
            </a:lvl5pPr>
            <a:lvl6pPr algn="l">
              <a:defRPr sz="2025" b="1">
                <a:solidFill>
                  <a:srgbClr val="087E8B"/>
                </a:solidFill>
                <a:latin typeface="Aptos"/>
                <a:ea typeface="Aptos"/>
                <a:cs typeface="Aptos"/>
              </a:defRPr>
            </a:lvl6pPr>
            <a:lvl7pPr algn="l">
              <a:defRPr sz="2025" b="1">
                <a:solidFill>
                  <a:srgbClr val="087E8B"/>
                </a:solidFill>
                <a:latin typeface="Aptos"/>
                <a:ea typeface="Aptos"/>
                <a:cs typeface="Aptos"/>
              </a:defRPr>
            </a:lvl7pPr>
            <a:lvl8pPr algn="l">
              <a:defRPr sz="2025" b="1">
                <a:solidFill>
                  <a:srgbClr val="087E8B"/>
                </a:solidFill>
                <a:latin typeface="Aptos"/>
                <a:ea typeface="Aptos"/>
                <a:cs typeface="Aptos"/>
              </a:defRPr>
            </a:lvl8pPr>
            <a:lvl9pPr algn="l">
              <a:defRPr sz="2025" b="1">
                <a:solidFill>
                  <a:srgbClr val="087E8B"/>
                </a:solidFill>
                <a:latin typeface="Aptos"/>
                <a:ea typeface="Aptos"/>
                <a:cs typeface="Aptos"/>
              </a:defRPr>
            </a:lvl9pPr>
          </a:lstStyle>
          <a:p xmlns:a="http://schemas.openxmlformats.org/drawingml/2006/main">
            <a:pPr algn="l">
              <a:lnSpc>
                <a:spcPct val="108000"/>
              </a:lnSpc>
              <a:buNone/>
              <a:defRPr sz="2025" b="1">
                <a:solidFill>
                  <a:srgbClr val="087E8B"/>
                </a:solidFill>
                <a:latin typeface="Aptos"/>
                <a:ea typeface="Aptos"/>
                <a:cs typeface="Aptos"/>
              </a:defRPr>
            </a:pPr>
            <a:r>
              <a:rPr sz="2025" b="1">
                <a:solidFill>
                  <a:srgbClr val="087E8B"/>
                </a:solidFill>
                <a:latin typeface="Aptos"/>
                <a:ea typeface="Aptos"/>
                <a:cs typeface="Aptos"/>
              </a:rPr>
              <a:t>Context experiments</a:t>
            </a:r>
          </a:p>
        </p:txBody>
      </p:sp>
      <p:sp>
        <p:nvSpPr>
          <p:cNvPr id="8" name="editable bullet list">
            <a:extLst xmlns:a="http://schemas.openxmlformats.org/drawingml/2006/main">
              <a:ext uri="{FF2B5EF4-FFF2-40B4-BE49-F238E27FC236}">
                <a16:creationId xmlns:a16="http://schemas.microsoft.com/office/drawing/2014/main" id="{17E26B1D-0B7F-4FE1-BBA5-8D0576AD4367}"/>
              </a:ext>
            </a:extLst>
          </p:cNvPr>
          <p:cNvSpPr>
            <a:spLocks xmlns:a="http://schemas.openxmlformats.org/drawingml/2006/main" noGrp="1"/>
          </p:cNvSpPr>
          <p:nvPr/>
        </p:nvSpPr>
        <p:spPr>
          <a:xfrm xmlns:a="http://schemas.openxmlformats.org/drawingml/2006/main">
            <a:off x="6419850" y="2076450"/>
            <a:ext cx="495300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a:solidFill>
                  <a:srgbClr val="1E3445"/>
                </a:solidFill>
                <a:latin typeface="Aptos"/>
                <a:ea typeface="Aptos"/>
                <a:cs typeface="Aptos"/>
              </a:defRPr>
            </a:defPPr>
            <a:lvl1pPr algn="l">
              <a:defRPr sz="1650">
                <a:solidFill>
                  <a:srgbClr val="1E3445"/>
                </a:solidFill>
                <a:latin typeface="Aptos"/>
                <a:ea typeface="Aptos"/>
                <a:cs typeface="Aptos"/>
              </a:defRPr>
            </a:lvl1pPr>
            <a:lvl2pPr algn="l">
              <a:defRPr sz="1650">
                <a:solidFill>
                  <a:srgbClr val="1E3445"/>
                </a:solidFill>
                <a:latin typeface="Aptos"/>
                <a:ea typeface="Aptos"/>
                <a:cs typeface="Aptos"/>
              </a:defRPr>
            </a:lvl2pPr>
            <a:lvl3pPr algn="l">
              <a:defRPr sz="1650">
                <a:solidFill>
                  <a:srgbClr val="1E3445"/>
                </a:solidFill>
                <a:latin typeface="Aptos"/>
                <a:ea typeface="Aptos"/>
                <a:cs typeface="Aptos"/>
              </a:defRPr>
            </a:lvl3pPr>
            <a:lvl4pPr algn="l">
              <a:defRPr sz="1650">
                <a:solidFill>
                  <a:srgbClr val="1E3445"/>
                </a:solidFill>
                <a:latin typeface="Aptos"/>
                <a:ea typeface="Aptos"/>
                <a:cs typeface="Aptos"/>
              </a:defRPr>
            </a:lvl4pPr>
            <a:lvl5pPr algn="l">
              <a:defRPr sz="1650">
                <a:solidFill>
                  <a:srgbClr val="1E3445"/>
                </a:solidFill>
                <a:latin typeface="Aptos"/>
                <a:ea typeface="Aptos"/>
                <a:cs typeface="Aptos"/>
              </a:defRPr>
            </a:lvl5pPr>
            <a:lvl6pPr algn="l">
              <a:defRPr sz="1650">
                <a:solidFill>
                  <a:srgbClr val="1E3445"/>
                </a:solidFill>
                <a:latin typeface="Aptos"/>
                <a:ea typeface="Aptos"/>
                <a:cs typeface="Aptos"/>
              </a:defRPr>
            </a:lvl6pPr>
            <a:lvl7pPr algn="l">
              <a:defRPr sz="1650">
                <a:solidFill>
                  <a:srgbClr val="1E3445"/>
                </a:solidFill>
                <a:latin typeface="Aptos"/>
                <a:ea typeface="Aptos"/>
                <a:cs typeface="Aptos"/>
              </a:defRPr>
            </a:lvl7pPr>
            <a:lvl8pPr algn="l">
              <a:defRPr sz="1650">
                <a:solidFill>
                  <a:srgbClr val="1E3445"/>
                </a:solidFill>
                <a:latin typeface="Aptos"/>
                <a:ea typeface="Aptos"/>
                <a:cs typeface="Aptos"/>
              </a:defRPr>
            </a:lvl8pPr>
            <a:lvl9pPr algn="l">
              <a:defRPr sz="165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32 numeric context features</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Ports, protocol and endpoint indicators</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Protocol and state may also use category tokens</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Raw IPs group windows and graph edges; state is a FIN/RST proxy</a:t>
            </a:r>
          </a:p>
        </p:txBody>
      </p:sp>
    </p:spTree>
    <p:extLst>
      <p:ext uri="{BB962C8B-B14F-4D97-AF65-F5344CB8AC3E}">
        <p14:creationId xmlns:p14="http://schemas.microsoft.com/office/powerpoint/2010/main" val="1144429822"/>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F9050667-77F5-4D07-8BB8-7A7F8564087B}"/>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2  /  MODELS AND EVALUATION</a:t>
            </a:r>
          </a:p>
        </p:txBody>
      </p:sp>
      <p:sp>
        <p:nvSpPr>
          <p:cNvPr id="2" name="text">
            <a:extLst xmlns:a="http://schemas.openxmlformats.org/drawingml/2006/main">
              <a:ext uri="{FF2B5EF4-FFF2-40B4-BE49-F238E27FC236}">
                <a16:creationId xmlns:a16="http://schemas.microsoft.com/office/drawing/2014/main" id="{11D30707-A9D8-4848-A72D-C8940D16AA9A}"/>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Two Transformer tasks</a:t>
            </a:r>
          </a:p>
        </p:txBody>
      </p:sp>
      <p:sp>
        <p:nvSpPr>
          <p:cNvPr id="3" name="text">
            <a:extLst xmlns:a="http://schemas.openxmlformats.org/drawingml/2006/main">
              <a:ext uri="{FF2B5EF4-FFF2-40B4-BE49-F238E27FC236}">
                <a16:creationId xmlns:a16="http://schemas.microsoft.com/office/drawing/2014/main" id="{1F7F9011-2F4A-42EA-9B88-481D2365E8B3}"/>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D1DEEEDD-55A5-4A96-A6D6-9C2A3AB7299D}"/>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07</a:t>
            </a:r>
          </a:p>
        </p:txBody>
      </p:sp>
      <p:sp>
        <p:nvSpPr>
          <p:cNvPr id="5" name="text">
            <a:extLst xmlns:a="http://schemas.openxmlformats.org/drawingml/2006/main">
              <a:ext uri="{FF2B5EF4-FFF2-40B4-BE49-F238E27FC236}">
                <a16:creationId xmlns:a16="http://schemas.microsoft.com/office/drawing/2014/main" id="{3266B065-B9A9-49BC-B2FD-AC776FBBE847}"/>
              </a:ext>
            </a:extLst>
          </p:cNvPr>
          <p:cNvSpPr>
            <a:spLocks xmlns:a="http://schemas.openxmlformats.org/drawingml/2006/main" noGrp="1"/>
          </p:cNvSpPr>
          <p:nvPr/>
        </p:nvSpPr>
        <p:spPr>
          <a:xfrm xmlns:a="http://schemas.openxmlformats.org/drawingml/2006/main">
            <a:off x="742950" y="15621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087E8B"/>
                </a:solidFill>
                <a:latin typeface="Aptos"/>
                <a:ea typeface="Aptos"/>
                <a:cs typeface="Aptos"/>
              </a:defRPr>
            </a:defPPr>
            <a:lvl1pPr algn="l">
              <a:defRPr sz="2025" b="1">
                <a:solidFill>
                  <a:srgbClr val="087E8B"/>
                </a:solidFill>
                <a:latin typeface="Aptos"/>
                <a:ea typeface="Aptos"/>
                <a:cs typeface="Aptos"/>
              </a:defRPr>
            </a:lvl1pPr>
            <a:lvl2pPr algn="l">
              <a:defRPr sz="2025" b="1">
                <a:solidFill>
                  <a:srgbClr val="087E8B"/>
                </a:solidFill>
                <a:latin typeface="Aptos"/>
                <a:ea typeface="Aptos"/>
                <a:cs typeface="Aptos"/>
              </a:defRPr>
            </a:lvl2pPr>
            <a:lvl3pPr algn="l">
              <a:defRPr sz="2025" b="1">
                <a:solidFill>
                  <a:srgbClr val="087E8B"/>
                </a:solidFill>
                <a:latin typeface="Aptos"/>
                <a:ea typeface="Aptos"/>
                <a:cs typeface="Aptos"/>
              </a:defRPr>
            </a:lvl3pPr>
            <a:lvl4pPr algn="l">
              <a:defRPr sz="2025" b="1">
                <a:solidFill>
                  <a:srgbClr val="087E8B"/>
                </a:solidFill>
                <a:latin typeface="Aptos"/>
                <a:ea typeface="Aptos"/>
                <a:cs typeface="Aptos"/>
              </a:defRPr>
            </a:lvl4pPr>
            <a:lvl5pPr algn="l">
              <a:defRPr sz="2025" b="1">
                <a:solidFill>
                  <a:srgbClr val="087E8B"/>
                </a:solidFill>
                <a:latin typeface="Aptos"/>
                <a:ea typeface="Aptos"/>
                <a:cs typeface="Aptos"/>
              </a:defRPr>
            </a:lvl5pPr>
            <a:lvl6pPr algn="l">
              <a:defRPr sz="2025" b="1">
                <a:solidFill>
                  <a:srgbClr val="087E8B"/>
                </a:solidFill>
                <a:latin typeface="Aptos"/>
                <a:ea typeface="Aptos"/>
                <a:cs typeface="Aptos"/>
              </a:defRPr>
            </a:lvl6pPr>
            <a:lvl7pPr algn="l">
              <a:defRPr sz="2025" b="1">
                <a:solidFill>
                  <a:srgbClr val="087E8B"/>
                </a:solidFill>
                <a:latin typeface="Aptos"/>
                <a:ea typeface="Aptos"/>
                <a:cs typeface="Aptos"/>
              </a:defRPr>
            </a:lvl7pPr>
            <a:lvl8pPr algn="l">
              <a:defRPr sz="2025" b="1">
                <a:solidFill>
                  <a:srgbClr val="087E8B"/>
                </a:solidFill>
                <a:latin typeface="Aptos"/>
                <a:ea typeface="Aptos"/>
                <a:cs typeface="Aptos"/>
              </a:defRPr>
            </a:lvl8pPr>
            <a:lvl9pPr algn="l">
              <a:defRPr sz="2025" b="1">
                <a:solidFill>
                  <a:srgbClr val="087E8B"/>
                </a:solidFill>
                <a:latin typeface="Aptos"/>
                <a:ea typeface="Aptos"/>
                <a:cs typeface="Aptos"/>
              </a:defRPr>
            </a:lvl9pPr>
          </a:lstStyle>
          <a:p xmlns:a="http://schemas.openxmlformats.org/drawingml/2006/main">
            <a:pPr algn="l">
              <a:lnSpc>
                <a:spcPct val="108000"/>
              </a:lnSpc>
              <a:buNone/>
              <a:defRPr sz="2025" b="1">
                <a:solidFill>
                  <a:srgbClr val="087E8B"/>
                </a:solidFill>
                <a:latin typeface="Aptos"/>
                <a:ea typeface="Aptos"/>
                <a:cs typeface="Aptos"/>
              </a:defRPr>
            </a:pPr>
            <a:r>
              <a:rPr sz="2025" b="1">
                <a:solidFill>
                  <a:srgbClr val="087E8B"/>
                </a:solidFill>
                <a:latin typeface="Aptos"/>
                <a:ea typeface="Aptos"/>
                <a:cs typeface="Aptos"/>
              </a:rPr>
              <a:t>Feature Transformer</a:t>
            </a:r>
          </a:p>
        </p:txBody>
      </p:sp>
      <p:sp>
        <p:nvSpPr>
          <p:cNvPr id="6" name="editable bullet list">
            <a:extLst xmlns:a="http://schemas.openxmlformats.org/drawingml/2006/main">
              <a:ext uri="{FF2B5EF4-FFF2-40B4-BE49-F238E27FC236}">
                <a16:creationId xmlns:a16="http://schemas.microsoft.com/office/drawing/2014/main" id="{1B213EE7-1F6A-4ECD-9B42-28D5202FB49E}"/>
              </a:ext>
            </a:extLst>
          </p:cNvPr>
          <p:cNvSpPr>
            <a:spLocks xmlns:a="http://schemas.openxmlformats.org/drawingml/2006/main" noGrp="1"/>
          </p:cNvSpPr>
          <p:nvPr/>
        </p:nvSpPr>
        <p:spPr>
          <a:xfrm xmlns:a="http://schemas.openxmlformats.org/drawingml/2006/main">
            <a:off x="742950" y="2076450"/>
            <a:ext cx="495300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a:solidFill>
                  <a:srgbClr val="1E3445"/>
                </a:solidFill>
                <a:latin typeface="Aptos"/>
                <a:ea typeface="Aptos"/>
                <a:cs typeface="Aptos"/>
              </a:defRPr>
            </a:defPPr>
            <a:lvl1pPr algn="l">
              <a:defRPr sz="1650">
                <a:solidFill>
                  <a:srgbClr val="1E3445"/>
                </a:solidFill>
                <a:latin typeface="Aptos"/>
                <a:ea typeface="Aptos"/>
                <a:cs typeface="Aptos"/>
              </a:defRPr>
            </a:lvl1pPr>
            <a:lvl2pPr algn="l">
              <a:defRPr sz="1650">
                <a:solidFill>
                  <a:srgbClr val="1E3445"/>
                </a:solidFill>
                <a:latin typeface="Aptos"/>
                <a:ea typeface="Aptos"/>
                <a:cs typeface="Aptos"/>
              </a:defRPr>
            </a:lvl2pPr>
            <a:lvl3pPr algn="l">
              <a:defRPr sz="1650">
                <a:solidFill>
                  <a:srgbClr val="1E3445"/>
                </a:solidFill>
                <a:latin typeface="Aptos"/>
                <a:ea typeface="Aptos"/>
                <a:cs typeface="Aptos"/>
              </a:defRPr>
            </a:lvl3pPr>
            <a:lvl4pPr algn="l">
              <a:defRPr sz="1650">
                <a:solidFill>
                  <a:srgbClr val="1E3445"/>
                </a:solidFill>
                <a:latin typeface="Aptos"/>
                <a:ea typeface="Aptos"/>
                <a:cs typeface="Aptos"/>
              </a:defRPr>
            </a:lvl4pPr>
            <a:lvl5pPr algn="l">
              <a:defRPr sz="1650">
                <a:solidFill>
                  <a:srgbClr val="1E3445"/>
                </a:solidFill>
                <a:latin typeface="Aptos"/>
                <a:ea typeface="Aptos"/>
                <a:cs typeface="Aptos"/>
              </a:defRPr>
            </a:lvl5pPr>
            <a:lvl6pPr algn="l">
              <a:defRPr sz="1650">
                <a:solidFill>
                  <a:srgbClr val="1E3445"/>
                </a:solidFill>
                <a:latin typeface="Aptos"/>
                <a:ea typeface="Aptos"/>
                <a:cs typeface="Aptos"/>
              </a:defRPr>
            </a:lvl6pPr>
            <a:lvl7pPr algn="l">
              <a:defRPr sz="1650">
                <a:solidFill>
                  <a:srgbClr val="1E3445"/>
                </a:solidFill>
                <a:latin typeface="Aptos"/>
                <a:ea typeface="Aptos"/>
                <a:cs typeface="Aptos"/>
              </a:defRPr>
            </a:lvl7pPr>
            <a:lvl8pPr algn="l">
              <a:defRPr sz="1650">
                <a:solidFill>
                  <a:srgbClr val="1E3445"/>
                </a:solidFill>
                <a:latin typeface="Aptos"/>
                <a:ea typeface="Aptos"/>
                <a:cs typeface="Aptos"/>
              </a:defRPr>
            </a:lvl8pPr>
            <a:lvl9pPr algn="l">
              <a:defRPr sz="165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One flow becomes feature tokens</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Attention relates features within that flow</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One output class per flow</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Does not model the order of separate flows</a:t>
            </a:r>
          </a:p>
        </p:txBody>
      </p:sp>
      <p:sp>
        <p:nvSpPr>
          <p:cNvPr id="7" name="text">
            <a:extLst xmlns:a="http://schemas.openxmlformats.org/drawingml/2006/main">
              <a:ext uri="{FF2B5EF4-FFF2-40B4-BE49-F238E27FC236}">
                <a16:creationId xmlns:a16="http://schemas.microsoft.com/office/drawing/2014/main" id="{39339AE9-5FA3-4036-8B17-CEA3BE3436A1}"/>
              </a:ext>
            </a:extLst>
          </p:cNvPr>
          <p:cNvSpPr>
            <a:spLocks xmlns:a="http://schemas.openxmlformats.org/drawingml/2006/main" noGrp="1"/>
          </p:cNvSpPr>
          <p:nvPr/>
        </p:nvSpPr>
        <p:spPr>
          <a:xfrm xmlns:a="http://schemas.openxmlformats.org/drawingml/2006/main">
            <a:off x="6419850" y="15621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087E8B"/>
                </a:solidFill>
                <a:latin typeface="Aptos"/>
                <a:ea typeface="Aptos"/>
                <a:cs typeface="Aptos"/>
              </a:defRPr>
            </a:defPPr>
            <a:lvl1pPr algn="l">
              <a:defRPr sz="2025" b="1">
                <a:solidFill>
                  <a:srgbClr val="087E8B"/>
                </a:solidFill>
                <a:latin typeface="Aptos"/>
                <a:ea typeface="Aptos"/>
                <a:cs typeface="Aptos"/>
              </a:defRPr>
            </a:lvl1pPr>
            <a:lvl2pPr algn="l">
              <a:defRPr sz="2025" b="1">
                <a:solidFill>
                  <a:srgbClr val="087E8B"/>
                </a:solidFill>
                <a:latin typeface="Aptos"/>
                <a:ea typeface="Aptos"/>
                <a:cs typeface="Aptos"/>
              </a:defRPr>
            </a:lvl2pPr>
            <a:lvl3pPr algn="l">
              <a:defRPr sz="2025" b="1">
                <a:solidFill>
                  <a:srgbClr val="087E8B"/>
                </a:solidFill>
                <a:latin typeface="Aptos"/>
                <a:ea typeface="Aptos"/>
                <a:cs typeface="Aptos"/>
              </a:defRPr>
            </a:lvl3pPr>
            <a:lvl4pPr algn="l">
              <a:defRPr sz="2025" b="1">
                <a:solidFill>
                  <a:srgbClr val="087E8B"/>
                </a:solidFill>
                <a:latin typeface="Aptos"/>
                <a:ea typeface="Aptos"/>
                <a:cs typeface="Aptos"/>
              </a:defRPr>
            </a:lvl4pPr>
            <a:lvl5pPr algn="l">
              <a:defRPr sz="2025" b="1">
                <a:solidFill>
                  <a:srgbClr val="087E8B"/>
                </a:solidFill>
                <a:latin typeface="Aptos"/>
                <a:ea typeface="Aptos"/>
                <a:cs typeface="Aptos"/>
              </a:defRPr>
            </a:lvl5pPr>
            <a:lvl6pPr algn="l">
              <a:defRPr sz="2025" b="1">
                <a:solidFill>
                  <a:srgbClr val="087E8B"/>
                </a:solidFill>
                <a:latin typeface="Aptos"/>
                <a:ea typeface="Aptos"/>
                <a:cs typeface="Aptos"/>
              </a:defRPr>
            </a:lvl6pPr>
            <a:lvl7pPr algn="l">
              <a:defRPr sz="2025" b="1">
                <a:solidFill>
                  <a:srgbClr val="087E8B"/>
                </a:solidFill>
                <a:latin typeface="Aptos"/>
                <a:ea typeface="Aptos"/>
                <a:cs typeface="Aptos"/>
              </a:defRPr>
            </a:lvl7pPr>
            <a:lvl8pPr algn="l">
              <a:defRPr sz="2025" b="1">
                <a:solidFill>
                  <a:srgbClr val="087E8B"/>
                </a:solidFill>
                <a:latin typeface="Aptos"/>
                <a:ea typeface="Aptos"/>
                <a:cs typeface="Aptos"/>
              </a:defRPr>
            </a:lvl8pPr>
            <a:lvl9pPr algn="l">
              <a:defRPr sz="2025" b="1">
                <a:solidFill>
                  <a:srgbClr val="087E8B"/>
                </a:solidFill>
                <a:latin typeface="Aptos"/>
                <a:ea typeface="Aptos"/>
                <a:cs typeface="Aptos"/>
              </a:defRPr>
            </a:lvl9pPr>
          </a:lstStyle>
          <a:p xmlns:a="http://schemas.openxmlformats.org/drawingml/2006/main">
            <a:pPr algn="l">
              <a:lnSpc>
                <a:spcPct val="108000"/>
              </a:lnSpc>
              <a:buNone/>
              <a:defRPr sz="2025" b="1">
                <a:solidFill>
                  <a:srgbClr val="087E8B"/>
                </a:solidFill>
                <a:latin typeface="Aptos"/>
                <a:ea typeface="Aptos"/>
                <a:cs typeface="Aptos"/>
              </a:defRPr>
            </a:pPr>
            <a:r>
              <a:rPr sz="2025" b="1">
                <a:solidFill>
                  <a:srgbClr val="087E8B"/>
                </a:solidFill>
                <a:latin typeface="Aptos"/>
                <a:ea typeface="Aptos"/>
                <a:cs typeface="Aptos"/>
              </a:rPr>
              <a:t>Temporal Transformer</a:t>
            </a:r>
          </a:p>
        </p:txBody>
      </p:sp>
      <p:sp>
        <p:nvSpPr>
          <p:cNvPr id="8" name="editable bullet list">
            <a:extLst xmlns:a="http://schemas.openxmlformats.org/drawingml/2006/main">
              <a:ext uri="{FF2B5EF4-FFF2-40B4-BE49-F238E27FC236}">
                <a16:creationId xmlns:a16="http://schemas.microsoft.com/office/drawing/2014/main" id="{51B677B5-51B8-4D63-A381-A69F3EDD2F18}"/>
              </a:ext>
            </a:extLst>
          </p:cNvPr>
          <p:cNvSpPr>
            <a:spLocks xmlns:a="http://schemas.openxmlformats.org/drawingml/2006/main" noGrp="1"/>
          </p:cNvSpPr>
          <p:nvPr/>
        </p:nvSpPr>
        <p:spPr>
          <a:xfrm xmlns:a="http://schemas.openxmlformats.org/drawingml/2006/main">
            <a:off x="6419850" y="2076450"/>
            <a:ext cx="495300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a:solidFill>
                  <a:srgbClr val="1E3445"/>
                </a:solidFill>
                <a:latin typeface="Aptos"/>
                <a:ea typeface="Aptos"/>
                <a:cs typeface="Aptos"/>
              </a:defRPr>
            </a:defPPr>
            <a:lvl1pPr algn="l">
              <a:defRPr sz="1650">
                <a:solidFill>
                  <a:srgbClr val="1E3445"/>
                </a:solidFill>
                <a:latin typeface="Aptos"/>
                <a:ea typeface="Aptos"/>
                <a:cs typeface="Aptos"/>
              </a:defRPr>
            </a:lvl1pPr>
            <a:lvl2pPr algn="l">
              <a:defRPr sz="1650">
                <a:solidFill>
                  <a:srgbClr val="1E3445"/>
                </a:solidFill>
                <a:latin typeface="Aptos"/>
                <a:ea typeface="Aptos"/>
                <a:cs typeface="Aptos"/>
              </a:defRPr>
            </a:lvl2pPr>
            <a:lvl3pPr algn="l">
              <a:defRPr sz="1650">
                <a:solidFill>
                  <a:srgbClr val="1E3445"/>
                </a:solidFill>
                <a:latin typeface="Aptos"/>
                <a:ea typeface="Aptos"/>
                <a:cs typeface="Aptos"/>
              </a:defRPr>
            </a:lvl3pPr>
            <a:lvl4pPr algn="l">
              <a:defRPr sz="1650">
                <a:solidFill>
                  <a:srgbClr val="1E3445"/>
                </a:solidFill>
                <a:latin typeface="Aptos"/>
                <a:ea typeface="Aptos"/>
                <a:cs typeface="Aptos"/>
              </a:defRPr>
            </a:lvl4pPr>
            <a:lvl5pPr algn="l">
              <a:defRPr sz="1650">
                <a:solidFill>
                  <a:srgbClr val="1E3445"/>
                </a:solidFill>
                <a:latin typeface="Aptos"/>
                <a:ea typeface="Aptos"/>
                <a:cs typeface="Aptos"/>
              </a:defRPr>
            </a:lvl5pPr>
            <a:lvl6pPr algn="l">
              <a:defRPr sz="1650">
                <a:solidFill>
                  <a:srgbClr val="1E3445"/>
                </a:solidFill>
                <a:latin typeface="Aptos"/>
                <a:ea typeface="Aptos"/>
                <a:cs typeface="Aptos"/>
              </a:defRPr>
            </a:lvl6pPr>
            <a:lvl7pPr algn="l">
              <a:defRPr sz="1650">
                <a:solidFill>
                  <a:srgbClr val="1E3445"/>
                </a:solidFill>
                <a:latin typeface="Aptos"/>
                <a:ea typeface="Aptos"/>
                <a:cs typeface="Aptos"/>
              </a:defRPr>
            </a:lvl7pPr>
            <a:lvl8pPr algn="l">
              <a:defRPr sz="1650">
                <a:solidFill>
                  <a:srgbClr val="1E3445"/>
                </a:solidFill>
                <a:latin typeface="Aptos"/>
                <a:ea typeface="Aptos"/>
                <a:cs typeface="Aptos"/>
              </a:defRPr>
            </a:lvl8pPr>
            <a:lvl9pPr algn="l">
              <a:defRPr sz="165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Eight flows form an ordered window</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Causal mask blocks future-flow influence</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The last flow is the prediction target</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Windows are non-overlapping and split-contained</a:t>
            </a:r>
          </a:p>
        </p:txBody>
      </p:sp>
    </p:spTree>
    <p:extLst>
      <p:ext uri="{BB962C8B-B14F-4D97-AF65-F5344CB8AC3E}">
        <p14:creationId xmlns:p14="http://schemas.microsoft.com/office/powerpoint/2010/main" val="1445854880"/>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52989462-E2EF-481A-B9D5-1B212828D91D}"/>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2  /  MODELS AND EVALUATION</a:t>
            </a:r>
          </a:p>
        </p:txBody>
      </p:sp>
      <p:sp>
        <p:nvSpPr>
          <p:cNvPr id="2" name="text">
            <a:extLst xmlns:a="http://schemas.openxmlformats.org/drawingml/2006/main">
              <a:ext uri="{FF2B5EF4-FFF2-40B4-BE49-F238E27FC236}">
                <a16:creationId xmlns:a16="http://schemas.microsoft.com/office/drawing/2014/main" id="{59A77285-4D27-419F-91F0-5A9DB22195C2}"/>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Feature Transformer architecture</a:t>
            </a:r>
          </a:p>
        </p:txBody>
      </p:sp>
      <p:sp>
        <p:nvSpPr>
          <p:cNvPr id="3" name="text">
            <a:extLst xmlns:a="http://schemas.openxmlformats.org/drawingml/2006/main">
              <a:ext uri="{FF2B5EF4-FFF2-40B4-BE49-F238E27FC236}">
                <a16:creationId xmlns:a16="http://schemas.microsoft.com/office/drawing/2014/main" id="{93DA12DC-7965-4998-8020-B872167654D3}"/>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A0570A6A-9276-4090-AC16-E08520D6D836}"/>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08</a:t>
            </a:r>
          </a:p>
        </p:txBody>
      </p:sp>
      <p:sp>
        <p:nvSpPr>
          <p:cNvPr id="5" name="text">
            <a:extLst xmlns:a="http://schemas.openxmlformats.org/drawingml/2006/main">
              <a:ext uri="{FF2B5EF4-FFF2-40B4-BE49-F238E27FC236}">
                <a16:creationId xmlns:a16="http://schemas.microsoft.com/office/drawing/2014/main" id="{592175FC-6085-4346-A3DA-0E514E8C62CF}"/>
              </a:ext>
            </a:extLst>
          </p:cNvPr>
          <p:cNvSpPr>
            <a:spLocks xmlns:a="http://schemas.openxmlformats.org/drawingml/2006/main" noGrp="1"/>
          </p:cNvSpPr>
          <p:nvPr/>
        </p:nvSpPr>
        <p:spPr>
          <a:xfrm xmlns:a="http://schemas.openxmlformats.org/drawingml/2006/main">
            <a:off x="742950" y="1647825"/>
            <a:ext cx="10668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250" b="1">
                <a:solidFill>
                  <a:srgbClr val="102A43"/>
                </a:solidFill>
                <a:latin typeface="Aptos"/>
                <a:ea typeface="Aptos"/>
                <a:cs typeface="Aptos"/>
              </a:defRPr>
            </a:defPPr>
            <a:lvl1pPr algn="ctr">
              <a:defRPr sz="2250" b="1">
                <a:solidFill>
                  <a:srgbClr val="102A43"/>
                </a:solidFill>
                <a:latin typeface="Aptos"/>
                <a:ea typeface="Aptos"/>
                <a:cs typeface="Aptos"/>
              </a:defRPr>
            </a:lvl1pPr>
            <a:lvl2pPr algn="ctr">
              <a:defRPr sz="2250" b="1">
                <a:solidFill>
                  <a:srgbClr val="102A43"/>
                </a:solidFill>
                <a:latin typeface="Aptos"/>
                <a:ea typeface="Aptos"/>
                <a:cs typeface="Aptos"/>
              </a:defRPr>
            </a:lvl2pPr>
            <a:lvl3pPr algn="ctr">
              <a:defRPr sz="2250" b="1">
                <a:solidFill>
                  <a:srgbClr val="102A43"/>
                </a:solidFill>
                <a:latin typeface="Aptos"/>
                <a:ea typeface="Aptos"/>
                <a:cs typeface="Aptos"/>
              </a:defRPr>
            </a:lvl3pPr>
            <a:lvl4pPr algn="ctr">
              <a:defRPr sz="2250" b="1">
                <a:solidFill>
                  <a:srgbClr val="102A43"/>
                </a:solidFill>
                <a:latin typeface="Aptos"/>
                <a:ea typeface="Aptos"/>
                <a:cs typeface="Aptos"/>
              </a:defRPr>
            </a:lvl4pPr>
            <a:lvl5pPr algn="ctr">
              <a:defRPr sz="2250" b="1">
                <a:solidFill>
                  <a:srgbClr val="102A43"/>
                </a:solidFill>
                <a:latin typeface="Aptos"/>
                <a:ea typeface="Aptos"/>
                <a:cs typeface="Aptos"/>
              </a:defRPr>
            </a:lvl5pPr>
            <a:lvl6pPr algn="ctr">
              <a:defRPr sz="2250" b="1">
                <a:solidFill>
                  <a:srgbClr val="102A43"/>
                </a:solidFill>
                <a:latin typeface="Aptos"/>
                <a:ea typeface="Aptos"/>
                <a:cs typeface="Aptos"/>
              </a:defRPr>
            </a:lvl6pPr>
            <a:lvl7pPr algn="ctr">
              <a:defRPr sz="2250" b="1">
                <a:solidFill>
                  <a:srgbClr val="102A43"/>
                </a:solidFill>
                <a:latin typeface="Aptos"/>
                <a:ea typeface="Aptos"/>
                <a:cs typeface="Aptos"/>
              </a:defRPr>
            </a:lvl7pPr>
            <a:lvl8pPr algn="ctr">
              <a:defRPr sz="2250" b="1">
                <a:solidFill>
                  <a:srgbClr val="102A43"/>
                </a:solidFill>
                <a:latin typeface="Aptos"/>
                <a:ea typeface="Aptos"/>
                <a:cs typeface="Aptos"/>
              </a:defRPr>
            </a:lvl8pPr>
            <a:lvl9pPr algn="ctr">
              <a:defRPr sz="2250" b="1">
                <a:solidFill>
                  <a:srgbClr val="102A43"/>
                </a:solidFill>
                <a:latin typeface="Aptos"/>
                <a:ea typeface="Aptos"/>
                <a:cs typeface="Aptos"/>
              </a:defRPr>
            </a:lvl9pPr>
          </a:lstStyle>
          <a:p xmlns:a="http://schemas.openxmlformats.org/drawingml/2006/main">
            <a:pPr algn="ctr">
              <a:lnSpc>
                <a:spcPct val="110000"/>
              </a:lnSpc>
              <a:buNone/>
              <a:defRPr sz="2250" b="1">
                <a:solidFill>
                  <a:srgbClr val="102A43"/>
                </a:solidFill>
                <a:latin typeface="Aptos"/>
                <a:ea typeface="Aptos"/>
                <a:cs typeface="Aptos"/>
              </a:defRPr>
            </a:pPr>
            <a:r>
              <a:rPr sz="2250" b="1">
                <a:solidFill>
                  <a:srgbClr val="102A43"/>
                </a:solidFill>
                <a:latin typeface="Aptos"/>
                <a:ea typeface="Aptos"/>
                <a:cs typeface="Aptos"/>
              </a:rPr>
              <a:t>24 flow values -&gt; training-fitted preprocessing -&gt; value + feature-identity tokens -&gt; CLS token -&gt; 2 encoder layers / 4 heads / dimension 32 -&gt; 7 class logits</a:t>
            </a:r>
          </a:p>
        </p:txBody>
      </p:sp>
      <p:sp>
        <p:nvSpPr>
          <p:cNvPr id="6" name="editable bullet list">
            <a:extLst xmlns:a="http://schemas.openxmlformats.org/drawingml/2006/main">
              <a:ext uri="{FF2B5EF4-FFF2-40B4-BE49-F238E27FC236}">
                <a16:creationId xmlns:a16="http://schemas.microsoft.com/office/drawing/2014/main" id="{D4180447-51ED-4BED-BC1F-6606EC53FD4C}"/>
              </a:ext>
            </a:extLst>
          </p:cNvPr>
          <p:cNvSpPr>
            <a:spLocks xmlns:a="http://schemas.openxmlformats.org/drawingml/2006/main" noGrp="1"/>
          </p:cNvSpPr>
          <p:nvPr/>
        </p:nvSpPr>
        <p:spPr>
          <a:xfrm xmlns:a="http://schemas.openxmlformats.org/drawingml/2006/main">
            <a:off x="1085850" y="3409950"/>
            <a:ext cx="10001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a:solidFill>
                  <a:srgbClr val="1E3445"/>
                </a:solidFill>
                <a:latin typeface="Aptos"/>
                <a:ea typeface="Aptos"/>
                <a:cs typeface="Aptos"/>
              </a:defRPr>
            </a:defPPr>
            <a:lvl1pPr algn="l">
              <a:defRPr sz="1800">
                <a:solidFill>
                  <a:srgbClr val="1E3445"/>
                </a:solidFill>
                <a:latin typeface="Aptos"/>
                <a:ea typeface="Aptos"/>
                <a:cs typeface="Aptos"/>
              </a:defRPr>
            </a:lvl1pPr>
            <a:lvl2pPr algn="l">
              <a:defRPr sz="1800">
                <a:solidFill>
                  <a:srgbClr val="1E3445"/>
                </a:solidFill>
                <a:latin typeface="Aptos"/>
                <a:ea typeface="Aptos"/>
                <a:cs typeface="Aptos"/>
              </a:defRPr>
            </a:lvl2pPr>
            <a:lvl3pPr algn="l">
              <a:defRPr sz="1800">
                <a:solidFill>
                  <a:srgbClr val="1E3445"/>
                </a:solidFill>
                <a:latin typeface="Aptos"/>
                <a:ea typeface="Aptos"/>
                <a:cs typeface="Aptos"/>
              </a:defRPr>
            </a:lvl3pPr>
            <a:lvl4pPr algn="l">
              <a:defRPr sz="1800">
                <a:solidFill>
                  <a:srgbClr val="1E3445"/>
                </a:solidFill>
                <a:latin typeface="Aptos"/>
                <a:ea typeface="Aptos"/>
                <a:cs typeface="Aptos"/>
              </a:defRPr>
            </a:lvl4pPr>
            <a:lvl5pPr algn="l">
              <a:defRPr sz="1800">
                <a:solidFill>
                  <a:srgbClr val="1E3445"/>
                </a:solidFill>
                <a:latin typeface="Aptos"/>
                <a:ea typeface="Aptos"/>
                <a:cs typeface="Aptos"/>
              </a:defRPr>
            </a:lvl5pPr>
            <a:lvl6pPr algn="l">
              <a:defRPr sz="1800">
                <a:solidFill>
                  <a:srgbClr val="1E3445"/>
                </a:solidFill>
                <a:latin typeface="Aptos"/>
                <a:ea typeface="Aptos"/>
                <a:cs typeface="Aptos"/>
              </a:defRPr>
            </a:lvl6pPr>
            <a:lvl7pPr algn="l">
              <a:defRPr sz="1800">
                <a:solidFill>
                  <a:srgbClr val="1E3445"/>
                </a:solidFill>
                <a:latin typeface="Aptos"/>
                <a:ea typeface="Aptos"/>
                <a:cs typeface="Aptos"/>
              </a:defRPr>
            </a:lvl7pPr>
            <a:lvl8pPr algn="l">
              <a:defRPr sz="1800">
                <a:solidFill>
                  <a:srgbClr val="1E3445"/>
                </a:solidFill>
                <a:latin typeface="Aptos"/>
                <a:ea typeface="Aptos"/>
                <a:cs typeface="Aptos"/>
              </a:defRPr>
            </a:lvl8pPr>
            <a:lvl9pPr algn="l">
              <a:defRPr sz="180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800">
                <a:solidFill>
                  <a:srgbClr val="1E3445"/>
                </a:solidFill>
                <a:latin typeface="Aptos"/>
                <a:ea typeface="Aptos"/>
                <a:cs typeface="Aptos"/>
              </a:defRPr>
            </a:pPr>
            <a:r>
              <a:rPr sz="1800">
                <a:solidFill>
                  <a:srgbClr val="1E3445"/>
                </a:solidFill>
                <a:latin typeface="Aptos"/>
                <a:ea typeface="Aptos"/>
                <a:cs typeface="Aptos"/>
              </a:rPr>
              <a:t>The value embedding represents each numeric measurement.</a:t>
            </a:r>
          </a:p>
          <a:p xmlns:a="http://schemas.openxmlformats.org/drawingml/2006/main">
            <a:pPr marL="279400" indent="-139700" algn="l">
              <a:lnSpc>
                <a:spcPct val="115000"/>
              </a:lnSpc>
              <a:spcAft>
                <a:spcPts val="1200"/>
              </a:spcAft>
              <a:buNone/>
              <a:defRPr sz="1800">
                <a:solidFill>
                  <a:srgbClr val="1E3445"/>
                </a:solidFill>
                <a:latin typeface="Aptos"/>
                <a:ea typeface="Aptos"/>
                <a:cs typeface="Aptos"/>
              </a:defRPr>
            </a:pPr>
            <a:r>
              <a:rPr sz="1800">
                <a:solidFill>
                  <a:srgbClr val="1E3445"/>
                </a:solidFill>
                <a:latin typeface="Aptos"/>
                <a:ea typeface="Aptos"/>
                <a:cs typeface="Aptos"/>
              </a:rPr>
              <a:t>A learned identity embedding tells the encoder which feature each token represents.</a:t>
            </a:r>
          </a:p>
          <a:p xmlns:a="http://schemas.openxmlformats.org/drawingml/2006/main">
            <a:pPr marL="279400" indent="-139700" algn="l">
              <a:lnSpc>
                <a:spcPct val="115000"/>
              </a:lnSpc>
              <a:spcAft>
                <a:spcPts val="1200"/>
              </a:spcAft>
              <a:buNone/>
              <a:defRPr sz="1800">
                <a:solidFill>
                  <a:srgbClr val="1E3445"/>
                </a:solidFill>
                <a:latin typeface="Aptos"/>
                <a:ea typeface="Aptos"/>
                <a:cs typeface="Aptos"/>
              </a:defRPr>
            </a:pPr>
            <a:r>
              <a:rPr sz="1800">
                <a:solidFill>
                  <a:srgbClr val="1E3445"/>
                </a:solidFill>
                <a:latin typeface="Aptos"/>
                <a:ea typeface="Aptos"/>
                <a:cs typeface="Aptos"/>
              </a:rPr>
              <a:t>The CLS representation feeds the seven-class prediction head.</a:t>
            </a:r>
          </a:p>
        </p:txBody>
      </p:sp>
    </p:spTree>
    <p:extLst>
      <p:ext uri="{BB962C8B-B14F-4D97-AF65-F5344CB8AC3E}">
        <p14:creationId xmlns:p14="http://schemas.microsoft.com/office/powerpoint/2010/main" val="420281621"/>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4030AFB9-1F6E-4228-9D9A-057E5C710BDD}"/>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2  /  MODELS AND EVALUATION</a:t>
            </a:r>
          </a:p>
        </p:txBody>
      </p:sp>
      <p:sp>
        <p:nvSpPr>
          <p:cNvPr id="2" name="text">
            <a:extLst xmlns:a="http://schemas.openxmlformats.org/drawingml/2006/main">
              <a:ext uri="{FF2B5EF4-FFF2-40B4-BE49-F238E27FC236}">
                <a16:creationId xmlns:a16="http://schemas.microsoft.com/office/drawing/2014/main" id="{BB700BCD-B8FE-4FF9-959E-948D2F1497E5}"/>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Comparison and training protocol</a:t>
            </a:r>
          </a:p>
        </p:txBody>
      </p:sp>
      <p:sp>
        <p:nvSpPr>
          <p:cNvPr id="3" name="text">
            <a:extLst xmlns:a="http://schemas.openxmlformats.org/drawingml/2006/main">
              <a:ext uri="{FF2B5EF4-FFF2-40B4-BE49-F238E27FC236}">
                <a16:creationId xmlns:a16="http://schemas.microsoft.com/office/drawing/2014/main" id="{E9BBF035-A26C-49F6-BE70-4D11B7167F64}"/>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867B909B-CA04-4B7A-9D9D-02862EE15F62}"/>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09</a:t>
            </a:r>
          </a:p>
        </p:txBody>
      </p:sp>
      <p:sp>
        <p:nvSpPr>
          <p:cNvPr id="5" name="text">
            <a:extLst xmlns:a="http://schemas.openxmlformats.org/drawingml/2006/main">
              <a:ext uri="{FF2B5EF4-FFF2-40B4-BE49-F238E27FC236}">
                <a16:creationId xmlns:a16="http://schemas.microsoft.com/office/drawing/2014/main" id="{BB0A782C-5720-4C55-BCB3-ACA507B77FDA}"/>
              </a:ext>
            </a:extLst>
          </p:cNvPr>
          <p:cNvSpPr>
            <a:spLocks xmlns:a="http://schemas.openxmlformats.org/drawingml/2006/main" noGrp="1"/>
          </p:cNvSpPr>
          <p:nvPr/>
        </p:nvSpPr>
        <p:spPr>
          <a:xfrm xmlns:a="http://schemas.openxmlformats.org/drawingml/2006/main">
            <a:off x="742950" y="15621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087E8B"/>
                </a:solidFill>
                <a:latin typeface="Aptos"/>
                <a:ea typeface="Aptos"/>
                <a:cs typeface="Aptos"/>
              </a:defRPr>
            </a:defPPr>
            <a:lvl1pPr algn="l">
              <a:defRPr sz="2025" b="1">
                <a:solidFill>
                  <a:srgbClr val="087E8B"/>
                </a:solidFill>
                <a:latin typeface="Aptos"/>
                <a:ea typeface="Aptos"/>
                <a:cs typeface="Aptos"/>
              </a:defRPr>
            </a:lvl1pPr>
            <a:lvl2pPr algn="l">
              <a:defRPr sz="2025" b="1">
                <a:solidFill>
                  <a:srgbClr val="087E8B"/>
                </a:solidFill>
                <a:latin typeface="Aptos"/>
                <a:ea typeface="Aptos"/>
                <a:cs typeface="Aptos"/>
              </a:defRPr>
            </a:lvl2pPr>
            <a:lvl3pPr algn="l">
              <a:defRPr sz="2025" b="1">
                <a:solidFill>
                  <a:srgbClr val="087E8B"/>
                </a:solidFill>
                <a:latin typeface="Aptos"/>
                <a:ea typeface="Aptos"/>
                <a:cs typeface="Aptos"/>
              </a:defRPr>
            </a:lvl3pPr>
            <a:lvl4pPr algn="l">
              <a:defRPr sz="2025" b="1">
                <a:solidFill>
                  <a:srgbClr val="087E8B"/>
                </a:solidFill>
                <a:latin typeface="Aptos"/>
                <a:ea typeface="Aptos"/>
                <a:cs typeface="Aptos"/>
              </a:defRPr>
            </a:lvl4pPr>
            <a:lvl5pPr algn="l">
              <a:defRPr sz="2025" b="1">
                <a:solidFill>
                  <a:srgbClr val="087E8B"/>
                </a:solidFill>
                <a:latin typeface="Aptos"/>
                <a:ea typeface="Aptos"/>
                <a:cs typeface="Aptos"/>
              </a:defRPr>
            </a:lvl5pPr>
            <a:lvl6pPr algn="l">
              <a:defRPr sz="2025" b="1">
                <a:solidFill>
                  <a:srgbClr val="087E8B"/>
                </a:solidFill>
                <a:latin typeface="Aptos"/>
                <a:ea typeface="Aptos"/>
                <a:cs typeface="Aptos"/>
              </a:defRPr>
            </a:lvl6pPr>
            <a:lvl7pPr algn="l">
              <a:defRPr sz="2025" b="1">
                <a:solidFill>
                  <a:srgbClr val="087E8B"/>
                </a:solidFill>
                <a:latin typeface="Aptos"/>
                <a:ea typeface="Aptos"/>
                <a:cs typeface="Aptos"/>
              </a:defRPr>
            </a:lvl7pPr>
            <a:lvl8pPr algn="l">
              <a:defRPr sz="2025" b="1">
                <a:solidFill>
                  <a:srgbClr val="087E8B"/>
                </a:solidFill>
                <a:latin typeface="Aptos"/>
                <a:ea typeface="Aptos"/>
                <a:cs typeface="Aptos"/>
              </a:defRPr>
            </a:lvl8pPr>
            <a:lvl9pPr algn="l">
              <a:defRPr sz="2025" b="1">
                <a:solidFill>
                  <a:srgbClr val="087E8B"/>
                </a:solidFill>
                <a:latin typeface="Aptos"/>
                <a:ea typeface="Aptos"/>
                <a:cs typeface="Aptos"/>
              </a:defRPr>
            </a:lvl9pPr>
          </a:lstStyle>
          <a:p xmlns:a="http://schemas.openxmlformats.org/drawingml/2006/main">
            <a:pPr algn="l">
              <a:lnSpc>
                <a:spcPct val="108000"/>
              </a:lnSpc>
              <a:buNone/>
              <a:defRPr sz="2025" b="1">
                <a:solidFill>
                  <a:srgbClr val="087E8B"/>
                </a:solidFill>
                <a:latin typeface="Aptos"/>
                <a:ea typeface="Aptos"/>
                <a:cs typeface="Aptos"/>
              </a:defRPr>
            </a:pPr>
            <a:r>
              <a:rPr sz="2025" b="1">
                <a:solidFill>
                  <a:srgbClr val="087E8B"/>
                </a:solidFill>
                <a:latin typeface="Aptos"/>
                <a:ea typeface="Aptos"/>
                <a:cs typeface="Aptos"/>
              </a:rPr>
              <a:t>Models compared</a:t>
            </a:r>
          </a:p>
        </p:txBody>
      </p:sp>
      <p:sp>
        <p:nvSpPr>
          <p:cNvPr id="6" name="editable bullet list">
            <a:extLst xmlns:a="http://schemas.openxmlformats.org/drawingml/2006/main">
              <a:ext uri="{FF2B5EF4-FFF2-40B4-BE49-F238E27FC236}">
                <a16:creationId xmlns:a16="http://schemas.microsoft.com/office/drawing/2014/main" id="{D2CA796D-59E0-4CAA-A0BD-8D64E12EC19A}"/>
              </a:ext>
            </a:extLst>
          </p:cNvPr>
          <p:cNvSpPr>
            <a:spLocks xmlns:a="http://schemas.openxmlformats.org/drawingml/2006/main" noGrp="1"/>
          </p:cNvSpPr>
          <p:nvPr/>
        </p:nvSpPr>
        <p:spPr>
          <a:xfrm xmlns:a="http://schemas.openxmlformats.org/drawingml/2006/main">
            <a:off x="742950" y="2076450"/>
            <a:ext cx="495300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a:solidFill>
                  <a:srgbClr val="1E3445"/>
                </a:solidFill>
                <a:latin typeface="Aptos"/>
                <a:ea typeface="Aptos"/>
                <a:cs typeface="Aptos"/>
              </a:defRPr>
            </a:defPPr>
            <a:lvl1pPr algn="l">
              <a:defRPr sz="1650">
                <a:solidFill>
                  <a:srgbClr val="1E3445"/>
                </a:solidFill>
                <a:latin typeface="Aptos"/>
                <a:ea typeface="Aptos"/>
                <a:cs typeface="Aptos"/>
              </a:defRPr>
            </a:lvl1pPr>
            <a:lvl2pPr algn="l">
              <a:defRPr sz="1650">
                <a:solidFill>
                  <a:srgbClr val="1E3445"/>
                </a:solidFill>
                <a:latin typeface="Aptos"/>
                <a:ea typeface="Aptos"/>
                <a:cs typeface="Aptos"/>
              </a:defRPr>
            </a:lvl2pPr>
            <a:lvl3pPr algn="l">
              <a:defRPr sz="1650">
                <a:solidFill>
                  <a:srgbClr val="1E3445"/>
                </a:solidFill>
                <a:latin typeface="Aptos"/>
                <a:ea typeface="Aptos"/>
                <a:cs typeface="Aptos"/>
              </a:defRPr>
            </a:lvl3pPr>
            <a:lvl4pPr algn="l">
              <a:defRPr sz="1650">
                <a:solidFill>
                  <a:srgbClr val="1E3445"/>
                </a:solidFill>
                <a:latin typeface="Aptos"/>
                <a:ea typeface="Aptos"/>
                <a:cs typeface="Aptos"/>
              </a:defRPr>
            </a:lvl4pPr>
            <a:lvl5pPr algn="l">
              <a:defRPr sz="1650">
                <a:solidFill>
                  <a:srgbClr val="1E3445"/>
                </a:solidFill>
                <a:latin typeface="Aptos"/>
                <a:ea typeface="Aptos"/>
                <a:cs typeface="Aptos"/>
              </a:defRPr>
            </a:lvl5pPr>
            <a:lvl6pPr algn="l">
              <a:defRPr sz="1650">
                <a:solidFill>
                  <a:srgbClr val="1E3445"/>
                </a:solidFill>
                <a:latin typeface="Aptos"/>
                <a:ea typeface="Aptos"/>
                <a:cs typeface="Aptos"/>
              </a:defRPr>
            </a:lvl6pPr>
            <a:lvl7pPr algn="l">
              <a:defRPr sz="1650">
                <a:solidFill>
                  <a:srgbClr val="1E3445"/>
                </a:solidFill>
                <a:latin typeface="Aptos"/>
                <a:ea typeface="Aptos"/>
                <a:cs typeface="Aptos"/>
              </a:defRPr>
            </a:lvl7pPr>
            <a:lvl8pPr algn="l">
              <a:defRPr sz="1650">
                <a:solidFill>
                  <a:srgbClr val="1E3445"/>
                </a:solidFill>
                <a:latin typeface="Aptos"/>
                <a:ea typeface="Aptos"/>
                <a:cs typeface="Aptos"/>
              </a:defRPr>
            </a:lvl8pPr>
            <a:lvl9pPr algn="l">
              <a:defRPr sz="165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Logistic Regression and Random Forest</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MLP and CNN</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LSTM and GRU</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Feature-token Transformer</a:t>
            </a:r>
          </a:p>
        </p:txBody>
      </p:sp>
      <p:sp>
        <p:nvSpPr>
          <p:cNvPr id="7" name="text">
            <a:extLst xmlns:a="http://schemas.openxmlformats.org/drawingml/2006/main">
              <a:ext uri="{FF2B5EF4-FFF2-40B4-BE49-F238E27FC236}">
                <a16:creationId xmlns:a16="http://schemas.microsoft.com/office/drawing/2014/main" id="{0A6DA8E2-06F0-4725-8C47-8BC89A1B1E2C}"/>
              </a:ext>
            </a:extLst>
          </p:cNvPr>
          <p:cNvSpPr>
            <a:spLocks xmlns:a="http://schemas.openxmlformats.org/drawingml/2006/main" noGrp="1"/>
          </p:cNvSpPr>
          <p:nvPr/>
        </p:nvSpPr>
        <p:spPr>
          <a:xfrm xmlns:a="http://schemas.openxmlformats.org/drawingml/2006/main">
            <a:off x="6419850" y="15621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087E8B"/>
                </a:solidFill>
                <a:latin typeface="Aptos"/>
                <a:ea typeface="Aptos"/>
                <a:cs typeface="Aptos"/>
              </a:defRPr>
            </a:defPPr>
            <a:lvl1pPr algn="l">
              <a:defRPr sz="2025" b="1">
                <a:solidFill>
                  <a:srgbClr val="087E8B"/>
                </a:solidFill>
                <a:latin typeface="Aptos"/>
                <a:ea typeface="Aptos"/>
                <a:cs typeface="Aptos"/>
              </a:defRPr>
            </a:lvl1pPr>
            <a:lvl2pPr algn="l">
              <a:defRPr sz="2025" b="1">
                <a:solidFill>
                  <a:srgbClr val="087E8B"/>
                </a:solidFill>
                <a:latin typeface="Aptos"/>
                <a:ea typeface="Aptos"/>
                <a:cs typeface="Aptos"/>
              </a:defRPr>
            </a:lvl2pPr>
            <a:lvl3pPr algn="l">
              <a:defRPr sz="2025" b="1">
                <a:solidFill>
                  <a:srgbClr val="087E8B"/>
                </a:solidFill>
                <a:latin typeface="Aptos"/>
                <a:ea typeface="Aptos"/>
                <a:cs typeface="Aptos"/>
              </a:defRPr>
            </a:lvl3pPr>
            <a:lvl4pPr algn="l">
              <a:defRPr sz="2025" b="1">
                <a:solidFill>
                  <a:srgbClr val="087E8B"/>
                </a:solidFill>
                <a:latin typeface="Aptos"/>
                <a:ea typeface="Aptos"/>
                <a:cs typeface="Aptos"/>
              </a:defRPr>
            </a:lvl4pPr>
            <a:lvl5pPr algn="l">
              <a:defRPr sz="2025" b="1">
                <a:solidFill>
                  <a:srgbClr val="087E8B"/>
                </a:solidFill>
                <a:latin typeface="Aptos"/>
                <a:ea typeface="Aptos"/>
                <a:cs typeface="Aptos"/>
              </a:defRPr>
            </a:lvl5pPr>
            <a:lvl6pPr algn="l">
              <a:defRPr sz="2025" b="1">
                <a:solidFill>
                  <a:srgbClr val="087E8B"/>
                </a:solidFill>
                <a:latin typeface="Aptos"/>
                <a:ea typeface="Aptos"/>
                <a:cs typeface="Aptos"/>
              </a:defRPr>
            </a:lvl6pPr>
            <a:lvl7pPr algn="l">
              <a:defRPr sz="2025" b="1">
                <a:solidFill>
                  <a:srgbClr val="087E8B"/>
                </a:solidFill>
                <a:latin typeface="Aptos"/>
                <a:ea typeface="Aptos"/>
                <a:cs typeface="Aptos"/>
              </a:defRPr>
            </a:lvl7pPr>
            <a:lvl8pPr algn="l">
              <a:defRPr sz="2025" b="1">
                <a:solidFill>
                  <a:srgbClr val="087E8B"/>
                </a:solidFill>
                <a:latin typeface="Aptos"/>
                <a:ea typeface="Aptos"/>
                <a:cs typeface="Aptos"/>
              </a:defRPr>
            </a:lvl8pPr>
            <a:lvl9pPr algn="l">
              <a:defRPr sz="2025" b="1">
                <a:solidFill>
                  <a:srgbClr val="087E8B"/>
                </a:solidFill>
                <a:latin typeface="Aptos"/>
                <a:ea typeface="Aptos"/>
                <a:cs typeface="Aptos"/>
              </a:defRPr>
            </a:lvl9pPr>
          </a:lstStyle>
          <a:p xmlns:a="http://schemas.openxmlformats.org/drawingml/2006/main">
            <a:pPr algn="l">
              <a:lnSpc>
                <a:spcPct val="108000"/>
              </a:lnSpc>
              <a:buNone/>
              <a:defRPr sz="2025" b="1">
                <a:solidFill>
                  <a:srgbClr val="087E8B"/>
                </a:solidFill>
                <a:latin typeface="Aptos"/>
                <a:ea typeface="Aptos"/>
                <a:cs typeface="Aptos"/>
              </a:defRPr>
            </a:pPr>
            <a:r>
              <a:rPr sz="2025" b="1">
                <a:solidFill>
                  <a:srgbClr val="087E8B"/>
                </a:solidFill>
                <a:latin typeface="Aptos"/>
                <a:ea typeface="Aptos"/>
                <a:cs typeface="Aptos"/>
              </a:rPr>
              <a:t>Training controls</a:t>
            </a:r>
          </a:p>
        </p:txBody>
      </p:sp>
      <p:sp>
        <p:nvSpPr>
          <p:cNvPr id="8" name="editable bullet list">
            <a:extLst xmlns:a="http://schemas.openxmlformats.org/drawingml/2006/main">
              <a:ext uri="{FF2B5EF4-FFF2-40B4-BE49-F238E27FC236}">
                <a16:creationId xmlns:a16="http://schemas.microsoft.com/office/drawing/2014/main" id="{A069CB40-939B-4541-9210-E9E32951451F}"/>
              </a:ext>
            </a:extLst>
          </p:cNvPr>
          <p:cNvSpPr>
            <a:spLocks xmlns:a="http://schemas.openxmlformats.org/drawingml/2006/main" noGrp="1"/>
          </p:cNvSpPr>
          <p:nvPr/>
        </p:nvSpPr>
        <p:spPr>
          <a:xfrm xmlns:a="http://schemas.openxmlformats.org/drawingml/2006/main">
            <a:off x="6419850" y="2076450"/>
            <a:ext cx="495300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a:solidFill>
                  <a:srgbClr val="1E3445"/>
                </a:solidFill>
                <a:latin typeface="Aptos"/>
                <a:ea typeface="Aptos"/>
                <a:cs typeface="Aptos"/>
              </a:defRPr>
            </a:defPPr>
            <a:lvl1pPr algn="l">
              <a:defRPr sz="1650">
                <a:solidFill>
                  <a:srgbClr val="1E3445"/>
                </a:solidFill>
                <a:latin typeface="Aptos"/>
                <a:ea typeface="Aptos"/>
                <a:cs typeface="Aptos"/>
              </a:defRPr>
            </a:lvl1pPr>
            <a:lvl2pPr algn="l">
              <a:defRPr sz="1650">
                <a:solidFill>
                  <a:srgbClr val="1E3445"/>
                </a:solidFill>
                <a:latin typeface="Aptos"/>
                <a:ea typeface="Aptos"/>
                <a:cs typeface="Aptos"/>
              </a:defRPr>
            </a:lvl2pPr>
            <a:lvl3pPr algn="l">
              <a:defRPr sz="1650">
                <a:solidFill>
                  <a:srgbClr val="1E3445"/>
                </a:solidFill>
                <a:latin typeface="Aptos"/>
                <a:ea typeface="Aptos"/>
                <a:cs typeface="Aptos"/>
              </a:defRPr>
            </a:lvl3pPr>
            <a:lvl4pPr algn="l">
              <a:defRPr sz="1650">
                <a:solidFill>
                  <a:srgbClr val="1E3445"/>
                </a:solidFill>
                <a:latin typeface="Aptos"/>
                <a:ea typeface="Aptos"/>
                <a:cs typeface="Aptos"/>
              </a:defRPr>
            </a:lvl4pPr>
            <a:lvl5pPr algn="l">
              <a:defRPr sz="1650">
                <a:solidFill>
                  <a:srgbClr val="1E3445"/>
                </a:solidFill>
                <a:latin typeface="Aptos"/>
                <a:ea typeface="Aptos"/>
                <a:cs typeface="Aptos"/>
              </a:defRPr>
            </a:lvl5pPr>
            <a:lvl6pPr algn="l">
              <a:defRPr sz="1650">
                <a:solidFill>
                  <a:srgbClr val="1E3445"/>
                </a:solidFill>
                <a:latin typeface="Aptos"/>
                <a:ea typeface="Aptos"/>
                <a:cs typeface="Aptos"/>
              </a:defRPr>
            </a:lvl6pPr>
            <a:lvl7pPr algn="l">
              <a:defRPr sz="1650">
                <a:solidFill>
                  <a:srgbClr val="1E3445"/>
                </a:solidFill>
                <a:latin typeface="Aptos"/>
                <a:ea typeface="Aptos"/>
                <a:cs typeface="Aptos"/>
              </a:defRPr>
            </a:lvl7pPr>
            <a:lvl8pPr algn="l">
              <a:defRPr sz="1650">
                <a:solidFill>
                  <a:srgbClr val="1E3445"/>
                </a:solidFill>
                <a:latin typeface="Aptos"/>
                <a:ea typeface="Aptos"/>
                <a:cs typeface="Aptos"/>
              </a:defRPr>
            </a:lvl8pPr>
            <a:lvl9pPr algn="l">
              <a:defRPr sz="165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Shared split and feature rows for the benchmark</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Training-only imputation and scaling</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Validation macro-F1 chooses the neural checkpoint</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One fixed configuration and seed per model</a:t>
            </a:r>
          </a:p>
        </p:txBody>
      </p:sp>
      <p:sp>
        <p:nvSpPr>
          <p:cNvPr id="9" name="text">
            <a:extLst xmlns:a="http://schemas.openxmlformats.org/drawingml/2006/main">
              <a:ext uri="{FF2B5EF4-FFF2-40B4-BE49-F238E27FC236}">
                <a16:creationId xmlns:a16="http://schemas.microsoft.com/office/drawing/2014/main" id="{BDB4DD4C-EB2D-4694-9D29-5E3E4F4B7A64}"/>
              </a:ext>
            </a:extLst>
          </p:cNvPr>
          <p:cNvSpPr>
            <a:spLocks xmlns:a="http://schemas.openxmlformats.org/drawingml/2006/main" noGrp="1"/>
          </p:cNvSpPr>
          <p:nvPr/>
        </p:nvSpPr>
        <p:spPr>
          <a:xfrm xmlns:a="http://schemas.openxmlformats.org/drawingml/2006/main">
            <a:off x="762000" y="59626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536878"/>
                </a:solidFill>
                <a:latin typeface="Aptos"/>
                <a:ea typeface="Aptos"/>
                <a:cs typeface="Aptos"/>
              </a:defRPr>
            </a:defPPr>
            <a:lvl1pPr algn="l">
              <a:defRPr sz="1200" b="0">
                <a:solidFill>
                  <a:srgbClr val="536878"/>
                </a:solidFill>
                <a:latin typeface="Aptos"/>
                <a:ea typeface="Aptos"/>
                <a:cs typeface="Aptos"/>
              </a:defRPr>
            </a:lvl1pPr>
            <a:lvl2pPr algn="l">
              <a:defRPr sz="1200" b="0">
                <a:solidFill>
                  <a:srgbClr val="536878"/>
                </a:solidFill>
                <a:latin typeface="Aptos"/>
                <a:ea typeface="Aptos"/>
                <a:cs typeface="Aptos"/>
              </a:defRPr>
            </a:lvl2pPr>
            <a:lvl3pPr algn="l">
              <a:defRPr sz="1200" b="0">
                <a:solidFill>
                  <a:srgbClr val="536878"/>
                </a:solidFill>
                <a:latin typeface="Aptos"/>
                <a:ea typeface="Aptos"/>
                <a:cs typeface="Aptos"/>
              </a:defRPr>
            </a:lvl3pPr>
            <a:lvl4pPr algn="l">
              <a:defRPr sz="1200" b="0">
                <a:solidFill>
                  <a:srgbClr val="536878"/>
                </a:solidFill>
                <a:latin typeface="Aptos"/>
                <a:ea typeface="Aptos"/>
                <a:cs typeface="Aptos"/>
              </a:defRPr>
            </a:lvl4pPr>
            <a:lvl5pPr algn="l">
              <a:defRPr sz="1200" b="0">
                <a:solidFill>
                  <a:srgbClr val="536878"/>
                </a:solidFill>
                <a:latin typeface="Aptos"/>
                <a:ea typeface="Aptos"/>
                <a:cs typeface="Aptos"/>
              </a:defRPr>
            </a:lvl5pPr>
            <a:lvl6pPr algn="l">
              <a:defRPr sz="1200" b="0">
                <a:solidFill>
                  <a:srgbClr val="536878"/>
                </a:solidFill>
                <a:latin typeface="Aptos"/>
                <a:ea typeface="Aptos"/>
                <a:cs typeface="Aptos"/>
              </a:defRPr>
            </a:lvl6pPr>
            <a:lvl7pPr algn="l">
              <a:defRPr sz="1200" b="0">
                <a:solidFill>
                  <a:srgbClr val="536878"/>
                </a:solidFill>
                <a:latin typeface="Aptos"/>
                <a:ea typeface="Aptos"/>
                <a:cs typeface="Aptos"/>
              </a:defRPr>
            </a:lvl7pPr>
            <a:lvl8pPr algn="l">
              <a:defRPr sz="1200" b="0">
                <a:solidFill>
                  <a:srgbClr val="536878"/>
                </a:solidFill>
                <a:latin typeface="Aptos"/>
                <a:ea typeface="Aptos"/>
                <a:cs typeface="Aptos"/>
              </a:defRPr>
            </a:lvl8pPr>
            <a:lvl9pPr algn="l">
              <a:defRPr sz="1200" b="0">
                <a:solidFill>
                  <a:srgbClr val="536878"/>
                </a:solidFill>
                <a:latin typeface="Aptos"/>
                <a:ea typeface="Aptos"/>
                <a:cs typeface="Aptos"/>
              </a:defRPr>
            </a:lvl9pPr>
          </a:lstStyle>
          <a:p xmlns:a="http://schemas.openxmlformats.org/drawingml/2006/main">
            <a:pPr algn="l">
              <a:lnSpc>
                <a:spcPct val="108000"/>
              </a:lnSpc>
              <a:buNone/>
              <a:defRPr sz="1200" b="0">
                <a:solidFill>
                  <a:srgbClr val="536878"/>
                </a:solidFill>
                <a:latin typeface="Aptos"/>
                <a:ea typeface="Aptos"/>
                <a:cs typeface="Aptos"/>
              </a:defRPr>
            </a:pPr>
            <a:r>
              <a:rPr sz="1200" b="0">
                <a:solidFill>
                  <a:srgbClr val="536878"/>
                </a:solidFill>
                <a:latin typeface="Aptos"/>
                <a:ea typeface="Aptos"/>
                <a:cs typeface="Aptos"/>
              </a:rPr>
              <a:t>Neural baseline run: AdamW, learning rate 0.001, weighted cross-entropy, batch size 256, gradient clipping and up to 18 epochs.</a:t>
            </a:r>
          </a:p>
        </p:txBody>
      </p:sp>
    </p:spTree>
    <p:extLst>
      <p:ext uri="{BB962C8B-B14F-4D97-AF65-F5344CB8AC3E}">
        <p14:creationId xmlns:p14="http://schemas.microsoft.com/office/powerpoint/2010/main" val="878932726"/>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1" name="text">
            <a:extLst xmlns:a="http://schemas.openxmlformats.org/drawingml/2006/main">
              <a:ext uri="{FF2B5EF4-FFF2-40B4-BE49-F238E27FC236}">
                <a16:creationId xmlns:a16="http://schemas.microsoft.com/office/drawing/2014/main" id="{DEA166F3-AF44-4336-BE9B-C43EC701A144}"/>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2  /  MODELS AND EVALUATION</a:t>
            </a:r>
          </a:p>
        </p:txBody>
      </p:sp>
      <p:sp>
        <p:nvSpPr>
          <p:cNvPr id="2" name="text">
            <a:extLst xmlns:a="http://schemas.openxmlformats.org/drawingml/2006/main">
              <a:ext uri="{FF2B5EF4-FFF2-40B4-BE49-F238E27FC236}">
                <a16:creationId xmlns:a16="http://schemas.microsoft.com/office/drawing/2014/main" id="{59B96C86-43D3-4F53-B68F-18D25DD2F19F}"/>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Seven-class benchmark results</a:t>
            </a:r>
          </a:p>
        </p:txBody>
      </p:sp>
      <p:sp>
        <p:nvSpPr>
          <p:cNvPr id="3" name="text">
            <a:extLst xmlns:a="http://schemas.openxmlformats.org/drawingml/2006/main">
              <a:ext uri="{FF2B5EF4-FFF2-40B4-BE49-F238E27FC236}">
                <a16:creationId xmlns:a16="http://schemas.microsoft.com/office/drawing/2014/main" id="{0CC3FBF4-79AB-42C2-B693-7665A293303D}"/>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DBACC28D-14BE-4800-9CAD-752BA0E09854}"/>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10</a:t>
            </a:r>
          </a:p>
        </p:txBody>
      </p:sp>
      <p:sp>
        <p:nvSpPr>
          <p:cNvPr id="5" name="text">
            <a:extLst xmlns:a="http://schemas.openxmlformats.org/drawingml/2006/main">
              <a:ext uri="{FF2B5EF4-FFF2-40B4-BE49-F238E27FC236}">
                <a16:creationId xmlns:a16="http://schemas.microsoft.com/office/drawing/2014/main" id="{6B716825-7DC6-44AB-B77D-A0F6D7369C99}"/>
              </a:ext>
            </a:extLst>
          </p:cNvPr>
          <p:cNvSpPr>
            <a:spLocks xmlns:a="http://schemas.openxmlformats.org/drawingml/2006/main" noGrp="1"/>
          </p:cNvSpPr>
          <p:nvPr/>
        </p:nvSpPr>
        <p:spPr>
          <a:xfrm xmlns:a="http://schemas.openxmlformats.org/drawingml/2006/main">
            <a:off x="742950" y="15811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087E8B"/>
                </a:solidFill>
                <a:latin typeface="Aptos"/>
                <a:ea typeface="Aptos"/>
                <a:cs typeface="Aptos"/>
              </a:defRPr>
            </a:defPPr>
            <a:lvl1pPr algn="l">
              <a:defRPr sz="1650" b="1">
                <a:solidFill>
                  <a:srgbClr val="087E8B"/>
                </a:solidFill>
                <a:latin typeface="Aptos"/>
                <a:ea typeface="Aptos"/>
                <a:cs typeface="Aptos"/>
              </a:defRPr>
            </a:lvl1pPr>
            <a:lvl2pPr algn="l">
              <a:defRPr sz="1650" b="1">
                <a:solidFill>
                  <a:srgbClr val="087E8B"/>
                </a:solidFill>
                <a:latin typeface="Aptos"/>
                <a:ea typeface="Aptos"/>
                <a:cs typeface="Aptos"/>
              </a:defRPr>
            </a:lvl2pPr>
            <a:lvl3pPr algn="l">
              <a:defRPr sz="1650" b="1">
                <a:solidFill>
                  <a:srgbClr val="087E8B"/>
                </a:solidFill>
                <a:latin typeface="Aptos"/>
                <a:ea typeface="Aptos"/>
                <a:cs typeface="Aptos"/>
              </a:defRPr>
            </a:lvl3pPr>
            <a:lvl4pPr algn="l">
              <a:defRPr sz="1650" b="1">
                <a:solidFill>
                  <a:srgbClr val="087E8B"/>
                </a:solidFill>
                <a:latin typeface="Aptos"/>
                <a:ea typeface="Aptos"/>
                <a:cs typeface="Aptos"/>
              </a:defRPr>
            </a:lvl4pPr>
            <a:lvl5pPr algn="l">
              <a:defRPr sz="1650" b="1">
                <a:solidFill>
                  <a:srgbClr val="087E8B"/>
                </a:solidFill>
                <a:latin typeface="Aptos"/>
                <a:ea typeface="Aptos"/>
                <a:cs typeface="Aptos"/>
              </a:defRPr>
            </a:lvl5pPr>
            <a:lvl6pPr algn="l">
              <a:defRPr sz="1650" b="1">
                <a:solidFill>
                  <a:srgbClr val="087E8B"/>
                </a:solidFill>
                <a:latin typeface="Aptos"/>
                <a:ea typeface="Aptos"/>
                <a:cs typeface="Aptos"/>
              </a:defRPr>
            </a:lvl6pPr>
            <a:lvl7pPr algn="l">
              <a:defRPr sz="1650" b="1">
                <a:solidFill>
                  <a:srgbClr val="087E8B"/>
                </a:solidFill>
                <a:latin typeface="Aptos"/>
                <a:ea typeface="Aptos"/>
                <a:cs typeface="Aptos"/>
              </a:defRPr>
            </a:lvl7pPr>
            <a:lvl8pPr algn="l">
              <a:defRPr sz="1650" b="1">
                <a:solidFill>
                  <a:srgbClr val="087E8B"/>
                </a:solidFill>
                <a:latin typeface="Aptos"/>
                <a:ea typeface="Aptos"/>
                <a:cs typeface="Aptos"/>
              </a:defRPr>
            </a:lvl8pPr>
            <a:lvl9pPr algn="l">
              <a:defRPr sz="1650" b="1">
                <a:solidFill>
                  <a:srgbClr val="087E8B"/>
                </a:solidFill>
                <a:latin typeface="Aptos"/>
                <a:ea typeface="Aptos"/>
                <a:cs typeface="Aptos"/>
              </a:defRPr>
            </a:lvl9pPr>
          </a:lstStyle>
          <a:p xmlns:a="http://schemas.openxmlformats.org/drawingml/2006/main">
            <a:pPr algn="l">
              <a:lnSpc>
                <a:spcPct val="108000"/>
              </a:lnSpc>
              <a:buNone/>
              <a:defRPr sz="1650" b="1">
                <a:solidFill>
                  <a:srgbClr val="087E8B"/>
                </a:solidFill>
                <a:latin typeface="Aptos"/>
                <a:ea typeface="Aptos"/>
                <a:cs typeface="Aptos"/>
              </a:defRPr>
            </a:pPr>
            <a:r>
              <a:rPr sz="1650" b="1">
                <a:solidFill>
                  <a:srgbClr val="087E8B"/>
                </a:solidFill>
                <a:latin typeface="Aptos"/>
                <a:ea typeface="Aptos"/>
                <a:cs typeface="Aptos"/>
              </a:rPr>
              <a:t>Key result</a:t>
            </a:r>
          </a:p>
        </p:txBody>
      </p:sp>
      <p:sp>
        <p:nvSpPr>
          <p:cNvPr id="6" name="text">
            <a:extLst xmlns:a="http://schemas.openxmlformats.org/drawingml/2006/main">
              <a:ext uri="{FF2B5EF4-FFF2-40B4-BE49-F238E27FC236}">
                <a16:creationId xmlns:a16="http://schemas.microsoft.com/office/drawing/2014/main" id="{ECEEB14B-3663-4F80-AEF6-06EF16854289}"/>
              </a:ext>
            </a:extLst>
          </p:cNvPr>
          <p:cNvSpPr>
            <a:spLocks xmlns:a="http://schemas.openxmlformats.org/drawingml/2006/main" noGrp="1"/>
          </p:cNvSpPr>
          <p:nvPr/>
        </p:nvSpPr>
        <p:spPr>
          <a:xfrm xmlns:a="http://schemas.openxmlformats.org/drawingml/2006/main">
            <a:off x="742950" y="2057400"/>
            <a:ext cx="3619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550" b="1">
                <a:solidFill>
                  <a:srgbClr val="102A43"/>
                </a:solidFill>
                <a:latin typeface="Aptos"/>
                <a:ea typeface="Aptos"/>
                <a:cs typeface="Aptos"/>
              </a:defRPr>
            </a:defPPr>
            <a:lvl1pPr algn="l">
              <a:defRPr sz="2550" b="1">
                <a:solidFill>
                  <a:srgbClr val="102A43"/>
                </a:solidFill>
                <a:latin typeface="Aptos"/>
                <a:ea typeface="Aptos"/>
                <a:cs typeface="Aptos"/>
              </a:defRPr>
            </a:lvl1pPr>
            <a:lvl2pPr algn="l">
              <a:defRPr sz="2550" b="1">
                <a:solidFill>
                  <a:srgbClr val="102A43"/>
                </a:solidFill>
                <a:latin typeface="Aptos"/>
                <a:ea typeface="Aptos"/>
                <a:cs typeface="Aptos"/>
              </a:defRPr>
            </a:lvl2pPr>
            <a:lvl3pPr algn="l">
              <a:defRPr sz="2550" b="1">
                <a:solidFill>
                  <a:srgbClr val="102A43"/>
                </a:solidFill>
                <a:latin typeface="Aptos"/>
                <a:ea typeface="Aptos"/>
                <a:cs typeface="Aptos"/>
              </a:defRPr>
            </a:lvl3pPr>
            <a:lvl4pPr algn="l">
              <a:defRPr sz="2550" b="1">
                <a:solidFill>
                  <a:srgbClr val="102A43"/>
                </a:solidFill>
                <a:latin typeface="Aptos"/>
                <a:ea typeface="Aptos"/>
                <a:cs typeface="Aptos"/>
              </a:defRPr>
            </a:lvl4pPr>
            <a:lvl5pPr algn="l">
              <a:defRPr sz="2550" b="1">
                <a:solidFill>
                  <a:srgbClr val="102A43"/>
                </a:solidFill>
                <a:latin typeface="Aptos"/>
                <a:ea typeface="Aptos"/>
                <a:cs typeface="Aptos"/>
              </a:defRPr>
            </a:lvl5pPr>
            <a:lvl6pPr algn="l">
              <a:defRPr sz="2550" b="1">
                <a:solidFill>
                  <a:srgbClr val="102A43"/>
                </a:solidFill>
                <a:latin typeface="Aptos"/>
                <a:ea typeface="Aptos"/>
                <a:cs typeface="Aptos"/>
              </a:defRPr>
            </a:lvl6pPr>
            <a:lvl7pPr algn="l">
              <a:defRPr sz="2550" b="1">
                <a:solidFill>
                  <a:srgbClr val="102A43"/>
                </a:solidFill>
                <a:latin typeface="Aptos"/>
                <a:ea typeface="Aptos"/>
                <a:cs typeface="Aptos"/>
              </a:defRPr>
            </a:lvl7pPr>
            <a:lvl8pPr algn="l">
              <a:defRPr sz="2550" b="1">
                <a:solidFill>
                  <a:srgbClr val="102A43"/>
                </a:solidFill>
                <a:latin typeface="Aptos"/>
                <a:ea typeface="Aptos"/>
                <a:cs typeface="Aptos"/>
              </a:defRPr>
            </a:lvl8pPr>
            <a:lvl9pPr algn="l">
              <a:defRPr sz="2550" b="1">
                <a:solidFill>
                  <a:srgbClr val="102A43"/>
                </a:solidFill>
                <a:latin typeface="Aptos"/>
                <a:ea typeface="Aptos"/>
                <a:cs typeface="Aptos"/>
              </a:defRPr>
            </a:lvl9pPr>
          </a:lstStyle>
          <a:p xmlns:a="http://schemas.openxmlformats.org/drawingml/2006/main">
            <a:pPr algn="l">
              <a:lnSpc>
                <a:spcPct val="100000"/>
              </a:lnSpc>
              <a:buNone/>
              <a:defRPr sz="2550" b="1">
                <a:solidFill>
                  <a:srgbClr val="102A43"/>
                </a:solidFill>
                <a:latin typeface="Aptos"/>
                <a:ea typeface="Aptos"/>
                <a:cs typeface="Aptos"/>
              </a:defRPr>
            </a:pPr>
            <a:r>
              <a:rPr sz="2550" b="1">
                <a:solidFill>
                  <a:srgbClr val="102A43"/>
                </a:solidFill>
                <a:latin typeface="Aptos"/>
                <a:ea typeface="Aptos"/>
                <a:cs typeface="Aptos"/>
              </a:rPr>
              <a:t>Random Forest</a:t>
            </a:r>
          </a:p>
          <a:p xmlns:a="http://schemas.openxmlformats.org/drawingml/2006/main">
            <a:pPr algn="l">
              <a:lnSpc>
                <a:spcPct val="100000"/>
              </a:lnSpc>
              <a:buNone/>
              <a:defRPr sz="2550" b="1">
                <a:solidFill>
                  <a:srgbClr val="102A43"/>
                </a:solidFill>
                <a:latin typeface="Aptos"/>
                <a:ea typeface="Aptos"/>
                <a:cs typeface="Aptos"/>
              </a:defRPr>
            </a:pPr>
            <a:r>
              <a:rPr sz="2550" b="1">
                <a:solidFill>
                  <a:srgbClr val="102A43"/>
                </a:solidFill>
                <a:latin typeface="Aptos"/>
                <a:ea typeface="Aptos"/>
                <a:cs typeface="Aptos"/>
              </a:rPr>
              <a:t>0.9588 macro-F1</a:t>
            </a:r>
          </a:p>
        </p:txBody>
      </p:sp>
      <p:sp>
        <p:nvSpPr>
          <p:cNvPr id="7" name="text">
            <a:extLst xmlns:a="http://schemas.openxmlformats.org/drawingml/2006/main">
              <a:ext uri="{FF2B5EF4-FFF2-40B4-BE49-F238E27FC236}">
                <a16:creationId xmlns:a16="http://schemas.microsoft.com/office/drawing/2014/main" id="{28063CA2-3880-4F29-9693-A35433EC5C4C}"/>
              </a:ext>
            </a:extLst>
          </p:cNvPr>
          <p:cNvSpPr>
            <a:spLocks xmlns:a="http://schemas.openxmlformats.org/drawingml/2006/main" noGrp="1"/>
          </p:cNvSpPr>
          <p:nvPr/>
        </p:nvSpPr>
        <p:spPr>
          <a:xfrm xmlns:a="http://schemas.openxmlformats.org/drawingml/2006/main">
            <a:off x="742950" y="3390900"/>
            <a:ext cx="3619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1">
                <a:solidFill>
                  <a:srgbClr val="087E8B"/>
                </a:solidFill>
                <a:latin typeface="Aptos"/>
                <a:ea typeface="Aptos"/>
                <a:cs typeface="Aptos"/>
              </a:defRPr>
            </a:defPPr>
            <a:lvl1pPr algn="l">
              <a:defRPr sz="2100" b="1">
                <a:solidFill>
                  <a:srgbClr val="087E8B"/>
                </a:solidFill>
                <a:latin typeface="Aptos"/>
                <a:ea typeface="Aptos"/>
                <a:cs typeface="Aptos"/>
              </a:defRPr>
            </a:lvl1pPr>
            <a:lvl2pPr algn="l">
              <a:defRPr sz="2100" b="1">
                <a:solidFill>
                  <a:srgbClr val="087E8B"/>
                </a:solidFill>
                <a:latin typeface="Aptos"/>
                <a:ea typeface="Aptos"/>
                <a:cs typeface="Aptos"/>
              </a:defRPr>
            </a:lvl2pPr>
            <a:lvl3pPr algn="l">
              <a:defRPr sz="2100" b="1">
                <a:solidFill>
                  <a:srgbClr val="087E8B"/>
                </a:solidFill>
                <a:latin typeface="Aptos"/>
                <a:ea typeface="Aptos"/>
                <a:cs typeface="Aptos"/>
              </a:defRPr>
            </a:lvl3pPr>
            <a:lvl4pPr algn="l">
              <a:defRPr sz="2100" b="1">
                <a:solidFill>
                  <a:srgbClr val="087E8B"/>
                </a:solidFill>
                <a:latin typeface="Aptos"/>
                <a:ea typeface="Aptos"/>
                <a:cs typeface="Aptos"/>
              </a:defRPr>
            </a:lvl4pPr>
            <a:lvl5pPr algn="l">
              <a:defRPr sz="2100" b="1">
                <a:solidFill>
                  <a:srgbClr val="087E8B"/>
                </a:solidFill>
                <a:latin typeface="Aptos"/>
                <a:ea typeface="Aptos"/>
                <a:cs typeface="Aptos"/>
              </a:defRPr>
            </a:lvl5pPr>
            <a:lvl6pPr algn="l">
              <a:defRPr sz="2100" b="1">
                <a:solidFill>
                  <a:srgbClr val="087E8B"/>
                </a:solidFill>
                <a:latin typeface="Aptos"/>
                <a:ea typeface="Aptos"/>
                <a:cs typeface="Aptos"/>
              </a:defRPr>
            </a:lvl6pPr>
            <a:lvl7pPr algn="l">
              <a:defRPr sz="2100" b="1">
                <a:solidFill>
                  <a:srgbClr val="087E8B"/>
                </a:solidFill>
                <a:latin typeface="Aptos"/>
                <a:ea typeface="Aptos"/>
                <a:cs typeface="Aptos"/>
              </a:defRPr>
            </a:lvl7pPr>
            <a:lvl8pPr algn="l">
              <a:defRPr sz="2100" b="1">
                <a:solidFill>
                  <a:srgbClr val="087E8B"/>
                </a:solidFill>
                <a:latin typeface="Aptos"/>
                <a:ea typeface="Aptos"/>
                <a:cs typeface="Aptos"/>
              </a:defRPr>
            </a:lvl8pPr>
            <a:lvl9pPr algn="l">
              <a:defRPr sz="2100" b="1">
                <a:solidFill>
                  <a:srgbClr val="087E8B"/>
                </a:solidFill>
                <a:latin typeface="Aptos"/>
                <a:ea typeface="Aptos"/>
                <a:cs typeface="Aptos"/>
              </a:defRPr>
            </a:lvl9pPr>
          </a:lstStyle>
          <a:p xmlns:a="http://schemas.openxmlformats.org/drawingml/2006/main">
            <a:pPr algn="l">
              <a:lnSpc>
                <a:spcPct val="100000"/>
              </a:lnSpc>
              <a:buNone/>
              <a:defRPr sz="2100" b="1">
                <a:solidFill>
                  <a:srgbClr val="087E8B"/>
                </a:solidFill>
                <a:latin typeface="Aptos"/>
                <a:ea typeface="Aptos"/>
                <a:cs typeface="Aptos"/>
              </a:defRPr>
            </a:pPr>
            <a:r>
              <a:rPr sz="2100" b="1">
                <a:solidFill>
                  <a:srgbClr val="087E8B"/>
                </a:solidFill>
                <a:latin typeface="Aptos"/>
                <a:ea typeface="Aptos"/>
                <a:cs typeface="Aptos"/>
              </a:rPr>
              <a:t>Feature Transformer</a:t>
            </a:r>
          </a:p>
          <a:p xmlns:a="http://schemas.openxmlformats.org/drawingml/2006/main">
            <a:pPr algn="l">
              <a:lnSpc>
                <a:spcPct val="100000"/>
              </a:lnSpc>
              <a:buNone/>
              <a:defRPr sz="2100" b="1">
                <a:solidFill>
                  <a:srgbClr val="087E8B"/>
                </a:solidFill>
                <a:latin typeface="Aptos"/>
                <a:ea typeface="Aptos"/>
                <a:cs typeface="Aptos"/>
              </a:defRPr>
            </a:pPr>
            <a:r>
              <a:rPr sz="2100" b="1">
                <a:solidFill>
                  <a:srgbClr val="087E8B"/>
                </a:solidFill>
                <a:latin typeface="Aptos"/>
                <a:ea typeface="Aptos"/>
                <a:cs typeface="Aptos"/>
              </a:rPr>
              <a:t>0.9409 macro-F1</a:t>
            </a:r>
          </a:p>
        </p:txBody>
      </p:sp>
      <p:sp>
        <p:nvSpPr>
          <p:cNvPr id="8" name="text">
            <a:extLst xmlns:a="http://schemas.openxmlformats.org/drawingml/2006/main">
              <a:ext uri="{FF2B5EF4-FFF2-40B4-BE49-F238E27FC236}">
                <a16:creationId xmlns:a16="http://schemas.microsoft.com/office/drawing/2014/main" id="{353E9DE3-2DD6-46FA-8F68-0EA152A1FD2D}"/>
              </a:ext>
            </a:extLst>
          </p:cNvPr>
          <p:cNvSpPr>
            <a:spLocks xmlns:a="http://schemas.openxmlformats.org/drawingml/2006/main" noGrp="1"/>
          </p:cNvSpPr>
          <p:nvPr/>
        </p:nvSpPr>
        <p:spPr>
          <a:xfrm xmlns:a="http://schemas.openxmlformats.org/drawingml/2006/main">
            <a:off x="742950" y="4800600"/>
            <a:ext cx="3619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878"/>
                </a:solidFill>
                <a:latin typeface="Aptos"/>
                <a:ea typeface="Aptos"/>
                <a:cs typeface="Aptos"/>
              </a:defRPr>
            </a:defPPr>
            <a:lvl1pPr algn="l">
              <a:defRPr sz="1350" b="0">
                <a:solidFill>
                  <a:srgbClr val="536878"/>
                </a:solidFill>
                <a:latin typeface="Aptos"/>
                <a:ea typeface="Aptos"/>
                <a:cs typeface="Aptos"/>
              </a:defRPr>
            </a:lvl1pPr>
            <a:lvl2pPr algn="l">
              <a:defRPr sz="1350" b="0">
                <a:solidFill>
                  <a:srgbClr val="536878"/>
                </a:solidFill>
                <a:latin typeface="Aptos"/>
                <a:ea typeface="Aptos"/>
                <a:cs typeface="Aptos"/>
              </a:defRPr>
            </a:lvl2pPr>
            <a:lvl3pPr algn="l">
              <a:defRPr sz="1350" b="0">
                <a:solidFill>
                  <a:srgbClr val="536878"/>
                </a:solidFill>
                <a:latin typeface="Aptos"/>
                <a:ea typeface="Aptos"/>
                <a:cs typeface="Aptos"/>
              </a:defRPr>
            </a:lvl3pPr>
            <a:lvl4pPr algn="l">
              <a:defRPr sz="1350" b="0">
                <a:solidFill>
                  <a:srgbClr val="536878"/>
                </a:solidFill>
                <a:latin typeface="Aptos"/>
                <a:ea typeface="Aptos"/>
                <a:cs typeface="Aptos"/>
              </a:defRPr>
            </a:lvl4pPr>
            <a:lvl5pPr algn="l">
              <a:defRPr sz="1350" b="0">
                <a:solidFill>
                  <a:srgbClr val="536878"/>
                </a:solidFill>
                <a:latin typeface="Aptos"/>
                <a:ea typeface="Aptos"/>
                <a:cs typeface="Aptos"/>
              </a:defRPr>
            </a:lvl5pPr>
            <a:lvl6pPr algn="l">
              <a:defRPr sz="1350" b="0">
                <a:solidFill>
                  <a:srgbClr val="536878"/>
                </a:solidFill>
                <a:latin typeface="Aptos"/>
                <a:ea typeface="Aptos"/>
                <a:cs typeface="Aptos"/>
              </a:defRPr>
            </a:lvl6pPr>
            <a:lvl7pPr algn="l">
              <a:defRPr sz="1350" b="0">
                <a:solidFill>
                  <a:srgbClr val="536878"/>
                </a:solidFill>
                <a:latin typeface="Aptos"/>
                <a:ea typeface="Aptos"/>
                <a:cs typeface="Aptos"/>
              </a:defRPr>
            </a:lvl7pPr>
            <a:lvl8pPr algn="l">
              <a:defRPr sz="1350" b="0">
                <a:solidFill>
                  <a:srgbClr val="536878"/>
                </a:solidFill>
                <a:latin typeface="Aptos"/>
                <a:ea typeface="Aptos"/>
                <a:cs typeface="Aptos"/>
              </a:defRPr>
            </a:lvl8pPr>
            <a:lvl9pPr algn="l">
              <a:defRPr sz="1350" b="0">
                <a:solidFill>
                  <a:srgbClr val="536878"/>
                </a:solidFill>
                <a:latin typeface="Aptos"/>
                <a:ea typeface="Aptos"/>
                <a:cs typeface="Aptos"/>
              </a:defRPr>
            </a:lvl9pPr>
          </a:lstStyle>
          <a:p xmlns:a="http://schemas.openxmlformats.org/drawingml/2006/main">
            <a:pPr algn="l">
              <a:lnSpc>
                <a:spcPct val="108000"/>
              </a:lnSpc>
              <a:buNone/>
              <a:defRPr sz="1350" b="0">
                <a:solidFill>
                  <a:srgbClr val="536878"/>
                </a:solidFill>
                <a:latin typeface="Aptos"/>
                <a:ea typeface="Aptos"/>
                <a:cs typeface="Aptos"/>
              </a:defRPr>
            </a:pPr>
            <a:r>
              <a:rPr sz="1350" b="0">
                <a:solidFill>
                  <a:srgbClr val="536878"/>
                </a:solidFill>
                <a:latin typeface="Aptos"/>
                <a:ea typeface="Aptos"/>
                <a:cs typeface="Aptos"/>
              </a:rPr>
              <a:t>Same sampled seven-class feature split. One configuration and seed per model.</a:t>
            </a:r>
          </a:p>
        </p:txBody>
      </p:sp>
      <p:sp>
        <p:nvSpPr>
          <p:cNvPr id="9" name="text">
            <a:extLst xmlns:a="http://schemas.openxmlformats.org/drawingml/2006/main">
              <a:ext uri="{FF2B5EF4-FFF2-40B4-BE49-F238E27FC236}">
                <a16:creationId xmlns:a16="http://schemas.microsoft.com/office/drawing/2014/main" id="{75A8F25E-0864-4B91-BBA8-061F9A51FEFF}"/>
              </a:ext>
            </a:extLst>
          </p:cNvPr>
          <p:cNvSpPr>
            <a:spLocks xmlns:a="http://schemas.openxmlformats.org/drawingml/2006/main" noGrp="1"/>
          </p:cNvSpPr>
          <p:nvPr/>
        </p:nvSpPr>
        <p:spPr>
          <a:xfrm xmlns:a="http://schemas.openxmlformats.org/drawingml/2006/main">
            <a:off x="4762500" y="1476375"/>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650" b="1">
                <a:solidFill>
                  <a:srgbClr val="1E3445"/>
                </a:solidFill>
                <a:latin typeface="Aptos"/>
                <a:ea typeface="Aptos"/>
                <a:cs typeface="Aptos"/>
              </a:defRPr>
            </a:defPPr>
            <a:lvl1pPr algn="ctr">
              <a:defRPr sz="1650" b="1">
                <a:solidFill>
                  <a:srgbClr val="1E3445"/>
                </a:solidFill>
                <a:latin typeface="Aptos"/>
                <a:ea typeface="Aptos"/>
                <a:cs typeface="Aptos"/>
              </a:defRPr>
            </a:lvl1pPr>
            <a:lvl2pPr algn="ctr">
              <a:defRPr sz="1650" b="1">
                <a:solidFill>
                  <a:srgbClr val="1E3445"/>
                </a:solidFill>
                <a:latin typeface="Aptos"/>
                <a:ea typeface="Aptos"/>
                <a:cs typeface="Aptos"/>
              </a:defRPr>
            </a:lvl2pPr>
            <a:lvl3pPr algn="ctr">
              <a:defRPr sz="1650" b="1">
                <a:solidFill>
                  <a:srgbClr val="1E3445"/>
                </a:solidFill>
                <a:latin typeface="Aptos"/>
                <a:ea typeface="Aptos"/>
                <a:cs typeface="Aptos"/>
              </a:defRPr>
            </a:lvl3pPr>
            <a:lvl4pPr algn="ctr">
              <a:defRPr sz="1650" b="1">
                <a:solidFill>
                  <a:srgbClr val="1E3445"/>
                </a:solidFill>
                <a:latin typeface="Aptos"/>
                <a:ea typeface="Aptos"/>
                <a:cs typeface="Aptos"/>
              </a:defRPr>
            </a:lvl4pPr>
            <a:lvl5pPr algn="ctr">
              <a:defRPr sz="1650" b="1">
                <a:solidFill>
                  <a:srgbClr val="1E3445"/>
                </a:solidFill>
                <a:latin typeface="Aptos"/>
                <a:ea typeface="Aptos"/>
                <a:cs typeface="Aptos"/>
              </a:defRPr>
            </a:lvl5pPr>
            <a:lvl6pPr algn="ctr">
              <a:defRPr sz="1650" b="1">
                <a:solidFill>
                  <a:srgbClr val="1E3445"/>
                </a:solidFill>
                <a:latin typeface="Aptos"/>
                <a:ea typeface="Aptos"/>
                <a:cs typeface="Aptos"/>
              </a:defRPr>
            </a:lvl6pPr>
            <a:lvl7pPr algn="ctr">
              <a:defRPr sz="1650" b="1">
                <a:solidFill>
                  <a:srgbClr val="1E3445"/>
                </a:solidFill>
                <a:latin typeface="Aptos"/>
                <a:ea typeface="Aptos"/>
                <a:cs typeface="Aptos"/>
              </a:defRPr>
            </a:lvl7pPr>
            <a:lvl8pPr algn="ctr">
              <a:defRPr sz="1650" b="1">
                <a:solidFill>
                  <a:srgbClr val="1E3445"/>
                </a:solidFill>
                <a:latin typeface="Aptos"/>
                <a:ea typeface="Aptos"/>
                <a:cs typeface="Aptos"/>
              </a:defRPr>
            </a:lvl8pPr>
            <a:lvl9pPr algn="ctr">
              <a:defRPr sz="1650" b="1">
                <a:solidFill>
                  <a:srgbClr val="1E3445"/>
                </a:solidFill>
                <a:latin typeface="Aptos"/>
                <a:ea typeface="Aptos"/>
                <a:cs typeface="Aptos"/>
              </a:defRPr>
            </a:lvl9pPr>
          </a:lstStyle>
          <a:p xmlns:a="http://schemas.openxmlformats.org/drawingml/2006/main">
            <a:pPr algn="ctr">
              <a:lnSpc>
                <a:spcPct val="108000"/>
              </a:lnSpc>
              <a:buNone/>
              <a:defRPr sz="1650" b="1">
                <a:solidFill>
                  <a:srgbClr val="1E3445"/>
                </a:solidFill>
                <a:latin typeface="Aptos"/>
                <a:ea typeface="Aptos"/>
                <a:cs typeface="Aptos"/>
              </a:defRPr>
            </a:pPr>
            <a:r>
              <a:rPr sz="1650" b="1">
                <a:solidFill>
                  <a:srgbClr val="1E3445"/>
                </a:solidFill>
                <a:latin typeface="Aptos"/>
                <a:ea typeface="Aptos"/>
                <a:cs typeface="Aptos"/>
              </a:rPr>
              <a:t>Macro-F1 by model (higher is better)</a:t>
            </a:r>
          </a:p>
        </p:txBody>
      </p:sp>
      <p:graphicFrame>
        <p:nvGraphicFramePr>
          <p:cNvPr id="10" name="Chart">
            <a:extLst xmlns:a="http://schemas.openxmlformats.org/drawingml/2006/main">
              <a:ext uri="{FF2B5EF4-FFF2-40B4-BE49-F238E27FC236}">
                <a16:creationId xmlns:a16="http://schemas.microsoft.com/office/drawing/2014/main" id="{B56F976A-1A0B-41F1-AE1C-C1898466D99A}"/>
              </a:ext>
            </a:extLst>
          </p:cNvPr>
          <p:cNvGraphicFramePr/>
          <p:nvPr/>
        </p:nvGraphicFramePr>
        <p:xfrm>
          <a:off xmlns:a="http://schemas.openxmlformats.org/drawingml/2006/main" x="4619625" y="1866900"/>
          <a:ext xmlns:a="http://schemas.openxmlformats.org/drawingml/2006/main" cx="6953250" cy="4095750"/>
        </p:xfrm>
        <a:graphic xmlns:a="http://schemas.openxmlformats.org/drawingml/2006/main">
          <a:graphicData uri="http://schemas.openxmlformats.org/drawingml/2006/chart">
            <c:chart xmlns:r="http://schemas.openxmlformats.org/officeDocument/2006/relationships" xmlns:c="http://schemas.openxmlformats.org/drawingml/2006/chart" r:id="R10843d734eb1495c"/>
          </a:graphicData>
        </a:graphic>
      </p:graphicFrame>
    </p:spTree>
    <p:extLst>
      <p:ext uri="{BB962C8B-B14F-4D97-AF65-F5344CB8AC3E}">
        <p14:creationId xmlns:p14="http://schemas.microsoft.com/office/powerpoint/2010/main" val="599073053"/>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6C3DA4C9-A7BA-43A2-AF94-9F79DA5A690E}"/>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2  /  MODELS AND EVALUATION</a:t>
            </a:r>
          </a:p>
        </p:txBody>
      </p:sp>
      <p:sp>
        <p:nvSpPr>
          <p:cNvPr id="2" name="text">
            <a:extLst xmlns:a="http://schemas.openxmlformats.org/drawingml/2006/main">
              <a:ext uri="{FF2B5EF4-FFF2-40B4-BE49-F238E27FC236}">
                <a16:creationId xmlns:a16="http://schemas.microsoft.com/office/drawing/2014/main" id="{8D674DFF-BC0F-4A6D-B799-AB535203D747}"/>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Rare-class support changes the conclusion</a:t>
            </a:r>
          </a:p>
        </p:txBody>
      </p:sp>
      <p:sp>
        <p:nvSpPr>
          <p:cNvPr id="3" name="text">
            <a:extLst xmlns:a="http://schemas.openxmlformats.org/drawingml/2006/main">
              <a:ext uri="{FF2B5EF4-FFF2-40B4-BE49-F238E27FC236}">
                <a16:creationId xmlns:a16="http://schemas.microsoft.com/office/drawing/2014/main" id="{E3696557-9455-4F78-93C9-DC0DBF52A563}"/>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3A73F94D-FA61-45B7-B8D7-3C6638E04430}"/>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11</a:t>
            </a:r>
          </a:p>
        </p:txBody>
      </p:sp>
      <p:sp>
        <p:nvSpPr>
          <p:cNvPr id="5" name="text">
            <a:extLst xmlns:a="http://schemas.openxmlformats.org/drawingml/2006/main">
              <a:ext uri="{FF2B5EF4-FFF2-40B4-BE49-F238E27FC236}">
                <a16:creationId xmlns:a16="http://schemas.microsoft.com/office/drawing/2014/main" id="{8FBE5CC2-A259-489E-81C7-A2C4F725B234}"/>
              </a:ext>
            </a:extLst>
          </p:cNvPr>
          <p:cNvSpPr>
            <a:spLocks xmlns:a="http://schemas.openxmlformats.org/drawingml/2006/main" noGrp="1"/>
          </p:cNvSpPr>
          <p:nvPr/>
        </p:nvSpPr>
        <p:spPr>
          <a:xfrm xmlns:a="http://schemas.openxmlformats.org/drawingml/2006/main">
            <a:off x="800100" y="1714500"/>
            <a:ext cx="37147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6900" b="1">
                <a:solidFill>
                  <a:srgbClr val="087E8B"/>
                </a:solidFill>
                <a:latin typeface="Aptos"/>
                <a:ea typeface="Aptos"/>
                <a:cs typeface="Aptos"/>
              </a:defRPr>
            </a:defPPr>
            <a:lvl1pPr algn="ctr">
              <a:defRPr sz="6900" b="1">
                <a:solidFill>
                  <a:srgbClr val="087E8B"/>
                </a:solidFill>
                <a:latin typeface="Aptos"/>
                <a:ea typeface="Aptos"/>
                <a:cs typeface="Aptos"/>
              </a:defRPr>
            </a:lvl1pPr>
            <a:lvl2pPr algn="ctr">
              <a:defRPr sz="6900" b="1">
                <a:solidFill>
                  <a:srgbClr val="087E8B"/>
                </a:solidFill>
                <a:latin typeface="Aptos"/>
                <a:ea typeface="Aptos"/>
                <a:cs typeface="Aptos"/>
              </a:defRPr>
            </a:lvl2pPr>
            <a:lvl3pPr algn="ctr">
              <a:defRPr sz="6900" b="1">
                <a:solidFill>
                  <a:srgbClr val="087E8B"/>
                </a:solidFill>
                <a:latin typeface="Aptos"/>
                <a:ea typeface="Aptos"/>
                <a:cs typeface="Aptos"/>
              </a:defRPr>
            </a:lvl3pPr>
            <a:lvl4pPr algn="ctr">
              <a:defRPr sz="6900" b="1">
                <a:solidFill>
                  <a:srgbClr val="087E8B"/>
                </a:solidFill>
                <a:latin typeface="Aptos"/>
                <a:ea typeface="Aptos"/>
                <a:cs typeface="Aptos"/>
              </a:defRPr>
            </a:lvl4pPr>
            <a:lvl5pPr algn="ctr">
              <a:defRPr sz="6900" b="1">
                <a:solidFill>
                  <a:srgbClr val="087E8B"/>
                </a:solidFill>
                <a:latin typeface="Aptos"/>
                <a:ea typeface="Aptos"/>
                <a:cs typeface="Aptos"/>
              </a:defRPr>
            </a:lvl5pPr>
            <a:lvl6pPr algn="ctr">
              <a:defRPr sz="6900" b="1">
                <a:solidFill>
                  <a:srgbClr val="087E8B"/>
                </a:solidFill>
                <a:latin typeface="Aptos"/>
                <a:ea typeface="Aptos"/>
                <a:cs typeface="Aptos"/>
              </a:defRPr>
            </a:lvl6pPr>
            <a:lvl7pPr algn="ctr">
              <a:defRPr sz="6900" b="1">
                <a:solidFill>
                  <a:srgbClr val="087E8B"/>
                </a:solidFill>
                <a:latin typeface="Aptos"/>
                <a:ea typeface="Aptos"/>
                <a:cs typeface="Aptos"/>
              </a:defRPr>
            </a:lvl7pPr>
            <a:lvl8pPr algn="ctr">
              <a:defRPr sz="6900" b="1">
                <a:solidFill>
                  <a:srgbClr val="087E8B"/>
                </a:solidFill>
                <a:latin typeface="Aptos"/>
                <a:ea typeface="Aptos"/>
                <a:cs typeface="Aptos"/>
              </a:defRPr>
            </a:lvl8pPr>
            <a:lvl9pPr algn="ctr">
              <a:defRPr sz="6900" b="1">
                <a:solidFill>
                  <a:srgbClr val="087E8B"/>
                </a:solidFill>
                <a:latin typeface="Aptos"/>
                <a:ea typeface="Aptos"/>
                <a:cs typeface="Aptos"/>
              </a:defRPr>
            </a:lvl9pPr>
          </a:lstStyle>
          <a:p xmlns:a="http://schemas.openxmlformats.org/drawingml/2006/main">
            <a:pPr algn="ctr">
              <a:lnSpc>
                <a:spcPct val="108000"/>
              </a:lnSpc>
              <a:buNone/>
              <a:defRPr sz="6900" b="1">
                <a:solidFill>
                  <a:srgbClr val="087E8B"/>
                </a:solidFill>
                <a:latin typeface="Aptos"/>
                <a:ea typeface="Aptos"/>
                <a:cs typeface="Aptos"/>
              </a:defRPr>
            </a:pPr>
            <a:r>
              <a:rPr sz="6900" b="1">
                <a:solidFill>
                  <a:srgbClr val="087E8B"/>
                </a:solidFill>
                <a:latin typeface="Aptos"/>
                <a:ea typeface="Aptos"/>
                <a:cs typeface="Aptos"/>
              </a:rPr>
              <a:t>5</a:t>
            </a:r>
          </a:p>
        </p:txBody>
      </p:sp>
      <p:sp>
        <p:nvSpPr>
          <p:cNvPr id="6" name="text">
            <a:extLst xmlns:a="http://schemas.openxmlformats.org/drawingml/2006/main">
              <a:ext uri="{FF2B5EF4-FFF2-40B4-BE49-F238E27FC236}">
                <a16:creationId xmlns:a16="http://schemas.microsoft.com/office/drawing/2014/main" id="{1CF5CE31-6958-4247-A872-405FD0112BEC}"/>
              </a:ext>
            </a:extLst>
          </p:cNvPr>
          <p:cNvSpPr>
            <a:spLocks xmlns:a="http://schemas.openxmlformats.org/drawingml/2006/main" noGrp="1"/>
          </p:cNvSpPr>
          <p:nvPr/>
        </p:nvSpPr>
        <p:spPr>
          <a:xfrm xmlns:a="http://schemas.openxmlformats.org/drawingml/2006/main">
            <a:off x="809625" y="2952750"/>
            <a:ext cx="3714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950" b="1">
                <a:solidFill>
                  <a:srgbClr val="102A43"/>
                </a:solidFill>
                <a:latin typeface="Aptos"/>
                <a:ea typeface="Aptos"/>
                <a:cs typeface="Aptos"/>
              </a:defRPr>
            </a:defPPr>
            <a:lvl1pPr algn="ctr">
              <a:defRPr sz="1950" b="1">
                <a:solidFill>
                  <a:srgbClr val="102A43"/>
                </a:solidFill>
                <a:latin typeface="Aptos"/>
                <a:ea typeface="Aptos"/>
                <a:cs typeface="Aptos"/>
              </a:defRPr>
            </a:lvl1pPr>
            <a:lvl2pPr algn="ctr">
              <a:defRPr sz="1950" b="1">
                <a:solidFill>
                  <a:srgbClr val="102A43"/>
                </a:solidFill>
                <a:latin typeface="Aptos"/>
                <a:ea typeface="Aptos"/>
                <a:cs typeface="Aptos"/>
              </a:defRPr>
            </a:lvl2pPr>
            <a:lvl3pPr algn="ctr">
              <a:defRPr sz="1950" b="1">
                <a:solidFill>
                  <a:srgbClr val="102A43"/>
                </a:solidFill>
                <a:latin typeface="Aptos"/>
                <a:ea typeface="Aptos"/>
                <a:cs typeface="Aptos"/>
              </a:defRPr>
            </a:lvl3pPr>
            <a:lvl4pPr algn="ctr">
              <a:defRPr sz="1950" b="1">
                <a:solidFill>
                  <a:srgbClr val="102A43"/>
                </a:solidFill>
                <a:latin typeface="Aptos"/>
                <a:ea typeface="Aptos"/>
                <a:cs typeface="Aptos"/>
              </a:defRPr>
            </a:lvl4pPr>
            <a:lvl5pPr algn="ctr">
              <a:defRPr sz="1950" b="1">
                <a:solidFill>
                  <a:srgbClr val="102A43"/>
                </a:solidFill>
                <a:latin typeface="Aptos"/>
                <a:ea typeface="Aptos"/>
                <a:cs typeface="Aptos"/>
              </a:defRPr>
            </a:lvl5pPr>
            <a:lvl6pPr algn="ctr">
              <a:defRPr sz="1950" b="1">
                <a:solidFill>
                  <a:srgbClr val="102A43"/>
                </a:solidFill>
                <a:latin typeface="Aptos"/>
                <a:ea typeface="Aptos"/>
                <a:cs typeface="Aptos"/>
              </a:defRPr>
            </a:lvl6pPr>
            <a:lvl7pPr algn="ctr">
              <a:defRPr sz="1950" b="1">
                <a:solidFill>
                  <a:srgbClr val="102A43"/>
                </a:solidFill>
                <a:latin typeface="Aptos"/>
                <a:ea typeface="Aptos"/>
                <a:cs typeface="Aptos"/>
              </a:defRPr>
            </a:lvl7pPr>
            <a:lvl8pPr algn="ctr">
              <a:defRPr sz="1950" b="1">
                <a:solidFill>
                  <a:srgbClr val="102A43"/>
                </a:solidFill>
                <a:latin typeface="Aptos"/>
                <a:ea typeface="Aptos"/>
                <a:cs typeface="Aptos"/>
              </a:defRPr>
            </a:lvl8pPr>
            <a:lvl9pPr algn="ctr">
              <a:defRPr sz="1950" b="1">
                <a:solidFill>
                  <a:srgbClr val="102A43"/>
                </a:solidFill>
                <a:latin typeface="Aptos"/>
                <a:ea typeface="Aptos"/>
                <a:cs typeface="Aptos"/>
              </a:defRPr>
            </a:lvl9pPr>
          </a:lstStyle>
          <a:p xmlns:a="http://schemas.openxmlformats.org/drawingml/2006/main">
            <a:pPr algn="ctr">
              <a:lnSpc>
                <a:spcPct val="108000"/>
              </a:lnSpc>
              <a:buNone/>
              <a:defRPr sz="1950" b="1">
                <a:solidFill>
                  <a:srgbClr val="102A43"/>
                </a:solidFill>
                <a:latin typeface="Aptos"/>
                <a:ea typeface="Aptos"/>
                <a:cs typeface="Aptos"/>
              </a:defRPr>
            </a:pPr>
            <a:r>
              <a:rPr sz="1950" b="1">
                <a:solidFill>
                  <a:srgbClr val="102A43"/>
                </a:solidFill>
                <a:latin typeface="Aptos"/>
                <a:ea typeface="Aptos"/>
                <a:cs typeface="Aptos"/>
              </a:rPr>
              <a:t>Infiltration test flows</a:t>
            </a:r>
          </a:p>
        </p:txBody>
      </p:sp>
      <p:sp>
        <p:nvSpPr>
          <p:cNvPr id="7" name="text">
            <a:extLst xmlns:a="http://schemas.openxmlformats.org/drawingml/2006/main">
              <a:ext uri="{FF2B5EF4-FFF2-40B4-BE49-F238E27FC236}">
                <a16:creationId xmlns:a16="http://schemas.microsoft.com/office/drawing/2014/main" id="{39AF0BF7-1B5B-46C1-B99A-19827D026DD1}"/>
              </a:ext>
            </a:extLst>
          </p:cNvPr>
          <p:cNvSpPr>
            <a:spLocks xmlns:a="http://schemas.openxmlformats.org/drawingml/2006/main" noGrp="1"/>
          </p:cNvSpPr>
          <p:nvPr/>
        </p:nvSpPr>
        <p:spPr>
          <a:xfrm xmlns:a="http://schemas.openxmlformats.org/drawingml/2006/main">
            <a:off x="4895850" y="1771650"/>
            <a:ext cx="4191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5625" b="1">
                <a:solidFill>
                  <a:srgbClr val="102A43"/>
                </a:solidFill>
                <a:latin typeface="Aptos"/>
                <a:ea typeface="Aptos"/>
                <a:cs typeface="Aptos"/>
              </a:defRPr>
            </a:defPPr>
            <a:lvl1pPr algn="ctr">
              <a:defRPr sz="5625" b="1">
                <a:solidFill>
                  <a:srgbClr val="102A43"/>
                </a:solidFill>
                <a:latin typeface="Aptos"/>
                <a:ea typeface="Aptos"/>
                <a:cs typeface="Aptos"/>
              </a:defRPr>
            </a:lvl1pPr>
            <a:lvl2pPr algn="ctr">
              <a:defRPr sz="5625" b="1">
                <a:solidFill>
                  <a:srgbClr val="102A43"/>
                </a:solidFill>
                <a:latin typeface="Aptos"/>
                <a:ea typeface="Aptos"/>
                <a:cs typeface="Aptos"/>
              </a:defRPr>
            </a:lvl2pPr>
            <a:lvl3pPr algn="ctr">
              <a:defRPr sz="5625" b="1">
                <a:solidFill>
                  <a:srgbClr val="102A43"/>
                </a:solidFill>
                <a:latin typeface="Aptos"/>
                <a:ea typeface="Aptos"/>
                <a:cs typeface="Aptos"/>
              </a:defRPr>
            </a:lvl3pPr>
            <a:lvl4pPr algn="ctr">
              <a:defRPr sz="5625" b="1">
                <a:solidFill>
                  <a:srgbClr val="102A43"/>
                </a:solidFill>
                <a:latin typeface="Aptos"/>
                <a:ea typeface="Aptos"/>
                <a:cs typeface="Aptos"/>
              </a:defRPr>
            </a:lvl4pPr>
            <a:lvl5pPr algn="ctr">
              <a:defRPr sz="5625" b="1">
                <a:solidFill>
                  <a:srgbClr val="102A43"/>
                </a:solidFill>
                <a:latin typeface="Aptos"/>
                <a:ea typeface="Aptos"/>
                <a:cs typeface="Aptos"/>
              </a:defRPr>
            </a:lvl5pPr>
            <a:lvl6pPr algn="ctr">
              <a:defRPr sz="5625" b="1">
                <a:solidFill>
                  <a:srgbClr val="102A43"/>
                </a:solidFill>
                <a:latin typeface="Aptos"/>
                <a:ea typeface="Aptos"/>
                <a:cs typeface="Aptos"/>
              </a:defRPr>
            </a:lvl6pPr>
            <a:lvl7pPr algn="ctr">
              <a:defRPr sz="5625" b="1">
                <a:solidFill>
                  <a:srgbClr val="102A43"/>
                </a:solidFill>
                <a:latin typeface="Aptos"/>
                <a:ea typeface="Aptos"/>
                <a:cs typeface="Aptos"/>
              </a:defRPr>
            </a:lvl7pPr>
            <a:lvl8pPr algn="ctr">
              <a:defRPr sz="5625" b="1">
                <a:solidFill>
                  <a:srgbClr val="102A43"/>
                </a:solidFill>
                <a:latin typeface="Aptos"/>
                <a:ea typeface="Aptos"/>
                <a:cs typeface="Aptos"/>
              </a:defRPr>
            </a:lvl8pPr>
            <a:lvl9pPr algn="ctr">
              <a:defRPr sz="5625" b="1">
                <a:solidFill>
                  <a:srgbClr val="102A43"/>
                </a:solidFill>
                <a:latin typeface="Aptos"/>
                <a:ea typeface="Aptos"/>
                <a:cs typeface="Aptos"/>
              </a:defRPr>
            </a:lvl9pPr>
          </a:lstStyle>
          <a:p xmlns:a="http://schemas.openxmlformats.org/drawingml/2006/main">
            <a:pPr algn="ctr">
              <a:lnSpc>
                <a:spcPct val="108000"/>
              </a:lnSpc>
              <a:buNone/>
              <a:defRPr sz="5625" b="1">
                <a:solidFill>
                  <a:srgbClr val="102A43"/>
                </a:solidFill>
                <a:latin typeface="Aptos"/>
                <a:ea typeface="Aptos"/>
                <a:cs typeface="Aptos"/>
              </a:defRPr>
            </a:pPr>
            <a:r>
              <a:rPr sz="5625" b="1">
                <a:solidFill>
                  <a:srgbClr val="102A43"/>
                </a:solidFill>
                <a:latin typeface="Aptos"/>
                <a:ea typeface="Aptos"/>
                <a:cs typeface="Aptos"/>
              </a:rPr>
              <a:t>3 / 5</a:t>
            </a:r>
          </a:p>
        </p:txBody>
      </p:sp>
      <p:sp>
        <p:nvSpPr>
          <p:cNvPr id="8" name="text">
            <a:extLst xmlns:a="http://schemas.openxmlformats.org/drawingml/2006/main">
              <a:ext uri="{FF2B5EF4-FFF2-40B4-BE49-F238E27FC236}">
                <a16:creationId xmlns:a16="http://schemas.microsoft.com/office/drawing/2014/main" id="{8FF621CA-072B-45AD-AE6E-3D458D7D3D8D}"/>
              </a:ext>
            </a:extLst>
          </p:cNvPr>
          <p:cNvSpPr>
            <a:spLocks xmlns:a="http://schemas.openxmlformats.org/drawingml/2006/main" noGrp="1"/>
          </p:cNvSpPr>
          <p:nvPr/>
        </p:nvSpPr>
        <p:spPr>
          <a:xfrm xmlns:a="http://schemas.openxmlformats.org/drawingml/2006/main">
            <a:off x="4857750" y="288607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725" b="1">
                <a:solidFill>
                  <a:srgbClr val="087E8B"/>
                </a:solidFill>
                <a:latin typeface="Aptos"/>
                <a:ea typeface="Aptos"/>
                <a:cs typeface="Aptos"/>
              </a:defRPr>
            </a:defPPr>
            <a:lvl1pPr algn="ctr">
              <a:defRPr sz="1725" b="1">
                <a:solidFill>
                  <a:srgbClr val="087E8B"/>
                </a:solidFill>
                <a:latin typeface="Aptos"/>
                <a:ea typeface="Aptos"/>
                <a:cs typeface="Aptos"/>
              </a:defRPr>
            </a:lvl1pPr>
            <a:lvl2pPr algn="ctr">
              <a:defRPr sz="1725" b="1">
                <a:solidFill>
                  <a:srgbClr val="087E8B"/>
                </a:solidFill>
                <a:latin typeface="Aptos"/>
                <a:ea typeface="Aptos"/>
                <a:cs typeface="Aptos"/>
              </a:defRPr>
            </a:lvl2pPr>
            <a:lvl3pPr algn="ctr">
              <a:defRPr sz="1725" b="1">
                <a:solidFill>
                  <a:srgbClr val="087E8B"/>
                </a:solidFill>
                <a:latin typeface="Aptos"/>
                <a:ea typeface="Aptos"/>
                <a:cs typeface="Aptos"/>
              </a:defRPr>
            </a:lvl3pPr>
            <a:lvl4pPr algn="ctr">
              <a:defRPr sz="1725" b="1">
                <a:solidFill>
                  <a:srgbClr val="087E8B"/>
                </a:solidFill>
                <a:latin typeface="Aptos"/>
                <a:ea typeface="Aptos"/>
                <a:cs typeface="Aptos"/>
              </a:defRPr>
            </a:lvl4pPr>
            <a:lvl5pPr algn="ctr">
              <a:defRPr sz="1725" b="1">
                <a:solidFill>
                  <a:srgbClr val="087E8B"/>
                </a:solidFill>
                <a:latin typeface="Aptos"/>
                <a:ea typeface="Aptos"/>
                <a:cs typeface="Aptos"/>
              </a:defRPr>
            </a:lvl5pPr>
            <a:lvl6pPr algn="ctr">
              <a:defRPr sz="1725" b="1">
                <a:solidFill>
                  <a:srgbClr val="087E8B"/>
                </a:solidFill>
                <a:latin typeface="Aptos"/>
                <a:ea typeface="Aptos"/>
                <a:cs typeface="Aptos"/>
              </a:defRPr>
            </a:lvl6pPr>
            <a:lvl7pPr algn="ctr">
              <a:defRPr sz="1725" b="1">
                <a:solidFill>
                  <a:srgbClr val="087E8B"/>
                </a:solidFill>
                <a:latin typeface="Aptos"/>
                <a:ea typeface="Aptos"/>
                <a:cs typeface="Aptos"/>
              </a:defRPr>
            </a:lvl7pPr>
            <a:lvl8pPr algn="ctr">
              <a:defRPr sz="1725" b="1">
                <a:solidFill>
                  <a:srgbClr val="087E8B"/>
                </a:solidFill>
                <a:latin typeface="Aptos"/>
                <a:ea typeface="Aptos"/>
                <a:cs typeface="Aptos"/>
              </a:defRPr>
            </a:lvl8pPr>
            <a:lvl9pPr algn="ctr">
              <a:defRPr sz="1725" b="1">
                <a:solidFill>
                  <a:srgbClr val="087E8B"/>
                </a:solidFill>
                <a:latin typeface="Aptos"/>
                <a:ea typeface="Aptos"/>
                <a:cs typeface="Aptos"/>
              </a:defRPr>
            </a:lvl9pPr>
          </a:lstStyle>
          <a:p xmlns:a="http://schemas.openxmlformats.org/drawingml/2006/main">
            <a:pPr algn="ctr">
              <a:lnSpc>
                <a:spcPct val="108000"/>
              </a:lnSpc>
              <a:buNone/>
              <a:defRPr sz="1725" b="1">
                <a:solidFill>
                  <a:srgbClr val="087E8B"/>
                </a:solidFill>
                <a:latin typeface="Aptos"/>
                <a:ea typeface="Aptos"/>
                <a:cs typeface="Aptos"/>
              </a:defRPr>
            </a:pPr>
            <a:r>
              <a:rPr sz="1725" b="1">
                <a:solidFill>
                  <a:srgbClr val="087E8B"/>
                </a:solidFill>
                <a:latin typeface="Aptos"/>
                <a:ea typeface="Aptos"/>
                <a:cs typeface="Aptos"/>
              </a:rPr>
              <a:t>Transformer detections in this split</a:t>
            </a:r>
          </a:p>
        </p:txBody>
      </p:sp>
      <p:sp>
        <p:nvSpPr>
          <p:cNvPr id="9" name="editable bullet list">
            <a:extLst xmlns:a="http://schemas.openxmlformats.org/drawingml/2006/main">
              <a:ext uri="{FF2B5EF4-FFF2-40B4-BE49-F238E27FC236}">
                <a16:creationId xmlns:a16="http://schemas.microsoft.com/office/drawing/2014/main" id="{F4A55C0F-D633-4822-B91A-E336F0AB53C3}"/>
              </a:ext>
            </a:extLst>
          </p:cNvPr>
          <p:cNvSpPr>
            <a:spLocks xmlns:a="http://schemas.openxmlformats.org/drawingml/2006/main" noGrp="1"/>
          </p:cNvSpPr>
          <p:nvPr/>
        </p:nvSpPr>
        <p:spPr>
          <a:xfrm xmlns:a="http://schemas.openxmlformats.org/drawingml/2006/main">
            <a:off x="819150" y="4019550"/>
            <a:ext cx="10287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a:solidFill>
                  <a:srgbClr val="1E3445"/>
                </a:solidFill>
                <a:latin typeface="Aptos"/>
                <a:ea typeface="Aptos"/>
                <a:cs typeface="Aptos"/>
              </a:defRPr>
            </a:defPPr>
            <a:lvl1pPr algn="l">
              <a:defRPr sz="1650">
                <a:solidFill>
                  <a:srgbClr val="1E3445"/>
                </a:solidFill>
                <a:latin typeface="Aptos"/>
                <a:ea typeface="Aptos"/>
                <a:cs typeface="Aptos"/>
              </a:defRPr>
            </a:lvl1pPr>
            <a:lvl2pPr algn="l">
              <a:defRPr sz="1650">
                <a:solidFill>
                  <a:srgbClr val="1E3445"/>
                </a:solidFill>
                <a:latin typeface="Aptos"/>
                <a:ea typeface="Aptos"/>
                <a:cs typeface="Aptos"/>
              </a:defRPr>
            </a:lvl2pPr>
            <a:lvl3pPr algn="l">
              <a:defRPr sz="1650">
                <a:solidFill>
                  <a:srgbClr val="1E3445"/>
                </a:solidFill>
                <a:latin typeface="Aptos"/>
                <a:ea typeface="Aptos"/>
                <a:cs typeface="Aptos"/>
              </a:defRPr>
            </a:lvl3pPr>
            <a:lvl4pPr algn="l">
              <a:defRPr sz="1650">
                <a:solidFill>
                  <a:srgbClr val="1E3445"/>
                </a:solidFill>
                <a:latin typeface="Aptos"/>
                <a:ea typeface="Aptos"/>
                <a:cs typeface="Aptos"/>
              </a:defRPr>
            </a:lvl4pPr>
            <a:lvl5pPr algn="l">
              <a:defRPr sz="1650">
                <a:solidFill>
                  <a:srgbClr val="1E3445"/>
                </a:solidFill>
                <a:latin typeface="Aptos"/>
                <a:ea typeface="Aptos"/>
                <a:cs typeface="Aptos"/>
              </a:defRPr>
            </a:lvl5pPr>
            <a:lvl6pPr algn="l">
              <a:defRPr sz="1650">
                <a:solidFill>
                  <a:srgbClr val="1E3445"/>
                </a:solidFill>
                <a:latin typeface="Aptos"/>
                <a:ea typeface="Aptos"/>
                <a:cs typeface="Aptos"/>
              </a:defRPr>
            </a:lvl6pPr>
            <a:lvl7pPr algn="l">
              <a:defRPr sz="1650">
                <a:solidFill>
                  <a:srgbClr val="1E3445"/>
                </a:solidFill>
                <a:latin typeface="Aptos"/>
                <a:ea typeface="Aptos"/>
                <a:cs typeface="Aptos"/>
              </a:defRPr>
            </a:lvl7pPr>
            <a:lvl8pPr algn="l">
              <a:defRPr sz="1650">
                <a:solidFill>
                  <a:srgbClr val="1E3445"/>
                </a:solidFill>
                <a:latin typeface="Aptos"/>
                <a:ea typeface="Aptos"/>
                <a:cs typeface="Aptos"/>
              </a:defRPr>
            </a:lvl8pPr>
            <a:lvl9pPr algn="l">
              <a:defRPr sz="165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Infiltration recall = 0.60; F1 = 0.75 for the feature Transformer.</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The result is too small to support a stable rare-attack detection claim.</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The benchmark is sampled historical traffic, not the target network.</a:t>
            </a:r>
          </a:p>
        </p:txBody>
      </p:sp>
    </p:spTree>
    <p:extLst>
      <p:ext uri="{BB962C8B-B14F-4D97-AF65-F5344CB8AC3E}">
        <p14:creationId xmlns:p14="http://schemas.microsoft.com/office/powerpoint/2010/main" val="1423429765"/>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9280B7ED-94A8-4678-8184-7AC13B74E727}"/>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2  /  MODELS AND EVALUATION</a:t>
            </a:r>
          </a:p>
        </p:txBody>
      </p:sp>
      <p:sp>
        <p:nvSpPr>
          <p:cNvPr id="2" name="text">
            <a:extLst xmlns:a="http://schemas.openxmlformats.org/drawingml/2006/main">
              <a:ext uri="{FF2B5EF4-FFF2-40B4-BE49-F238E27FC236}">
                <a16:creationId xmlns:a16="http://schemas.microsoft.com/office/drawing/2014/main" id="{9A4ED82B-F941-4940-8E79-952CEF0597D9}"/>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Temporal results are a different task</a:t>
            </a:r>
          </a:p>
        </p:txBody>
      </p:sp>
      <p:sp>
        <p:nvSpPr>
          <p:cNvPr id="3" name="text">
            <a:extLst xmlns:a="http://schemas.openxmlformats.org/drawingml/2006/main">
              <a:ext uri="{FF2B5EF4-FFF2-40B4-BE49-F238E27FC236}">
                <a16:creationId xmlns:a16="http://schemas.microsoft.com/office/drawing/2014/main" id="{6E139DF5-6347-49F3-95D1-EA69F2800D2C}"/>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25F7129F-07B9-42A7-A47C-64747520D610}"/>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12</a:t>
            </a:r>
          </a:p>
        </p:txBody>
      </p:sp>
      <p:sp>
        <p:nvSpPr>
          <p:cNvPr id="5" name="text">
            <a:extLst xmlns:a="http://schemas.openxmlformats.org/drawingml/2006/main">
              <a:ext uri="{FF2B5EF4-FFF2-40B4-BE49-F238E27FC236}">
                <a16:creationId xmlns:a16="http://schemas.microsoft.com/office/drawing/2014/main" id="{99401093-2B7A-460F-91AA-4CBB860C5471}"/>
              </a:ext>
            </a:extLst>
          </p:cNvPr>
          <p:cNvSpPr>
            <a:spLocks xmlns:a="http://schemas.openxmlformats.org/drawingml/2006/main" noGrp="1"/>
          </p:cNvSpPr>
          <p:nvPr/>
        </p:nvSpPr>
        <p:spPr>
          <a:xfrm xmlns:a="http://schemas.openxmlformats.org/drawingml/2006/main">
            <a:off x="742950" y="14859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087E8B"/>
                </a:solidFill>
                <a:latin typeface="Aptos"/>
                <a:ea typeface="Aptos"/>
                <a:cs typeface="Aptos"/>
              </a:defRPr>
            </a:defPPr>
            <a:lvl1pPr algn="l">
              <a:defRPr sz="1800" b="1">
                <a:solidFill>
                  <a:srgbClr val="087E8B"/>
                </a:solidFill>
                <a:latin typeface="Aptos"/>
                <a:ea typeface="Aptos"/>
                <a:cs typeface="Aptos"/>
              </a:defRPr>
            </a:lvl1pPr>
            <a:lvl2pPr algn="l">
              <a:defRPr sz="1800" b="1">
                <a:solidFill>
                  <a:srgbClr val="087E8B"/>
                </a:solidFill>
                <a:latin typeface="Aptos"/>
                <a:ea typeface="Aptos"/>
                <a:cs typeface="Aptos"/>
              </a:defRPr>
            </a:lvl2pPr>
            <a:lvl3pPr algn="l">
              <a:defRPr sz="1800" b="1">
                <a:solidFill>
                  <a:srgbClr val="087E8B"/>
                </a:solidFill>
                <a:latin typeface="Aptos"/>
                <a:ea typeface="Aptos"/>
                <a:cs typeface="Aptos"/>
              </a:defRPr>
            </a:lvl3pPr>
            <a:lvl4pPr algn="l">
              <a:defRPr sz="1800" b="1">
                <a:solidFill>
                  <a:srgbClr val="087E8B"/>
                </a:solidFill>
                <a:latin typeface="Aptos"/>
                <a:ea typeface="Aptos"/>
                <a:cs typeface="Aptos"/>
              </a:defRPr>
            </a:lvl4pPr>
            <a:lvl5pPr algn="l">
              <a:defRPr sz="1800" b="1">
                <a:solidFill>
                  <a:srgbClr val="087E8B"/>
                </a:solidFill>
                <a:latin typeface="Aptos"/>
                <a:ea typeface="Aptos"/>
                <a:cs typeface="Aptos"/>
              </a:defRPr>
            </a:lvl5pPr>
            <a:lvl6pPr algn="l">
              <a:defRPr sz="1800" b="1">
                <a:solidFill>
                  <a:srgbClr val="087E8B"/>
                </a:solidFill>
                <a:latin typeface="Aptos"/>
                <a:ea typeface="Aptos"/>
                <a:cs typeface="Aptos"/>
              </a:defRPr>
            </a:lvl6pPr>
            <a:lvl7pPr algn="l">
              <a:defRPr sz="1800" b="1">
                <a:solidFill>
                  <a:srgbClr val="087E8B"/>
                </a:solidFill>
                <a:latin typeface="Aptos"/>
                <a:ea typeface="Aptos"/>
                <a:cs typeface="Aptos"/>
              </a:defRPr>
            </a:lvl7pPr>
            <a:lvl8pPr algn="l">
              <a:defRPr sz="1800" b="1">
                <a:solidFill>
                  <a:srgbClr val="087E8B"/>
                </a:solidFill>
                <a:latin typeface="Aptos"/>
                <a:ea typeface="Aptos"/>
                <a:cs typeface="Aptos"/>
              </a:defRPr>
            </a:lvl8pPr>
            <a:lvl9pPr algn="l">
              <a:defRPr sz="1800" b="1">
                <a:solidFill>
                  <a:srgbClr val="087E8B"/>
                </a:solidFill>
                <a:latin typeface="Aptos"/>
                <a:ea typeface="Aptos"/>
                <a:cs typeface="Aptos"/>
              </a:defRPr>
            </a:lvl9pPr>
          </a:lstStyle>
          <a:p xmlns:a="http://schemas.openxmlformats.org/drawingml/2006/main">
            <a:pPr algn="l">
              <a:lnSpc>
                <a:spcPct val="108000"/>
              </a:lnSpc>
              <a:buNone/>
              <a:defRPr sz="1800" b="1">
                <a:solidFill>
                  <a:srgbClr val="087E8B"/>
                </a:solidFill>
                <a:latin typeface="Aptos"/>
                <a:ea typeface="Aptos"/>
                <a:cs typeface="Aptos"/>
              </a:defRPr>
            </a:pPr>
            <a:r>
              <a:rPr sz="1800" b="1">
                <a:solidFill>
                  <a:srgbClr val="087E8B"/>
                </a:solidFill>
                <a:latin typeface="Aptos"/>
                <a:ea typeface="Aptos"/>
                <a:cs typeface="Aptos"/>
              </a:rPr>
              <a:t>Temporal Transformer</a:t>
            </a:r>
          </a:p>
        </p:txBody>
      </p:sp>
      <p:sp>
        <p:nvSpPr>
          <p:cNvPr id="6" name="editable bullet list">
            <a:extLst xmlns:a="http://schemas.openxmlformats.org/drawingml/2006/main">
              <a:ext uri="{FF2B5EF4-FFF2-40B4-BE49-F238E27FC236}">
                <a16:creationId xmlns:a16="http://schemas.microsoft.com/office/drawing/2014/main" id="{AAD26007-B0F2-4B2D-82FC-0DC1015BCA07}"/>
              </a:ext>
            </a:extLst>
          </p:cNvPr>
          <p:cNvSpPr>
            <a:spLocks xmlns:a="http://schemas.openxmlformats.org/drawingml/2006/main" noGrp="1"/>
          </p:cNvSpPr>
          <p:nvPr/>
        </p:nvSpPr>
        <p:spPr>
          <a:xfrm xmlns:a="http://schemas.openxmlformats.org/drawingml/2006/main">
            <a:off x="742950" y="1981200"/>
            <a:ext cx="40957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a:solidFill>
                  <a:srgbClr val="1E3445"/>
                </a:solidFill>
                <a:latin typeface="Aptos"/>
                <a:ea typeface="Aptos"/>
                <a:cs typeface="Aptos"/>
              </a:defRPr>
            </a:defPPr>
            <a:lvl1pPr algn="l">
              <a:defRPr sz="1575">
                <a:solidFill>
                  <a:srgbClr val="1E3445"/>
                </a:solidFill>
                <a:latin typeface="Aptos"/>
                <a:ea typeface="Aptos"/>
                <a:cs typeface="Aptos"/>
              </a:defRPr>
            </a:lvl1pPr>
            <a:lvl2pPr algn="l">
              <a:defRPr sz="1575">
                <a:solidFill>
                  <a:srgbClr val="1E3445"/>
                </a:solidFill>
                <a:latin typeface="Aptos"/>
                <a:ea typeface="Aptos"/>
                <a:cs typeface="Aptos"/>
              </a:defRPr>
            </a:lvl2pPr>
            <a:lvl3pPr algn="l">
              <a:defRPr sz="1575">
                <a:solidFill>
                  <a:srgbClr val="1E3445"/>
                </a:solidFill>
                <a:latin typeface="Aptos"/>
                <a:ea typeface="Aptos"/>
                <a:cs typeface="Aptos"/>
              </a:defRPr>
            </a:lvl3pPr>
            <a:lvl4pPr algn="l">
              <a:defRPr sz="1575">
                <a:solidFill>
                  <a:srgbClr val="1E3445"/>
                </a:solidFill>
                <a:latin typeface="Aptos"/>
                <a:ea typeface="Aptos"/>
                <a:cs typeface="Aptos"/>
              </a:defRPr>
            </a:lvl4pPr>
            <a:lvl5pPr algn="l">
              <a:defRPr sz="1575">
                <a:solidFill>
                  <a:srgbClr val="1E3445"/>
                </a:solidFill>
                <a:latin typeface="Aptos"/>
                <a:ea typeface="Aptos"/>
                <a:cs typeface="Aptos"/>
              </a:defRPr>
            </a:lvl5pPr>
            <a:lvl6pPr algn="l">
              <a:defRPr sz="1575">
                <a:solidFill>
                  <a:srgbClr val="1E3445"/>
                </a:solidFill>
                <a:latin typeface="Aptos"/>
                <a:ea typeface="Aptos"/>
                <a:cs typeface="Aptos"/>
              </a:defRPr>
            </a:lvl6pPr>
            <a:lvl7pPr algn="l">
              <a:defRPr sz="1575">
                <a:solidFill>
                  <a:srgbClr val="1E3445"/>
                </a:solidFill>
                <a:latin typeface="Aptos"/>
                <a:ea typeface="Aptos"/>
                <a:cs typeface="Aptos"/>
              </a:defRPr>
            </a:lvl7pPr>
            <a:lvl8pPr algn="l">
              <a:defRPr sz="1575">
                <a:solidFill>
                  <a:srgbClr val="1E3445"/>
                </a:solidFill>
                <a:latin typeface="Aptos"/>
                <a:ea typeface="Aptos"/>
                <a:cs typeface="Aptos"/>
              </a:defRPr>
            </a:lvl8pPr>
            <a:lvl9pPr algn="l">
              <a:defRPr sz="1575">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575">
                <a:solidFill>
                  <a:srgbClr val="1E3445"/>
                </a:solidFill>
                <a:latin typeface="Aptos"/>
                <a:ea typeface="Aptos"/>
                <a:cs typeface="Aptos"/>
              </a:defRPr>
            </a:pPr>
            <a:r>
              <a:rPr sz="1575">
                <a:solidFill>
                  <a:srgbClr val="1E3445"/>
                </a:solidFill>
                <a:latin typeface="Aptos"/>
                <a:ea typeface="Aptos"/>
                <a:cs typeface="Aptos"/>
              </a:rPr>
              <a:t>196 held-out endpoints from non-overlapping eight-flow windows</a:t>
            </a:r>
          </a:p>
          <a:p xmlns:a="http://schemas.openxmlformats.org/drawingml/2006/main">
            <a:pPr marL="279400" indent="-139700" algn="l">
              <a:lnSpc>
                <a:spcPct val="115000"/>
              </a:lnSpc>
              <a:spcAft>
                <a:spcPts val="1200"/>
              </a:spcAft>
              <a:buNone/>
              <a:defRPr sz="1575">
                <a:solidFill>
                  <a:srgbClr val="1E3445"/>
                </a:solidFill>
                <a:latin typeface="Aptos"/>
                <a:ea typeface="Aptos"/>
                <a:cs typeface="Aptos"/>
              </a:defRPr>
            </a:pPr>
            <a:r>
              <a:rPr sz="1575">
                <a:solidFill>
                  <a:srgbClr val="1E3445"/>
                </a:solidFill>
                <a:latin typeface="Aptos"/>
                <a:ea typeface="Aptos"/>
                <a:cs typeface="Aptos"/>
              </a:rPr>
              <a:t>Accuracy 93.88%; seven-label macro-F1 0.8003</a:t>
            </a:r>
          </a:p>
          <a:p xmlns:a="http://schemas.openxmlformats.org/drawingml/2006/main">
            <a:pPr marL="279400" indent="-139700" algn="l">
              <a:lnSpc>
                <a:spcPct val="115000"/>
              </a:lnSpc>
              <a:spcAft>
                <a:spcPts val="1200"/>
              </a:spcAft>
              <a:buNone/>
              <a:defRPr sz="1575">
                <a:solidFill>
                  <a:srgbClr val="1E3445"/>
                </a:solidFill>
                <a:latin typeface="Aptos"/>
                <a:ea typeface="Aptos"/>
                <a:cs typeface="Aptos"/>
              </a:defRPr>
            </a:pPr>
            <a:r>
              <a:rPr sz="1575">
                <a:solidFill>
                  <a:srgbClr val="1E3445"/>
                </a:solidFill>
                <a:latin typeface="Aptos"/>
                <a:ea typeface="Aptos"/>
                <a:cs typeface="Aptos"/>
              </a:rPr>
              <a:t>No Infiltration endpoint and only six Benign endpoints</a:t>
            </a:r>
          </a:p>
          <a:p xmlns:a="http://schemas.openxmlformats.org/drawingml/2006/main">
            <a:pPr marL="279400" indent="-139700" algn="l">
              <a:lnSpc>
                <a:spcPct val="115000"/>
              </a:lnSpc>
              <a:spcAft>
                <a:spcPts val="1200"/>
              </a:spcAft>
              <a:buNone/>
              <a:defRPr sz="1575">
                <a:solidFill>
                  <a:srgbClr val="1E3445"/>
                </a:solidFill>
                <a:latin typeface="Aptos"/>
                <a:ea typeface="Aptos"/>
                <a:cs typeface="Aptos"/>
              </a:defRPr>
            </a:pPr>
            <a:r>
              <a:rPr sz="1575">
                <a:solidFill>
                  <a:srgbClr val="1E3445"/>
                </a:solidFill>
                <a:latin typeface="Aptos"/>
                <a:ea typeface="Aptos"/>
                <a:cs typeface="Aptos"/>
              </a:rPr>
              <a:t>Different prediction rows from the individual-flow benchmark</a:t>
            </a:r>
          </a:p>
        </p:txBody>
      </p:sp>
      <p:pic>
        <p:nvPicPr>
          <p:cNvPr id="7" name="">
            <a:extLst xmlns:a="http://schemas.openxmlformats.org/drawingml/2006/main">
              <a:ext uri="{FF2B5EF4-FFF2-40B4-BE49-F238E27FC236}">
                <a16:creationId xmlns:a16="http://schemas.microsoft.com/office/drawing/2014/main" id="{1FBC6405-5FBE-47FA-907B-41662444A695}"/>
              </a:ext>
            </a:extLst>
          </p:cNvPr>
          <p:cNvPicPr>
            <a:picLocks xmlns:a="http://schemas.openxmlformats.org/drawingml/2006/main" noChangeAspect="1"/>
          </p:cNvPicPr>
          <p:nvPr/>
        </p:nvPicPr>
        <p:blipFill>
          <a:blip xmlns:r="http://schemas.openxmlformats.org/officeDocument/2006/relationships" xmlns:a="http://schemas.openxmlformats.org/drawingml/2006/main" r:embed="Ra181453c16d14e94"/>
          <a:stretch xmlns:a="http://schemas.openxmlformats.org/drawingml/2006/main"/>
        </p:blipFill>
        <p:spPr>
          <a:xfrm xmlns:a="http://schemas.openxmlformats.org/drawingml/2006/main">
            <a:off x="5556250" y="1581150"/>
            <a:ext cx="5461000" cy="40957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080E6D2-10FB-4DA3-A71A-6CDA680E50AA}"/>
              </a:ext>
            </a:extLst>
          </p:cNvPr>
          <p:cNvSpPr>
            <a:spLocks xmlns:a="http://schemas.openxmlformats.org/drawingml/2006/main" noGrp="1"/>
          </p:cNvSpPr>
          <p:nvPr/>
        </p:nvSpPr>
        <p:spPr>
          <a:xfrm xmlns:a="http://schemas.openxmlformats.org/drawingml/2006/main">
            <a:off x="742950" y="58293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536878"/>
                </a:solidFill>
                <a:latin typeface="Aptos"/>
                <a:ea typeface="Aptos"/>
                <a:cs typeface="Aptos"/>
              </a:defRPr>
            </a:defPPr>
            <a:lvl1pPr algn="l">
              <a:defRPr sz="1200" b="0">
                <a:solidFill>
                  <a:srgbClr val="536878"/>
                </a:solidFill>
                <a:latin typeface="Aptos"/>
                <a:ea typeface="Aptos"/>
                <a:cs typeface="Aptos"/>
              </a:defRPr>
            </a:lvl1pPr>
            <a:lvl2pPr algn="l">
              <a:defRPr sz="1200" b="0">
                <a:solidFill>
                  <a:srgbClr val="536878"/>
                </a:solidFill>
                <a:latin typeface="Aptos"/>
                <a:ea typeface="Aptos"/>
                <a:cs typeface="Aptos"/>
              </a:defRPr>
            </a:lvl2pPr>
            <a:lvl3pPr algn="l">
              <a:defRPr sz="1200" b="0">
                <a:solidFill>
                  <a:srgbClr val="536878"/>
                </a:solidFill>
                <a:latin typeface="Aptos"/>
                <a:ea typeface="Aptos"/>
                <a:cs typeface="Aptos"/>
              </a:defRPr>
            </a:lvl3pPr>
            <a:lvl4pPr algn="l">
              <a:defRPr sz="1200" b="0">
                <a:solidFill>
                  <a:srgbClr val="536878"/>
                </a:solidFill>
                <a:latin typeface="Aptos"/>
                <a:ea typeface="Aptos"/>
                <a:cs typeface="Aptos"/>
              </a:defRPr>
            </a:lvl4pPr>
            <a:lvl5pPr algn="l">
              <a:defRPr sz="1200" b="0">
                <a:solidFill>
                  <a:srgbClr val="536878"/>
                </a:solidFill>
                <a:latin typeface="Aptos"/>
                <a:ea typeface="Aptos"/>
                <a:cs typeface="Aptos"/>
              </a:defRPr>
            </a:lvl5pPr>
            <a:lvl6pPr algn="l">
              <a:defRPr sz="1200" b="0">
                <a:solidFill>
                  <a:srgbClr val="536878"/>
                </a:solidFill>
                <a:latin typeface="Aptos"/>
                <a:ea typeface="Aptos"/>
                <a:cs typeface="Aptos"/>
              </a:defRPr>
            </a:lvl6pPr>
            <a:lvl7pPr algn="l">
              <a:defRPr sz="1200" b="0">
                <a:solidFill>
                  <a:srgbClr val="536878"/>
                </a:solidFill>
                <a:latin typeface="Aptos"/>
                <a:ea typeface="Aptos"/>
                <a:cs typeface="Aptos"/>
              </a:defRPr>
            </a:lvl7pPr>
            <a:lvl8pPr algn="l">
              <a:defRPr sz="1200" b="0">
                <a:solidFill>
                  <a:srgbClr val="536878"/>
                </a:solidFill>
                <a:latin typeface="Aptos"/>
                <a:ea typeface="Aptos"/>
                <a:cs typeface="Aptos"/>
              </a:defRPr>
            </a:lvl8pPr>
            <a:lvl9pPr algn="l">
              <a:defRPr sz="1200" b="0">
                <a:solidFill>
                  <a:srgbClr val="536878"/>
                </a:solidFill>
                <a:latin typeface="Aptos"/>
                <a:ea typeface="Aptos"/>
                <a:cs typeface="Aptos"/>
              </a:defRPr>
            </a:lvl9pPr>
          </a:lstStyle>
          <a:p xmlns:a="http://schemas.openxmlformats.org/drawingml/2006/main">
            <a:pPr algn="l">
              <a:lnSpc>
                <a:spcPct val="108000"/>
              </a:lnSpc>
              <a:buNone/>
              <a:defRPr sz="1200" b="0">
                <a:solidFill>
                  <a:srgbClr val="536878"/>
                </a:solidFill>
                <a:latin typeface="Aptos"/>
                <a:ea typeface="Aptos"/>
                <a:cs typeface="Aptos"/>
              </a:defRPr>
            </a:pPr>
            <a:r>
              <a:rPr sz="1200" b="0">
                <a:solidFill>
                  <a:srgbClr val="536878"/>
                </a:solidFill>
                <a:latin typeface="Aptos"/>
                <a:ea typeface="Aptos"/>
                <a:cs typeface="Aptos"/>
              </a:rPr>
              <a:t>The empty Infiltration row is an evaluation gap, not a zero-error result.</a:t>
            </a:r>
          </a:p>
        </p:txBody>
      </p:sp>
    </p:spTree>
    <p:extLst>
      <p:ext uri="{BB962C8B-B14F-4D97-AF65-F5344CB8AC3E}">
        <p14:creationId xmlns:p14="http://schemas.microsoft.com/office/powerpoint/2010/main" val="2025615134"/>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9559BD2D-FFB1-4D80-8D53-C684A618E408}"/>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3  /  EXTENSIONS AND PROJECT DEMO</a:t>
            </a:r>
          </a:p>
        </p:txBody>
      </p:sp>
      <p:sp>
        <p:nvSpPr>
          <p:cNvPr id="2" name="text">
            <a:extLst xmlns:a="http://schemas.openxmlformats.org/drawingml/2006/main">
              <a:ext uri="{FF2B5EF4-FFF2-40B4-BE49-F238E27FC236}">
                <a16:creationId xmlns:a16="http://schemas.microsoft.com/office/drawing/2014/main" id="{34B6A520-2FCE-4059-80EC-7955C9336DC7}"/>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Context models add network signals</a:t>
            </a:r>
          </a:p>
        </p:txBody>
      </p:sp>
      <p:sp>
        <p:nvSpPr>
          <p:cNvPr id="3" name="text">
            <a:extLst xmlns:a="http://schemas.openxmlformats.org/drawingml/2006/main">
              <a:ext uri="{FF2B5EF4-FFF2-40B4-BE49-F238E27FC236}">
                <a16:creationId xmlns:a16="http://schemas.microsoft.com/office/drawing/2014/main" id="{71F9EC88-DBAF-44BD-BCA6-9908563E1020}"/>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A3FE86BB-97E3-4560-95D6-2549C2EB287A}"/>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13</a:t>
            </a:r>
          </a:p>
        </p:txBody>
      </p:sp>
      <p:sp>
        <p:nvSpPr>
          <p:cNvPr id="5" name="text">
            <a:extLst xmlns:a="http://schemas.openxmlformats.org/drawingml/2006/main">
              <a:ext uri="{FF2B5EF4-FFF2-40B4-BE49-F238E27FC236}">
                <a16:creationId xmlns:a16="http://schemas.microsoft.com/office/drawing/2014/main" id="{EDD840EF-966E-4538-9E27-A99D374D2AD1}"/>
              </a:ext>
            </a:extLst>
          </p:cNvPr>
          <p:cNvSpPr>
            <a:spLocks xmlns:a="http://schemas.openxmlformats.org/drawingml/2006/main" noGrp="1"/>
          </p:cNvSpPr>
          <p:nvPr/>
        </p:nvSpPr>
        <p:spPr>
          <a:xfrm xmlns:a="http://schemas.openxmlformats.org/drawingml/2006/main">
            <a:off x="742950" y="14668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536878"/>
                </a:solidFill>
                <a:latin typeface="Aptos"/>
                <a:ea typeface="Aptos"/>
                <a:cs typeface="Aptos"/>
              </a:defRPr>
            </a:defPPr>
            <a:lvl1pPr algn="l">
              <a:defRPr sz="1650" b="1">
                <a:solidFill>
                  <a:srgbClr val="536878"/>
                </a:solidFill>
                <a:latin typeface="Aptos"/>
                <a:ea typeface="Aptos"/>
                <a:cs typeface="Aptos"/>
              </a:defRPr>
            </a:lvl1pPr>
            <a:lvl2pPr algn="l">
              <a:defRPr sz="1650" b="1">
                <a:solidFill>
                  <a:srgbClr val="536878"/>
                </a:solidFill>
                <a:latin typeface="Aptos"/>
                <a:ea typeface="Aptos"/>
                <a:cs typeface="Aptos"/>
              </a:defRPr>
            </a:lvl2pPr>
            <a:lvl3pPr algn="l">
              <a:defRPr sz="1650" b="1">
                <a:solidFill>
                  <a:srgbClr val="536878"/>
                </a:solidFill>
                <a:latin typeface="Aptos"/>
                <a:ea typeface="Aptos"/>
                <a:cs typeface="Aptos"/>
              </a:defRPr>
            </a:lvl3pPr>
            <a:lvl4pPr algn="l">
              <a:defRPr sz="1650" b="1">
                <a:solidFill>
                  <a:srgbClr val="536878"/>
                </a:solidFill>
                <a:latin typeface="Aptos"/>
                <a:ea typeface="Aptos"/>
                <a:cs typeface="Aptos"/>
              </a:defRPr>
            </a:lvl4pPr>
            <a:lvl5pPr algn="l">
              <a:defRPr sz="1650" b="1">
                <a:solidFill>
                  <a:srgbClr val="536878"/>
                </a:solidFill>
                <a:latin typeface="Aptos"/>
                <a:ea typeface="Aptos"/>
                <a:cs typeface="Aptos"/>
              </a:defRPr>
            </a:lvl5pPr>
            <a:lvl6pPr algn="l">
              <a:defRPr sz="1650" b="1">
                <a:solidFill>
                  <a:srgbClr val="536878"/>
                </a:solidFill>
                <a:latin typeface="Aptos"/>
                <a:ea typeface="Aptos"/>
                <a:cs typeface="Aptos"/>
              </a:defRPr>
            </a:lvl6pPr>
            <a:lvl7pPr algn="l">
              <a:defRPr sz="1650" b="1">
                <a:solidFill>
                  <a:srgbClr val="536878"/>
                </a:solidFill>
                <a:latin typeface="Aptos"/>
                <a:ea typeface="Aptos"/>
                <a:cs typeface="Aptos"/>
              </a:defRPr>
            </a:lvl7pPr>
            <a:lvl8pPr algn="l">
              <a:defRPr sz="1650" b="1">
                <a:solidFill>
                  <a:srgbClr val="536878"/>
                </a:solidFill>
                <a:latin typeface="Aptos"/>
                <a:ea typeface="Aptos"/>
                <a:cs typeface="Aptos"/>
              </a:defRPr>
            </a:lvl8pPr>
            <a:lvl9pPr algn="l">
              <a:defRPr sz="1650" b="1">
                <a:solidFill>
                  <a:srgbClr val="536878"/>
                </a:solidFill>
                <a:latin typeface="Aptos"/>
                <a:ea typeface="Aptos"/>
                <a:cs typeface="Aptos"/>
              </a:defRPr>
            </a:lvl9pPr>
          </a:lstStyle>
          <a:p xmlns:a="http://schemas.openxmlformats.org/drawingml/2006/main">
            <a:pPr algn="l">
              <a:lnSpc>
                <a:spcPct val="108000"/>
              </a:lnSpc>
              <a:buNone/>
              <a:defRPr sz="1650" b="1">
                <a:solidFill>
                  <a:srgbClr val="536878"/>
                </a:solidFill>
                <a:latin typeface="Aptos"/>
                <a:ea typeface="Aptos"/>
                <a:cs typeface="Aptos"/>
              </a:defRPr>
            </a:pPr>
            <a:r>
              <a:rPr sz="1650" b="1">
                <a:solidFill>
                  <a:srgbClr val="536878"/>
                </a:solidFill>
                <a:latin typeface="Aptos"/>
                <a:ea typeface="Aptos"/>
                <a:cs typeface="Aptos"/>
              </a:rPr>
              <a:t>Advanced individual-flow experiment</a:t>
            </a:r>
          </a:p>
        </p:txBody>
      </p:sp>
      <p:graphicFrame>
        <p:nvGraphicFramePr>
          <p:cNvPr id="6" name="">
            <a:extLst xmlns:a="http://schemas.openxmlformats.org/drawingml/2006/main">
              <a:ext uri="{FF2B5EF4-FFF2-40B4-BE49-F238E27FC236}">
                <a16:creationId xmlns:a16="http://schemas.microsoft.com/office/drawing/2014/main" id="{21201C40-901B-48E1-BDDB-2D2E722E1F48}"/>
              </a:ext>
            </a:extLst>
          </p:cNvPr>
          <p:cNvGraphicFramePr/>
          <p:nvPr/>
        </p:nvGraphicFramePr>
        <p:xfrm>
          <a:off xmlns:a="http://schemas.openxmlformats.org/drawingml/2006/main" x="666750" y="1885950"/>
          <a:ext xmlns:a="http://schemas.openxmlformats.org/drawingml/2006/main" cx="10858500" cy="2952750"/>
        </p:xfrm>
        <a:graphic xmlns:a="http://schemas.openxmlformats.org/drawingml/2006/main">
          <a:graphicData uri="http://schemas.openxmlformats.org/drawingml/2006/table">
            <a:tbl>
              <a:tblPr firstRow="1" bandRow="1"/>
              <a:tblGrid>
                <a:gridCol w="2714625"/>
                <a:gridCol w="2714625"/>
                <a:gridCol w="2714625"/>
                <a:gridCol w="2714625"/>
              </a:tblGrid>
              <a:tr h="590550">
                <a:tc>
                  <a:txBody>
                    <a:bodyPr>
                      <a:normAutofit/>
                    </a:bodyPr>
                    <a:lstStyle/>
                    <a:p>
                      <a:pPr algn="l"/>
                      <a:r>
                        <a:rPr sz="1425" b="1">
                          <a:solidFill>
                            <a:srgbClr val="FFFFFF"/>
                          </a:solidFill>
                          <a:latin typeface="Aptos"/>
                          <a:ea typeface="Aptos"/>
                          <a:cs typeface="Aptos"/>
                        </a:rPr>
                        <a:t>Model</a:t>
                      </a:r>
                    </a:p>
                  </a:txBody>
                  <a:tcPr marL="91440" marR="91440" marT="45720" marB="45720" anchor="ctr">
                    <a:lnL w="9525">
                      <a:solidFill>
                        <a:srgbClr val="D7E0E6"/>
                      </a:solidFill>
                      <a:prstDash val="solid"/>
                    </a:lnL>
                    <a:lnR w="9525">
                      <a:solidFill>
                        <a:srgbClr val="D7E0E6"/>
                      </a:solidFill>
                      <a:prstDash val="solid"/>
                    </a:lnR>
                    <a:lnT w="9525">
                      <a:solidFill>
                        <a:srgbClr val="D7E0E6"/>
                      </a:solidFill>
                      <a:prstDash val="solid"/>
                    </a:lnT>
                    <a:lnB w="9525">
                      <a:solidFill>
                        <a:srgbClr val="D7E0E6"/>
                      </a:solidFill>
                      <a:prstDash val="solid"/>
                    </a:lnB>
                    <a:solidFill>
                      <a:srgbClr val="102A43"/>
                    </a:solidFill>
                  </a:tcPr>
                </a:tc>
                <a:tc>
                  <a:txBody>
                    <a:bodyPr>
                      <a:normAutofit/>
                    </a:bodyPr>
                    <a:lstStyle/>
                    <a:p>
                      <a:pPr algn="ctr"/>
                      <a:r>
                        <a:rPr sz="1425" b="1">
                          <a:solidFill>
                            <a:srgbClr val="FFFFFF"/>
                          </a:solidFill>
                          <a:latin typeface="Aptos"/>
                          <a:ea typeface="Aptos"/>
                          <a:cs typeface="Aptos"/>
                        </a:rPr>
                        <a:t>Accuracy</a:t>
                      </a:r>
                    </a:p>
                  </a:txBody>
                  <a:tcPr marL="91440" marR="91440" marT="45720" marB="45720" anchor="ctr">
                    <a:lnR w="9525">
                      <a:solidFill>
                        <a:srgbClr val="D7E0E6"/>
                      </a:solidFill>
                      <a:prstDash val="solid"/>
                    </a:lnR>
                    <a:lnT w="9525">
                      <a:solidFill>
                        <a:srgbClr val="D7E0E6"/>
                      </a:solidFill>
                      <a:prstDash val="solid"/>
                    </a:lnT>
                    <a:lnB w="9525">
                      <a:solidFill>
                        <a:srgbClr val="D7E0E6"/>
                      </a:solidFill>
                      <a:prstDash val="solid"/>
                    </a:lnB>
                    <a:solidFill>
                      <a:srgbClr val="102A43"/>
                    </a:solidFill>
                  </a:tcPr>
                </a:tc>
                <a:tc>
                  <a:txBody>
                    <a:bodyPr>
                      <a:normAutofit/>
                    </a:bodyPr>
                    <a:lstStyle/>
                    <a:p>
                      <a:pPr algn="ctr"/>
                      <a:r>
                        <a:rPr sz="1425" b="1">
                          <a:solidFill>
                            <a:srgbClr val="FFFFFF"/>
                          </a:solidFill>
                          <a:latin typeface="Aptos"/>
                          <a:ea typeface="Aptos"/>
                          <a:cs typeface="Aptos"/>
                        </a:rPr>
                        <a:t>Macro-F1</a:t>
                      </a:r>
                    </a:p>
                  </a:txBody>
                  <a:tcPr marL="91440" marR="91440" marT="45720" marB="45720" anchor="ctr">
                    <a:lnR w="9525">
                      <a:solidFill>
                        <a:srgbClr val="D7E0E6"/>
                      </a:solidFill>
                      <a:prstDash val="solid"/>
                    </a:lnR>
                    <a:lnT w="9525">
                      <a:solidFill>
                        <a:srgbClr val="D7E0E6"/>
                      </a:solidFill>
                      <a:prstDash val="solid"/>
                    </a:lnT>
                    <a:lnB w="9525">
                      <a:solidFill>
                        <a:srgbClr val="D7E0E6"/>
                      </a:solidFill>
                      <a:prstDash val="solid"/>
                    </a:lnB>
                    <a:solidFill>
                      <a:srgbClr val="102A43"/>
                    </a:solidFill>
                  </a:tcPr>
                </a:tc>
                <a:tc>
                  <a:txBody>
                    <a:bodyPr>
                      <a:normAutofit/>
                    </a:bodyPr>
                    <a:lstStyle/>
                    <a:p>
                      <a:pPr algn="ctr"/>
                      <a:r>
                        <a:rPr sz="1425" b="1">
                          <a:solidFill>
                            <a:srgbClr val="FFFFFF"/>
                          </a:solidFill>
                          <a:latin typeface="Aptos"/>
                          <a:ea typeface="Aptos"/>
                          <a:cs typeface="Aptos"/>
                        </a:rPr>
                        <a:t>Rows</a:t>
                      </a:r>
                    </a:p>
                  </a:txBody>
                  <a:tcPr marL="91440" marR="91440" marT="45720" marB="45720" anchor="ctr">
                    <a:lnR w="9525">
                      <a:solidFill>
                        <a:srgbClr val="D7E0E6"/>
                      </a:solidFill>
                      <a:prstDash val="solid"/>
                    </a:lnR>
                    <a:lnT w="9525">
                      <a:solidFill>
                        <a:srgbClr val="D7E0E6"/>
                      </a:solidFill>
                      <a:prstDash val="solid"/>
                    </a:lnT>
                    <a:lnB w="9525">
                      <a:solidFill>
                        <a:srgbClr val="D7E0E6"/>
                      </a:solidFill>
                      <a:prstDash val="solid"/>
                    </a:lnB>
                    <a:solidFill>
                      <a:srgbClr val="102A43"/>
                    </a:solidFill>
                  </a:tcPr>
                </a:tc>
              </a:tr>
              <a:tr h="590550">
                <a:tc>
                  <a:txBody>
                    <a:bodyPr>
                      <a:normAutofit/>
                    </a:bodyPr>
                    <a:lstStyle/>
                    <a:p>
                      <a:pPr algn="l"/>
                      <a:r>
                        <a:rPr sz="1500" b="0">
                          <a:solidFill>
                            <a:srgbClr val="1E3445"/>
                          </a:solidFill>
                          <a:latin typeface="Aptos"/>
                          <a:ea typeface="Aptos"/>
                          <a:cs typeface="Aptos"/>
                        </a:rPr>
                        <a:t>BERTStyleEncoder</a:t>
                      </a:r>
                    </a:p>
                  </a:txBody>
                  <a:tcPr marL="91440" marR="91440" marT="45720" marB="45720" anchor="ctr">
                    <a:lnL w="9525">
                      <a:solidFill>
                        <a:srgbClr val="D7E0E6"/>
                      </a:solidFill>
                      <a:prstDash val="solid"/>
                    </a:lnL>
                    <a:lnR w="9525">
                      <a:solidFill>
                        <a:srgbClr val="D7E0E6"/>
                      </a:solidFill>
                      <a:prstDash val="solid"/>
                    </a:lnR>
                    <a:lnB w="9525">
                      <a:solidFill>
                        <a:srgbClr val="D7E0E6"/>
                      </a:solidFill>
                      <a:prstDash val="solid"/>
                    </a:lnB>
                    <a:solidFill>
                      <a:srgbClr val="FFFFFF"/>
                    </a:solidFill>
                  </a:tcPr>
                </a:tc>
                <a:tc>
                  <a:txBody>
                    <a:bodyPr>
                      <a:normAutofit/>
                    </a:bodyPr>
                    <a:lstStyle/>
                    <a:p>
                      <a:pPr algn="ctr"/>
                      <a:r>
                        <a:rPr sz="1500" b="0">
                          <a:solidFill>
                            <a:srgbClr val="1E3445"/>
                          </a:solidFill>
                          <a:latin typeface="Aptos"/>
                          <a:ea typeface="Aptos"/>
                          <a:cs typeface="Aptos"/>
                        </a:rPr>
                        <a:t>97.19%</a:t>
                      </a:r>
                    </a:p>
                  </a:txBody>
                  <a:tcPr marL="91440" marR="91440" marT="45720" marB="45720" anchor="ctr">
                    <a:lnR w="9525">
                      <a:solidFill>
                        <a:srgbClr val="D7E0E6"/>
                      </a:solidFill>
                      <a:prstDash val="solid"/>
                    </a:lnR>
                    <a:lnB w="9525">
                      <a:solidFill>
                        <a:srgbClr val="D7E0E6"/>
                      </a:solidFill>
                      <a:prstDash val="solid"/>
                    </a:lnB>
                    <a:solidFill>
                      <a:srgbClr val="FFFFFF"/>
                    </a:solidFill>
                  </a:tcPr>
                </a:tc>
                <a:tc>
                  <a:txBody>
                    <a:bodyPr>
                      <a:normAutofit/>
                    </a:bodyPr>
                    <a:lstStyle/>
                    <a:p>
                      <a:pPr algn="ctr"/>
                      <a:r>
                        <a:rPr sz="1500" b="0">
                          <a:solidFill>
                            <a:srgbClr val="1E3445"/>
                          </a:solidFill>
                          <a:latin typeface="Aptos"/>
                          <a:ea typeface="Aptos"/>
                          <a:cs typeface="Aptos"/>
                        </a:rPr>
                        <a:t>0.9111</a:t>
                      </a:r>
                    </a:p>
                  </a:txBody>
                  <a:tcPr marL="91440" marR="91440" marT="45720" marB="45720" anchor="ctr">
                    <a:lnR w="9525">
                      <a:solidFill>
                        <a:srgbClr val="D7E0E6"/>
                      </a:solidFill>
                      <a:prstDash val="solid"/>
                    </a:lnR>
                    <a:lnB w="9525">
                      <a:solidFill>
                        <a:srgbClr val="D7E0E6"/>
                      </a:solidFill>
                      <a:prstDash val="solid"/>
                    </a:lnB>
                    <a:solidFill>
                      <a:srgbClr val="FFFFFF"/>
                    </a:solidFill>
                  </a:tcPr>
                </a:tc>
                <a:tc>
                  <a:txBody>
                    <a:bodyPr>
                      <a:normAutofit/>
                    </a:bodyPr>
                    <a:lstStyle/>
                    <a:p>
                      <a:pPr algn="ctr"/>
                      <a:r>
                        <a:rPr sz="1500" b="0">
                          <a:solidFill>
                            <a:srgbClr val="1E3445"/>
                          </a:solidFill>
                          <a:latin typeface="Aptos"/>
                          <a:ea typeface="Aptos"/>
                          <a:cs typeface="Aptos"/>
                        </a:rPr>
                        <a:t>3,526</a:t>
                      </a:r>
                    </a:p>
                  </a:txBody>
                  <a:tcPr marL="91440" marR="91440" marT="45720" marB="45720" anchor="ctr">
                    <a:lnR w="9525">
                      <a:solidFill>
                        <a:srgbClr val="D7E0E6"/>
                      </a:solidFill>
                      <a:prstDash val="solid"/>
                    </a:lnR>
                    <a:lnB w="9525">
                      <a:solidFill>
                        <a:srgbClr val="D7E0E6"/>
                      </a:solidFill>
                      <a:prstDash val="solid"/>
                    </a:lnB>
                    <a:solidFill>
                      <a:srgbClr val="FFFFFF"/>
                    </a:solidFill>
                  </a:tcPr>
                </a:tc>
              </a:tr>
              <a:tr h="590550">
                <a:tc>
                  <a:txBody>
                    <a:bodyPr>
                      <a:normAutofit/>
                    </a:bodyPr>
                    <a:lstStyle/>
                    <a:p>
                      <a:pPr algn="l"/>
                      <a:r>
                        <a:rPr sz="1500" b="0">
                          <a:solidFill>
                            <a:srgbClr val="1E3445"/>
                          </a:solidFill>
                          <a:latin typeface="Aptos"/>
                          <a:ea typeface="Aptos"/>
                          <a:cs typeface="Aptos"/>
                        </a:rPr>
                        <a:t>TabTransformer</a:t>
                      </a:r>
                    </a:p>
                  </a:txBody>
                  <a:tcPr marL="91440" marR="91440" marT="45720" marB="45720" anchor="ctr">
                    <a:lnL w="9525">
                      <a:solidFill>
                        <a:srgbClr val="D7E0E6"/>
                      </a:solidFill>
                      <a:prstDash val="solid"/>
                    </a:lnL>
                    <a:lnR w="9525">
                      <a:solidFill>
                        <a:srgbClr val="D7E0E6"/>
                      </a:solidFill>
                      <a:prstDash val="solid"/>
                    </a:lnR>
                    <a:lnB w="9525">
                      <a:solidFill>
                        <a:srgbClr val="D7E0E6"/>
                      </a:solidFill>
                      <a:prstDash val="solid"/>
                    </a:lnB>
                    <a:solidFill>
                      <a:srgbClr val="EEF4F7"/>
                    </a:solidFill>
                  </a:tcPr>
                </a:tc>
                <a:tc>
                  <a:txBody>
                    <a:bodyPr>
                      <a:normAutofit/>
                    </a:bodyPr>
                    <a:lstStyle/>
                    <a:p>
                      <a:pPr algn="ctr"/>
                      <a:r>
                        <a:rPr sz="1500" b="0">
                          <a:solidFill>
                            <a:srgbClr val="1E3445"/>
                          </a:solidFill>
                          <a:latin typeface="Aptos"/>
                          <a:ea typeface="Aptos"/>
                          <a:cs typeface="Aptos"/>
                        </a:rPr>
                        <a:t>95.09%</a:t>
                      </a:r>
                    </a:p>
                  </a:txBody>
                  <a:tcPr marL="91440" marR="91440" marT="45720" marB="45720" anchor="ctr">
                    <a:lnR w="9525">
                      <a:solidFill>
                        <a:srgbClr val="D7E0E6"/>
                      </a:solidFill>
                      <a:prstDash val="solid"/>
                    </a:lnR>
                    <a:lnB w="9525">
                      <a:solidFill>
                        <a:srgbClr val="D7E0E6"/>
                      </a:solidFill>
                      <a:prstDash val="solid"/>
                    </a:lnB>
                    <a:solidFill>
                      <a:srgbClr val="EEF4F7"/>
                    </a:solidFill>
                  </a:tcPr>
                </a:tc>
                <a:tc>
                  <a:txBody>
                    <a:bodyPr>
                      <a:normAutofit/>
                    </a:bodyPr>
                    <a:lstStyle/>
                    <a:p>
                      <a:pPr algn="ctr"/>
                      <a:r>
                        <a:rPr sz="1500" b="0">
                          <a:solidFill>
                            <a:srgbClr val="1E3445"/>
                          </a:solidFill>
                          <a:latin typeface="Aptos"/>
                          <a:ea typeface="Aptos"/>
                          <a:cs typeface="Aptos"/>
                        </a:rPr>
                        <a:t>0.8647</a:t>
                      </a:r>
                    </a:p>
                  </a:txBody>
                  <a:tcPr marL="91440" marR="91440" marT="45720" marB="45720" anchor="ctr">
                    <a:lnR w="9525">
                      <a:solidFill>
                        <a:srgbClr val="D7E0E6"/>
                      </a:solidFill>
                      <a:prstDash val="solid"/>
                    </a:lnR>
                    <a:lnB w="9525">
                      <a:solidFill>
                        <a:srgbClr val="D7E0E6"/>
                      </a:solidFill>
                      <a:prstDash val="solid"/>
                    </a:lnB>
                    <a:solidFill>
                      <a:srgbClr val="EEF4F7"/>
                    </a:solidFill>
                  </a:tcPr>
                </a:tc>
                <a:tc>
                  <a:txBody>
                    <a:bodyPr>
                      <a:normAutofit/>
                    </a:bodyPr>
                    <a:lstStyle/>
                    <a:p>
                      <a:pPr algn="ctr"/>
                      <a:r>
                        <a:rPr sz="1500" b="0">
                          <a:solidFill>
                            <a:srgbClr val="1E3445"/>
                          </a:solidFill>
                          <a:latin typeface="Aptos"/>
                          <a:ea typeface="Aptos"/>
                          <a:cs typeface="Aptos"/>
                        </a:rPr>
                        <a:t>3,526</a:t>
                      </a:r>
                    </a:p>
                  </a:txBody>
                  <a:tcPr marL="91440" marR="91440" marT="45720" marB="45720" anchor="ctr">
                    <a:lnR w="9525">
                      <a:solidFill>
                        <a:srgbClr val="D7E0E6"/>
                      </a:solidFill>
                      <a:prstDash val="solid"/>
                    </a:lnR>
                    <a:lnB w="9525">
                      <a:solidFill>
                        <a:srgbClr val="D7E0E6"/>
                      </a:solidFill>
                      <a:prstDash val="solid"/>
                    </a:lnB>
                    <a:solidFill>
                      <a:srgbClr val="EEF4F7"/>
                    </a:solidFill>
                  </a:tcPr>
                </a:tc>
              </a:tr>
              <a:tr h="590550">
                <a:tc>
                  <a:txBody>
                    <a:bodyPr>
                      <a:normAutofit/>
                    </a:bodyPr>
                    <a:lstStyle/>
                    <a:p>
                      <a:pPr algn="l"/>
                      <a:r>
                        <a:rPr sz="1500" b="0">
                          <a:solidFill>
                            <a:srgbClr val="1E3445"/>
                          </a:solidFill>
                          <a:latin typeface="Aptos"/>
                          <a:ea typeface="Aptos"/>
                          <a:cs typeface="Aptos"/>
                        </a:rPr>
                        <a:t>FlowViT</a:t>
                      </a:r>
                    </a:p>
                  </a:txBody>
                  <a:tcPr marL="91440" marR="91440" marT="45720" marB="45720" anchor="ctr">
                    <a:lnL w="9525">
                      <a:solidFill>
                        <a:srgbClr val="D7E0E6"/>
                      </a:solidFill>
                      <a:prstDash val="solid"/>
                    </a:lnL>
                    <a:lnR w="9525">
                      <a:solidFill>
                        <a:srgbClr val="D7E0E6"/>
                      </a:solidFill>
                      <a:prstDash val="solid"/>
                    </a:lnR>
                    <a:lnB w="9525">
                      <a:solidFill>
                        <a:srgbClr val="D7E0E6"/>
                      </a:solidFill>
                      <a:prstDash val="solid"/>
                    </a:lnB>
                    <a:solidFill>
                      <a:srgbClr val="FFFFFF"/>
                    </a:solidFill>
                  </a:tcPr>
                </a:tc>
                <a:tc>
                  <a:txBody>
                    <a:bodyPr>
                      <a:normAutofit/>
                    </a:bodyPr>
                    <a:lstStyle/>
                    <a:p>
                      <a:pPr algn="ctr"/>
                      <a:r>
                        <a:rPr sz="1500" b="0">
                          <a:solidFill>
                            <a:srgbClr val="1E3445"/>
                          </a:solidFill>
                          <a:latin typeface="Aptos"/>
                          <a:ea typeface="Aptos"/>
                          <a:cs typeface="Aptos"/>
                        </a:rPr>
                        <a:t>95.26%</a:t>
                      </a:r>
                    </a:p>
                  </a:txBody>
                  <a:tcPr marL="91440" marR="91440" marT="45720" marB="45720" anchor="ctr">
                    <a:lnR w="9525">
                      <a:solidFill>
                        <a:srgbClr val="D7E0E6"/>
                      </a:solidFill>
                      <a:prstDash val="solid"/>
                    </a:lnR>
                    <a:lnB w="9525">
                      <a:solidFill>
                        <a:srgbClr val="D7E0E6"/>
                      </a:solidFill>
                      <a:prstDash val="solid"/>
                    </a:lnB>
                    <a:solidFill>
                      <a:srgbClr val="FFFFFF"/>
                    </a:solidFill>
                  </a:tcPr>
                </a:tc>
                <a:tc>
                  <a:txBody>
                    <a:bodyPr>
                      <a:normAutofit/>
                    </a:bodyPr>
                    <a:lstStyle/>
                    <a:p>
                      <a:pPr algn="ctr"/>
                      <a:r>
                        <a:rPr sz="1500" b="0">
                          <a:solidFill>
                            <a:srgbClr val="1E3445"/>
                          </a:solidFill>
                          <a:latin typeface="Aptos"/>
                          <a:ea typeface="Aptos"/>
                          <a:cs typeface="Aptos"/>
                        </a:rPr>
                        <a:t>0.8892</a:t>
                      </a:r>
                    </a:p>
                  </a:txBody>
                  <a:tcPr marL="91440" marR="91440" marT="45720" marB="45720" anchor="ctr">
                    <a:lnR w="9525">
                      <a:solidFill>
                        <a:srgbClr val="D7E0E6"/>
                      </a:solidFill>
                      <a:prstDash val="solid"/>
                    </a:lnR>
                    <a:lnB w="9525">
                      <a:solidFill>
                        <a:srgbClr val="D7E0E6"/>
                      </a:solidFill>
                      <a:prstDash val="solid"/>
                    </a:lnB>
                    <a:solidFill>
                      <a:srgbClr val="FFFFFF"/>
                    </a:solidFill>
                  </a:tcPr>
                </a:tc>
                <a:tc>
                  <a:txBody>
                    <a:bodyPr>
                      <a:normAutofit/>
                    </a:bodyPr>
                    <a:lstStyle/>
                    <a:p>
                      <a:pPr algn="ctr"/>
                      <a:r>
                        <a:rPr sz="1500" b="0">
                          <a:solidFill>
                            <a:srgbClr val="1E3445"/>
                          </a:solidFill>
                          <a:latin typeface="Aptos"/>
                          <a:ea typeface="Aptos"/>
                          <a:cs typeface="Aptos"/>
                        </a:rPr>
                        <a:t>3,526</a:t>
                      </a:r>
                    </a:p>
                  </a:txBody>
                  <a:tcPr marL="91440" marR="91440" marT="45720" marB="45720" anchor="ctr">
                    <a:lnR w="9525">
                      <a:solidFill>
                        <a:srgbClr val="D7E0E6"/>
                      </a:solidFill>
                      <a:prstDash val="solid"/>
                    </a:lnR>
                    <a:lnB w="9525">
                      <a:solidFill>
                        <a:srgbClr val="D7E0E6"/>
                      </a:solidFill>
                      <a:prstDash val="solid"/>
                    </a:lnB>
                    <a:solidFill>
                      <a:srgbClr val="FFFFFF"/>
                    </a:solidFill>
                  </a:tcPr>
                </a:tc>
              </a:tr>
              <a:tr h="590550">
                <a:tc>
                  <a:txBody>
                    <a:bodyPr>
                      <a:normAutofit/>
                    </a:bodyPr>
                    <a:lstStyle/>
                    <a:p>
                      <a:pPr algn="l"/>
                      <a:r>
                        <a:rPr sz="1500" b="0">
                          <a:solidFill>
                            <a:srgbClr val="1E3445"/>
                          </a:solidFill>
                          <a:latin typeface="Aptos"/>
                          <a:ea typeface="Aptos"/>
                          <a:cs typeface="Aptos"/>
                        </a:rPr>
                        <a:t>FlowGraphNetwork</a:t>
                      </a:r>
                    </a:p>
                  </a:txBody>
                  <a:tcPr marL="91440" marR="91440" marT="45720" marB="45720" anchor="ctr">
                    <a:lnL w="9525">
                      <a:solidFill>
                        <a:srgbClr val="D7E0E6"/>
                      </a:solidFill>
                      <a:prstDash val="solid"/>
                    </a:lnL>
                    <a:lnR w="9525">
                      <a:solidFill>
                        <a:srgbClr val="D7E0E6"/>
                      </a:solidFill>
                      <a:prstDash val="solid"/>
                    </a:lnR>
                    <a:lnB w="9525">
                      <a:solidFill>
                        <a:srgbClr val="D7E0E6"/>
                      </a:solidFill>
                      <a:prstDash val="solid"/>
                    </a:lnB>
                    <a:solidFill>
                      <a:srgbClr val="EEF4F7"/>
                    </a:solidFill>
                  </a:tcPr>
                </a:tc>
                <a:tc>
                  <a:txBody>
                    <a:bodyPr>
                      <a:normAutofit/>
                    </a:bodyPr>
                    <a:lstStyle/>
                    <a:p>
                      <a:pPr algn="ctr"/>
                      <a:r>
                        <a:rPr sz="1500" b="0">
                          <a:solidFill>
                            <a:srgbClr val="1E3445"/>
                          </a:solidFill>
                          <a:latin typeface="Aptos"/>
                          <a:ea typeface="Aptos"/>
                          <a:cs typeface="Aptos"/>
                        </a:rPr>
                        <a:t>89.17%</a:t>
                      </a:r>
                    </a:p>
                  </a:txBody>
                  <a:tcPr marL="91440" marR="91440" marT="45720" marB="45720" anchor="ctr">
                    <a:lnR w="9525">
                      <a:solidFill>
                        <a:srgbClr val="D7E0E6"/>
                      </a:solidFill>
                      <a:prstDash val="solid"/>
                    </a:lnR>
                    <a:lnB w="9525">
                      <a:solidFill>
                        <a:srgbClr val="D7E0E6"/>
                      </a:solidFill>
                      <a:prstDash val="solid"/>
                    </a:lnB>
                    <a:solidFill>
                      <a:srgbClr val="EEF4F7"/>
                    </a:solidFill>
                  </a:tcPr>
                </a:tc>
                <a:tc>
                  <a:txBody>
                    <a:bodyPr>
                      <a:normAutofit/>
                    </a:bodyPr>
                    <a:lstStyle/>
                    <a:p>
                      <a:pPr algn="ctr"/>
                      <a:r>
                        <a:rPr sz="1500" b="0">
                          <a:solidFill>
                            <a:srgbClr val="1E3445"/>
                          </a:solidFill>
                          <a:latin typeface="Aptos"/>
                          <a:ea typeface="Aptos"/>
                          <a:cs typeface="Aptos"/>
                        </a:rPr>
                        <a:t>0.6782</a:t>
                      </a:r>
                    </a:p>
                  </a:txBody>
                  <a:tcPr marL="91440" marR="91440" marT="45720" marB="45720" anchor="ctr">
                    <a:lnR w="9525">
                      <a:solidFill>
                        <a:srgbClr val="D7E0E6"/>
                      </a:solidFill>
                      <a:prstDash val="solid"/>
                    </a:lnR>
                    <a:lnB w="9525">
                      <a:solidFill>
                        <a:srgbClr val="D7E0E6"/>
                      </a:solidFill>
                      <a:prstDash val="solid"/>
                    </a:lnB>
                    <a:solidFill>
                      <a:srgbClr val="EEF4F7"/>
                    </a:solidFill>
                  </a:tcPr>
                </a:tc>
                <a:tc>
                  <a:txBody>
                    <a:bodyPr>
                      <a:normAutofit/>
                    </a:bodyPr>
                    <a:lstStyle/>
                    <a:p>
                      <a:pPr algn="ctr"/>
                      <a:r>
                        <a:rPr sz="1500" b="0">
                          <a:solidFill>
                            <a:srgbClr val="1E3445"/>
                          </a:solidFill>
                          <a:latin typeface="Aptos"/>
                          <a:ea typeface="Aptos"/>
                          <a:cs typeface="Aptos"/>
                        </a:rPr>
                        <a:t>3,526</a:t>
                      </a:r>
                    </a:p>
                  </a:txBody>
                  <a:tcPr marL="91440" marR="91440" marT="45720" marB="45720" anchor="ctr">
                    <a:lnR w="9525">
                      <a:solidFill>
                        <a:srgbClr val="D7E0E6"/>
                      </a:solidFill>
                      <a:prstDash val="solid"/>
                    </a:lnR>
                    <a:lnB w="9525">
                      <a:solidFill>
                        <a:srgbClr val="D7E0E6"/>
                      </a:solidFill>
                      <a:prstDash val="solid"/>
                    </a:lnB>
                    <a:solidFill>
                      <a:srgbClr val="EEF4F7"/>
                    </a:solidFill>
                  </a:tcPr>
                </a:tc>
              </a:tr>
            </a:tbl>
          </a:graphicData>
        </a:graphic>
      </p:graphicFrame>
      <p:sp>
        <p:nvSpPr>
          <p:cNvPr id="7" name="text">
            <a:extLst xmlns:a="http://schemas.openxmlformats.org/drawingml/2006/main">
              <a:ext uri="{FF2B5EF4-FFF2-40B4-BE49-F238E27FC236}">
                <a16:creationId xmlns:a16="http://schemas.microsoft.com/office/drawing/2014/main" id="{8913EDF0-7391-423A-ACCF-0893359C4829}"/>
              </a:ext>
            </a:extLst>
          </p:cNvPr>
          <p:cNvSpPr>
            <a:spLocks xmlns:a="http://schemas.openxmlformats.org/drawingml/2006/main" noGrp="1"/>
          </p:cNvSpPr>
          <p:nvPr/>
        </p:nvSpPr>
        <p:spPr>
          <a:xfrm xmlns:a="http://schemas.openxmlformats.org/drawingml/2006/main">
            <a:off x="666750" y="50101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36878"/>
                </a:solidFill>
                <a:latin typeface="Aptos"/>
                <a:ea typeface="Aptos"/>
                <a:cs typeface="Aptos"/>
              </a:defRPr>
            </a:defPPr>
            <a:lvl1pPr algn="l">
              <a:defRPr sz="1275" b="0">
                <a:solidFill>
                  <a:srgbClr val="536878"/>
                </a:solidFill>
                <a:latin typeface="Aptos"/>
                <a:ea typeface="Aptos"/>
                <a:cs typeface="Aptos"/>
              </a:defRPr>
            </a:lvl1pPr>
            <a:lvl2pPr algn="l">
              <a:defRPr sz="1275" b="0">
                <a:solidFill>
                  <a:srgbClr val="536878"/>
                </a:solidFill>
                <a:latin typeface="Aptos"/>
                <a:ea typeface="Aptos"/>
                <a:cs typeface="Aptos"/>
              </a:defRPr>
            </a:lvl2pPr>
            <a:lvl3pPr algn="l">
              <a:defRPr sz="1275" b="0">
                <a:solidFill>
                  <a:srgbClr val="536878"/>
                </a:solidFill>
                <a:latin typeface="Aptos"/>
                <a:ea typeface="Aptos"/>
                <a:cs typeface="Aptos"/>
              </a:defRPr>
            </a:lvl3pPr>
            <a:lvl4pPr algn="l">
              <a:defRPr sz="1275" b="0">
                <a:solidFill>
                  <a:srgbClr val="536878"/>
                </a:solidFill>
                <a:latin typeface="Aptos"/>
                <a:ea typeface="Aptos"/>
                <a:cs typeface="Aptos"/>
              </a:defRPr>
            </a:lvl4pPr>
            <a:lvl5pPr algn="l">
              <a:defRPr sz="1275" b="0">
                <a:solidFill>
                  <a:srgbClr val="536878"/>
                </a:solidFill>
                <a:latin typeface="Aptos"/>
                <a:ea typeface="Aptos"/>
                <a:cs typeface="Aptos"/>
              </a:defRPr>
            </a:lvl5pPr>
            <a:lvl6pPr algn="l">
              <a:defRPr sz="1275" b="0">
                <a:solidFill>
                  <a:srgbClr val="536878"/>
                </a:solidFill>
                <a:latin typeface="Aptos"/>
                <a:ea typeface="Aptos"/>
                <a:cs typeface="Aptos"/>
              </a:defRPr>
            </a:lvl6pPr>
            <a:lvl7pPr algn="l">
              <a:defRPr sz="1275" b="0">
                <a:solidFill>
                  <a:srgbClr val="536878"/>
                </a:solidFill>
                <a:latin typeface="Aptos"/>
                <a:ea typeface="Aptos"/>
                <a:cs typeface="Aptos"/>
              </a:defRPr>
            </a:lvl7pPr>
            <a:lvl8pPr algn="l">
              <a:defRPr sz="1275" b="0">
                <a:solidFill>
                  <a:srgbClr val="536878"/>
                </a:solidFill>
                <a:latin typeface="Aptos"/>
                <a:ea typeface="Aptos"/>
                <a:cs typeface="Aptos"/>
              </a:defRPr>
            </a:lvl8pPr>
            <a:lvl9pPr algn="l">
              <a:defRPr sz="1275" b="0">
                <a:solidFill>
                  <a:srgbClr val="536878"/>
                </a:solidFill>
                <a:latin typeface="Aptos"/>
                <a:ea typeface="Aptos"/>
                <a:cs typeface="Aptos"/>
              </a:defRPr>
            </a:lvl9pPr>
          </a:lstStyle>
          <a:p xmlns:a="http://schemas.openxmlformats.org/drawingml/2006/main">
            <a:pPr algn="l">
              <a:lnSpc>
                <a:spcPct val="108000"/>
              </a:lnSpc>
              <a:buNone/>
              <a:defRPr sz="1275" b="0">
                <a:solidFill>
                  <a:srgbClr val="536878"/>
                </a:solidFill>
                <a:latin typeface="Aptos"/>
                <a:ea typeface="Aptos"/>
                <a:cs typeface="Aptos"/>
              </a:defRPr>
            </a:pPr>
            <a:r>
              <a:rPr sz="1275" b="0">
                <a:solidFill>
                  <a:srgbClr val="536878"/>
                </a:solidFill>
                <a:latin typeface="Aptos"/>
                <a:ea typeface="Aptos"/>
                <a:cs typeface="Aptos"/>
              </a:rPr>
              <a:t>These are experiment results, not proof that an architecture generalizes better to another network.</a:t>
            </a:r>
          </a:p>
        </p:txBody>
      </p:sp>
    </p:spTree>
    <p:extLst>
      <p:ext uri="{BB962C8B-B14F-4D97-AF65-F5344CB8AC3E}">
        <p14:creationId xmlns:p14="http://schemas.microsoft.com/office/powerpoint/2010/main" val="458597742"/>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FC5DE06E-3B37-4D39-BEE6-C0F89E506833}"/>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3  /  EXTENSIONS AND PROJECT DEMO</a:t>
            </a:r>
          </a:p>
        </p:txBody>
      </p:sp>
      <p:sp>
        <p:nvSpPr>
          <p:cNvPr id="2" name="text">
            <a:extLst xmlns:a="http://schemas.openxmlformats.org/drawingml/2006/main">
              <a:ext uri="{FF2B5EF4-FFF2-40B4-BE49-F238E27FC236}">
                <a16:creationId xmlns:a16="http://schemas.microsoft.com/office/drawing/2014/main" id="{26F7423C-97F2-44E9-A71E-619E6765C52A}"/>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Adaptation studies are simulations</a:t>
            </a:r>
          </a:p>
        </p:txBody>
      </p:sp>
      <p:sp>
        <p:nvSpPr>
          <p:cNvPr id="3" name="text">
            <a:extLst xmlns:a="http://schemas.openxmlformats.org/drawingml/2006/main">
              <a:ext uri="{FF2B5EF4-FFF2-40B4-BE49-F238E27FC236}">
                <a16:creationId xmlns:a16="http://schemas.microsoft.com/office/drawing/2014/main" id="{FD1D0313-FC15-42F2-A497-B288FFC0E5C3}"/>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FFEDC16C-DEF1-4165-A356-F07951DAFEBF}"/>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14</a:t>
            </a:r>
          </a:p>
        </p:txBody>
      </p:sp>
      <p:sp>
        <p:nvSpPr>
          <p:cNvPr id="5" name="text">
            <a:extLst xmlns:a="http://schemas.openxmlformats.org/drawingml/2006/main">
              <a:ext uri="{FF2B5EF4-FFF2-40B4-BE49-F238E27FC236}">
                <a16:creationId xmlns:a16="http://schemas.microsoft.com/office/drawing/2014/main" id="{8AB685F5-9FD7-4C88-AC21-193DCAF404E2}"/>
              </a:ext>
            </a:extLst>
          </p:cNvPr>
          <p:cNvSpPr>
            <a:spLocks xmlns:a="http://schemas.openxmlformats.org/drawingml/2006/main" noGrp="1"/>
          </p:cNvSpPr>
          <p:nvPr/>
        </p:nvSpPr>
        <p:spPr>
          <a:xfrm xmlns:a="http://schemas.openxmlformats.org/drawingml/2006/main">
            <a:off x="742950" y="15621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087E8B"/>
                </a:solidFill>
                <a:latin typeface="Aptos"/>
                <a:ea typeface="Aptos"/>
                <a:cs typeface="Aptos"/>
              </a:defRPr>
            </a:defPPr>
            <a:lvl1pPr algn="l">
              <a:defRPr sz="2025" b="1">
                <a:solidFill>
                  <a:srgbClr val="087E8B"/>
                </a:solidFill>
                <a:latin typeface="Aptos"/>
                <a:ea typeface="Aptos"/>
                <a:cs typeface="Aptos"/>
              </a:defRPr>
            </a:lvl1pPr>
            <a:lvl2pPr algn="l">
              <a:defRPr sz="2025" b="1">
                <a:solidFill>
                  <a:srgbClr val="087E8B"/>
                </a:solidFill>
                <a:latin typeface="Aptos"/>
                <a:ea typeface="Aptos"/>
                <a:cs typeface="Aptos"/>
              </a:defRPr>
            </a:lvl2pPr>
            <a:lvl3pPr algn="l">
              <a:defRPr sz="2025" b="1">
                <a:solidFill>
                  <a:srgbClr val="087E8B"/>
                </a:solidFill>
                <a:latin typeface="Aptos"/>
                <a:ea typeface="Aptos"/>
                <a:cs typeface="Aptos"/>
              </a:defRPr>
            </a:lvl3pPr>
            <a:lvl4pPr algn="l">
              <a:defRPr sz="2025" b="1">
                <a:solidFill>
                  <a:srgbClr val="087E8B"/>
                </a:solidFill>
                <a:latin typeface="Aptos"/>
                <a:ea typeface="Aptos"/>
                <a:cs typeface="Aptos"/>
              </a:defRPr>
            </a:lvl4pPr>
            <a:lvl5pPr algn="l">
              <a:defRPr sz="2025" b="1">
                <a:solidFill>
                  <a:srgbClr val="087E8B"/>
                </a:solidFill>
                <a:latin typeface="Aptos"/>
                <a:ea typeface="Aptos"/>
                <a:cs typeface="Aptos"/>
              </a:defRPr>
            </a:lvl5pPr>
            <a:lvl6pPr algn="l">
              <a:defRPr sz="2025" b="1">
                <a:solidFill>
                  <a:srgbClr val="087E8B"/>
                </a:solidFill>
                <a:latin typeface="Aptos"/>
                <a:ea typeface="Aptos"/>
                <a:cs typeface="Aptos"/>
              </a:defRPr>
            </a:lvl6pPr>
            <a:lvl7pPr algn="l">
              <a:defRPr sz="2025" b="1">
                <a:solidFill>
                  <a:srgbClr val="087E8B"/>
                </a:solidFill>
                <a:latin typeface="Aptos"/>
                <a:ea typeface="Aptos"/>
                <a:cs typeface="Aptos"/>
              </a:defRPr>
            </a:lvl7pPr>
            <a:lvl8pPr algn="l">
              <a:defRPr sz="2025" b="1">
                <a:solidFill>
                  <a:srgbClr val="087E8B"/>
                </a:solidFill>
                <a:latin typeface="Aptos"/>
                <a:ea typeface="Aptos"/>
                <a:cs typeface="Aptos"/>
              </a:defRPr>
            </a:lvl8pPr>
            <a:lvl9pPr algn="l">
              <a:defRPr sz="2025" b="1">
                <a:solidFill>
                  <a:srgbClr val="087E8B"/>
                </a:solidFill>
                <a:latin typeface="Aptos"/>
                <a:ea typeface="Aptos"/>
                <a:cs typeface="Aptos"/>
              </a:defRPr>
            </a:lvl9pPr>
          </a:lstStyle>
          <a:p xmlns:a="http://schemas.openxmlformats.org/drawingml/2006/main">
            <a:pPr algn="l">
              <a:lnSpc>
                <a:spcPct val="108000"/>
              </a:lnSpc>
              <a:buNone/>
              <a:defRPr sz="2025" b="1">
                <a:solidFill>
                  <a:srgbClr val="087E8B"/>
                </a:solidFill>
                <a:latin typeface="Aptos"/>
                <a:ea typeface="Aptos"/>
                <a:cs typeface="Aptos"/>
              </a:defRPr>
            </a:pPr>
            <a:r>
              <a:rPr sz="2025" b="1">
                <a:solidFill>
                  <a:srgbClr val="087E8B"/>
                </a:solidFill>
                <a:latin typeface="Aptos"/>
                <a:ea typeface="Aptos"/>
                <a:cs typeface="Aptos"/>
              </a:rPr>
              <a:t>Local FedAvg simulation</a:t>
            </a:r>
          </a:p>
        </p:txBody>
      </p:sp>
      <p:sp>
        <p:nvSpPr>
          <p:cNvPr id="6" name="editable bullet list">
            <a:extLst xmlns:a="http://schemas.openxmlformats.org/drawingml/2006/main">
              <a:ext uri="{FF2B5EF4-FFF2-40B4-BE49-F238E27FC236}">
                <a16:creationId xmlns:a16="http://schemas.microsoft.com/office/drawing/2014/main" id="{2BAE3E3D-1C4B-4AC5-A506-458FA509E254}"/>
              </a:ext>
            </a:extLst>
          </p:cNvPr>
          <p:cNvSpPr>
            <a:spLocks xmlns:a="http://schemas.openxmlformats.org/drawingml/2006/main" noGrp="1"/>
          </p:cNvSpPr>
          <p:nvPr/>
        </p:nvSpPr>
        <p:spPr>
          <a:xfrm xmlns:a="http://schemas.openxmlformats.org/drawingml/2006/main">
            <a:off x="742950" y="2076450"/>
            <a:ext cx="495300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a:solidFill>
                  <a:srgbClr val="1E3445"/>
                </a:solidFill>
                <a:latin typeface="Aptos"/>
                <a:ea typeface="Aptos"/>
                <a:cs typeface="Aptos"/>
              </a:defRPr>
            </a:defPPr>
            <a:lvl1pPr algn="l">
              <a:defRPr sz="1650">
                <a:solidFill>
                  <a:srgbClr val="1E3445"/>
                </a:solidFill>
                <a:latin typeface="Aptos"/>
                <a:ea typeface="Aptos"/>
                <a:cs typeface="Aptos"/>
              </a:defRPr>
            </a:lvl1pPr>
            <a:lvl2pPr algn="l">
              <a:defRPr sz="1650">
                <a:solidFill>
                  <a:srgbClr val="1E3445"/>
                </a:solidFill>
                <a:latin typeface="Aptos"/>
                <a:ea typeface="Aptos"/>
                <a:cs typeface="Aptos"/>
              </a:defRPr>
            </a:lvl2pPr>
            <a:lvl3pPr algn="l">
              <a:defRPr sz="1650">
                <a:solidFill>
                  <a:srgbClr val="1E3445"/>
                </a:solidFill>
                <a:latin typeface="Aptos"/>
                <a:ea typeface="Aptos"/>
                <a:cs typeface="Aptos"/>
              </a:defRPr>
            </a:lvl3pPr>
            <a:lvl4pPr algn="l">
              <a:defRPr sz="1650">
                <a:solidFill>
                  <a:srgbClr val="1E3445"/>
                </a:solidFill>
                <a:latin typeface="Aptos"/>
                <a:ea typeface="Aptos"/>
                <a:cs typeface="Aptos"/>
              </a:defRPr>
            </a:lvl4pPr>
            <a:lvl5pPr algn="l">
              <a:defRPr sz="1650">
                <a:solidFill>
                  <a:srgbClr val="1E3445"/>
                </a:solidFill>
                <a:latin typeface="Aptos"/>
                <a:ea typeface="Aptos"/>
                <a:cs typeface="Aptos"/>
              </a:defRPr>
            </a:lvl5pPr>
            <a:lvl6pPr algn="l">
              <a:defRPr sz="1650">
                <a:solidFill>
                  <a:srgbClr val="1E3445"/>
                </a:solidFill>
                <a:latin typeface="Aptos"/>
                <a:ea typeface="Aptos"/>
                <a:cs typeface="Aptos"/>
              </a:defRPr>
            </a:lvl6pPr>
            <a:lvl7pPr algn="l">
              <a:defRPr sz="1650">
                <a:solidFill>
                  <a:srgbClr val="1E3445"/>
                </a:solidFill>
                <a:latin typeface="Aptos"/>
                <a:ea typeface="Aptos"/>
                <a:cs typeface="Aptos"/>
              </a:defRPr>
            </a:lvl7pPr>
            <a:lvl8pPr algn="l">
              <a:defRPr sz="1650">
                <a:solidFill>
                  <a:srgbClr val="1E3445"/>
                </a:solidFill>
                <a:latin typeface="Aptos"/>
                <a:ea typeface="Aptos"/>
                <a:cs typeface="Aptos"/>
              </a:defRPr>
            </a:lvl8pPr>
            <a:lvl9pPr algn="l">
              <a:defRPr sz="165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Three simulated IID clients run in one process</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Three aggregation rounds; sample-count weighting</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Validation macro-F1: 0.8402 -&gt; 0.8437 -&gt; 0.8491</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No distributed transport, privacy or secure aggregation</a:t>
            </a:r>
          </a:p>
        </p:txBody>
      </p:sp>
      <p:sp>
        <p:nvSpPr>
          <p:cNvPr id="7" name="text">
            <a:extLst xmlns:a="http://schemas.openxmlformats.org/drawingml/2006/main">
              <a:ext uri="{FF2B5EF4-FFF2-40B4-BE49-F238E27FC236}">
                <a16:creationId xmlns:a16="http://schemas.microsoft.com/office/drawing/2014/main" id="{09AA8B2C-B73F-4E18-8800-453CC8A30324}"/>
              </a:ext>
            </a:extLst>
          </p:cNvPr>
          <p:cNvSpPr>
            <a:spLocks xmlns:a="http://schemas.openxmlformats.org/drawingml/2006/main" noGrp="1"/>
          </p:cNvSpPr>
          <p:nvPr/>
        </p:nvSpPr>
        <p:spPr>
          <a:xfrm xmlns:a="http://schemas.openxmlformats.org/drawingml/2006/main">
            <a:off x="6419850" y="15621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087E8B"/>
                </a:solidFill>
                <a:latin typeface="Aptos"/>
                <a:ea typeface="Aptos"/>
                <a:cs typeface="Aptos"/>
              </a:defRPr>
            </a:defPPr>
            <a:lvl1pPr algn="l">
              <a:defRPr sz="2025" b="1">
                <a:solidFill>
                  <a:srgbClr val="087E8B"/>
                </a:solidFill>
                <a:latin typeface="Aptos"/>
                <a:ea typeface="Aptos"/>
                <a:cs typeface="Aptos"/>
              </a:defRPr>
            </a:lvl1pPr>
            <a:lvl2pPr algn="l">
              <a:defRPr sz="2025" b="1">
                <a:solidFill>
                  <a:srgbClr val="087E8B"/>
                </a:solidFill>
                <a:latin typeface="Aptos"/>
                <a:ea typeface="Aptos"/>
                <a:cs typeface="Aptos"/>
              </a:defRPr>
            </a:lvl2pPr>
            <a:lvl3pPr algn="l">
              <a:defRPr sz="2025" b="1">
                <a:solidFill>
                  <a:srgbClr val="087E8B"/>
                </a:solidFill>
                <a:latin typeface="Aptos"/>
                <a:ea typeface="Aptos"/>
                <a:cs typeface="Aptos"/>
              </a:defRPr>
            </a:lvl3pPr>
            <a:lvl4pPr algn="l">
              <a:defRPr sz="2025" b="1">
                <a:solidFill>
                  <a:srgbClr val="087E8B"/>
                </a:solidFill>
                <a:latin typeface="Aptos"/>
                <a:ea typeface="Aptos"/>
                <a:cs typeface="Aptos"/>
              </a:defRPr>
            </a:lvl4pPr>
            <a:lvl5pPr algn="l">
              <a:defRPr sz="2025" b="1">
                <a:solidFill>
                  <a:srgbClr val="087E8B"/>
                </a:solidFill>
                <a:latin typeface="Aptos"/>
                <a:ea typeface="Aptos"/>
                <a:cs typeface="Aptos"/>
              </a:defRPr>
            </a:lvl5pPr>
            <a:lvl6pPr algn="l">
              <a:defRPr sz="2025" b="1">
                <a:solidFill>
                  <a:srgbClr val="087E8B"/>
                </a:solidFill>
                <a:latin typeface="Aptos"/>
                <a:ea typeface="Aptos"/>
                <a:cs typeface="Aptos"/>
              </a:defRPr>
            </a:lvl6pPr>
            <a:lvl7pPr algn="l">
              <a:defRPr sz="2025" b="1">
                <a:solidFill>
                  <a:srgbClr val="087E8B"/>
                </a:solidFill>
                <a:latin typeface="Aptos"/>
                <a:ea typeface="Aptos"/>
                <a:cs typeface="Aptos"/>
              </a:defRPr>
            </a:lvl7pPr>
            <a:lvl8pPr algn="l">
              <a:defRPr sz="2025" b="1">
                <a:solidFill>
                  <a:srgbClr val="087E8B"/>
                </a:solidFill>
                <a:latin typeface="Aptos"/>
                <a:ea typeface="Aptos"/>
                <a:cs typeface="Aptos"/>
              </a:defRPr>
            </a:lvl8pPr>
            <a:lvl9pPr algn="l">
              <a:defRPr sz="2025" b="1">
                <a:solidFill>
                  <a:srgbClr val="087E8B"/>
                </a:solidFill>
                <a:latin typeface="Aptos"/>
                <a:ea typeface="Aptos"/>
                <a:cs typeface="Aptos"/>
              </a:defRPr>
            </a:lvl9pPr>
          </a:lstStyle>
          <a:p xmlns:a="http://schemas.openxmlformats.org/drawingml/2006/main">
            <a:pPr algn="l">
              <a:lnSpc>
                <a:spcPct val="108000"/>
              </a:lnSpc>
              <a:buNone/>
              <a:defRPr sz="2025" b="1">
                <a:solidFill>
                  <a:srgbClr val="087E8B"/>
                </a:solidFill>
                <a:latin typeface="Aptos"/>
                <a:ea typeface="Aptos"/>
                <a:cs typeface="Aptos"/>
              </a:defRPr>
            </a:pPr>
            <a:r>
              <a:rPr sz="2025" b="1">
                <a:solidFill>
                  <a:srgbClr val="087E8B"/>
                </a:solidFill>
                <a:latin typeface="Aptos"/>
                <a:ea typeface="Aptos"/>
                <a:cs typeface="Aptos"/>
              </a:rPr>
              <a:t>Supervised online learning</a:t>
            </a:r>
          </a:p>
        </p:txBody>
      </p:sp>
      <p:sp>
        <p:nvSpPr>
          <p:cNvPr id="8" name="editable bullet list">
            <a:extLst xmlns:a="http://schemas.openxmlformats.org/drawingml/2006/main">
              <a:ext uri="{FF2B5EF4-FFF2-40B4-BE49-F238E27FC236}">
                <a16:creationId xmlns:a16="http://schemas.microsoft.com/office/drawing/2014/main" id="{760E9C94-1CF2-4EE3-955B-70944109629C}"/>
              </a:ext>
            </a:extLst>
          </p:cNvPr>
          <p:cNvSpPr>
            <a:spLocks xmlns:a="http://schemas.openxmlformats.org/drawingml/2006/main" noGrp="1"/>
          </p:cNvSpPr>
          <p:nvPr/>
        </p:nvSpPr>
        <p:spPr>
          <a:xfrm xmlns:a="http://schemas.openxmlformats.org/drawingml/2006/main">
            <a:off x="6419850" y="2076450"/>
            <a:ext cx="495300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a:solidFill>
                  <a:srgbClr val="1E3445"/>
                </a:solidFill>
                <a:latin typeface="Aptos"/>
                <a:ea typeface="Aptos"/>
                <a:cs typeface="Aptos"/>
              </a:defRPr>
            </a:defPPr>
            <a:lvl1pPr algn="l">
              <a:defRPr sz="1650">
                <a:solidFill>
                  <a:srgbClr val="1E3445"/>
                </a:solidFill>
                <a:latin typeface="Aptos"/>
                <a:ea typeface="Aptos"/>
                <a:cs typeface="Aptos"/>
              </a:defRPr>
            </a:lvl1pPr>
            <a:lvl2pPr algn="l">
              <a:defRPr sz="1650">
                <a:solidFill>
                  <a:srgbClr val="1E3445"/>
                </a:solidFill>
                <a:latin typeface="Aptos"/>
                <a:ea typeface="Aptos"/>
                <a:cs typeface="Aptos"/>
              </a:defRPr>
            </a:lvl2pPr>
            <a:lvl3pPr algn="l">
              <a:defRPr sz="1650">
                <a:solidFill>
                  <a:srgbClr val="1E3445"/>
                </a:solidFill>
                <a:latin typeface="Aptos"/>
                <a:ea typeface="Aptos"/>
                <a:cs typeface="Aptos"/>
              </a:defRPr>
            </a:lvl3pPr>
            <a:lvl4pPr algn="l">
              <a:defRPr sz="1650">
                <a:solidFill>
                  <a:srgbClr val="1E3445"/>
                </a:solidFill>
                <a:latin typeface="Aptos"/>
                <a:ea typeface="Aptos"/>
                <a:cs typeface="Aptos"/>
              </a:defRPr>
            </a:lvl4pPr>
            <a:lvl5pPr algn="l">
              <a:defRPr sz="1650">
                <a:solidFill>
                  <a:srgbClr val="1E3445"/>
                </a:solidFill>
                <a:latin typeface="Aptos"/>
                <a:ea typeface="Aptos"/>
                <a:cs typeface="Aptos"/>
              </a:defRPr>
            </a:lvl5pPr>
            <a:lvl6pPr algn="l">
              <a:defRPr sz="1650">
                <a:solidFill>
                  <a:srgbClr val="1E3445"/>
                </a:solidFill>
                <a:latin typeface="Aptos"/>
                <a:ea typeface="Aptos"/>
                <a:cs typeface="Aptos"/>
              </a:defRPr>
            </a:lvl6pPr>
            <a:lvl7pPr algn="l">
              <a:defRPr sz="1650">
                <a:solidFill>
                  <a:srgbClr val="1E3445"/>
                </a:solidFill>
                <a:latin typeface="Aptos"/>
                <a:ea typeface="Aptos"/>
                <a:cs typeface="Aptos"/>
              </a:defRPr>
            </a:lvl7pPr>
            <a:lvl8pPr algn="l">
              <a:defRPr sz="1650">
                <a:solidFill>
                  <a:srgbClr val="1E3445"/>
                </a:solidFill>
                <a:latin typeface="Aptos"/>
                <a:ea typeface="Aptos"/>
                <a:cs typeface="Aptos"/>
              </a:defRPr>
            </a:lvl8pPr>
            <a:lvl9pPr algn="l">
              <a:defRPr sz="165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Predict a chronological chunk before labels are revealed</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Update only with observed true labels</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Page-Hinkley monitors increased chunk loss</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No automatic pseudo-labeling of model predictions</a:t>
            </a:r>
          </a:p>
        </p:txBody>
      </p:sp>
    </p:spTree>
    <p:extLst>
      <p:ext uri="{BB962C8B-B14F-4D97-AF65-F5344CB8AC3E}">
        <p14:creationId xmlns:p14="http://schemas.microsoft.com/office/powerpoint/2010/main" val="2012513831"/>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29EFF30A-D5F6-4555-A25E-795EA9E1082B}"/>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3  /  EXTENSIONS AND PROJECT DEMO</a:t>
            </a:r>
          </a:p>
        </p:txBody>
      </p:sp>
      <p:sp>
        <p:nvSpPr>
          <p:cNvPr id="2" name="text">
            <a:extLst xmlns:a="http://schemas.openxmlformats.org/drawingml/2006/main">
              <a:ext uri="{FF2B5EF4-FFF2-40B4-BE49-F238E27FC236}">
                <a16:creationId xmlns:a16="http://schemas.microsoft.com/office/drawing/2014/main" id="{1707BB41-9481-4C59-A136-10D043EC6ADF}"/>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Explainability and anomaly flags</a:t>
            </a:r>
          </a:p>
        </p:txBody>
      </p:sp>
      <p:sp>
        <p:nvSpPr>
          <p:cNvPr id="3" name="text">
            <a:extLst xmlns:a="http://schemas.openxmlformats.org/drawingml/2006/main">
              <a:ext uri="{FF2B5EF4-FFF2-40B4-BE49-F238E27FC236}">
                <a16:creationId xmlns:a16="http://schemas.microsoft.com/office/drawing/2014/main" id="{C93C9B06-B49D-4B87-89CA-6CB7D7FB51D6}"/>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832E92CD-4CBF-4020-BA86-21B698520913}"/>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15</a:t>
            </a:r>
          </a:p>
        </p:txBody>
      </p:sp>
      <p:sp>
        <p:nvSpPr>
          <p:cNvPr id="5" name="editable bullet list">
            <a:extLst xmlns:a="http://schemas.openxmlformats.org/drawingml/2006/main">
              <a:ext uri="{FF2B5EF4-FFF2-40B4-BE49-F238E27FC236}">
                <a16:creationId xmlns:a16="http://schemas.microsoft.com/office/drawing/2014/main" id="{77BEEC54-B34B-4F1C-899B-7FAEFE1A8009}"/>
              </a:ext>
            </a:extLst>
          </p:cNvPr>
          <p:cNvSpPr>
            <a:spLocks xmlns:a="http://schemas.openxmlformats.org/drawingml/2006/main" noGrp="1"/>
          </p:cNvSpPr>
          <p:nvPr/>
        </p:nvSpPr>
        <p:spPr>
          <a:xfrm xmlns:a="http://schemas.openxmlformats.org/drawingml/2006/main">
            <a:off x="876300" y="1619250"/>
            <a:ext cx="10287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a:solidFill>
                  <a:srgbClr val="1E3445"/>
                </a:solidFill>
                <a:latin typeface="Aptos"/>
                <a:ea typeface="Aptos"/>
                <a:cs typeface="Aptos"/>
              </a:defRPr>
            </a:defPPr>
            <a:lvl1pPr algn="l">
              <a:defRPr sz="1875">
                <a:solidFill>
                  <a:srgbClr val="1E3445"/>
                </a:solidFill>
                <a:latin typeface="Aptos"/>
                <a:ea typeface="Aptos"/>
                <a:cs typeface="Aptos"/>
              </a:defRPr>
            </a:lvl1pPr>
            <a:lvl2pPr algn="l">
              <a:defRPr sz="1875">
                <a:solidFill>
                  <a:srgbClr val="1E3445"/>
                </a:solidFill>
                <a:latin typeface="Aptos"/>
                <a:ea typeface="Aptos"/>
                <a:cs typeface="Aptos"/>
              </a:defRPr>
            </a:lvl2pPr>
            <a:lvl3pPr algn="l">
              <a:defRPr sz="1875">
                <a:solidFill>
                  <a:srgbClr val="1E3445"/>
                </a:solidFill>
                <a:latin typeface="Aptos"/>
                <a:ea typeface="Aptos"/>
                <a:cs typeface="Aptos"/>
              </a:defRPr>
            </a:lvl3pPr>
            <a:lvl4pPr algn="l">
              <a:defRPr sz="1875">
                <a:solidFill>
                  <a:srgbClr val="1E3445"/>
                </a:solidFill>
                <a:latin typeface="Aptos"/>
                <a:ea typeface="Aptos"/>
                <a:cs typeface="Aptos"/>
              </a:defRPr>
            </a:lvl4pPr>
            <a:lvl5pPr algn="l">
              <a:defRPr sz="1875">
                <a:solidFill>
                  <a:srgbClr val="1E3445"/>
                </a:solidFill>
                <a:latin typeface="Aptos"/>
                <a:ea typeface="Aptos"/>
                <a:cs typeface="Aptos"/>
              </a:defRPr>
            </a:lvl5pPr>
            <a:lvl6pPr algn="l">
              <a:defRPr sz="1875">
                <a:solidFill>
                  <a:srgbClr val="1E3445"/>
                </a:solidFill>
                <a:latin typeface="Aptos"/>
                <a:ea typeface="Aptos"/>
                <a:cs typeface="Aptos"/>
              </a:defRPr>
            </a:lvl6pPr>
            <a:lvl7pPr algn="l">
              <a:defRPr sz="1875">
                <a:solidFill>
                  <a:srgbClr val="1E3445"/>
                </a:solidFill>
                <a:latin typeface="Aptos"/>
                <a:ea typeface="Aptos"/>
                <a:cs typeface="Aptos"/>
              </a:defRPr>
            </a:lvl7pPr>
            <a:lvl8pPr algn="l">
              <a:defRPr sz="1875">
                <a:solidFill>
                  <a:srgbClr val="1E3445"/>
                </a:solidFill>
                <a:latin typeface="Aptos"/>
                <a:ea typeface="Aptos"/>
                <a:cs typeface="Aptos"/>
              </a:defRPr>
            </a:lvl8pPr>
            <a:lvl9pPr algn="l">
              <a:defRPr sz="1875">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SHAP example: 0.199805 reference probability + 0.799384 attribution sum = 0.999189 DDoS probability.</a:t>
            </a:r>
          </a:p>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Saved LIME surrogate R-squared is 0.1440, which indicates weak local fit.</a:t>
            </a:r>
          </a:p>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Benign-trained Isolation Forest: 1.11% test benign false-alert rate; 1.98% known-attack recall.</a:t>
            </a:r>
          </a:p>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These tools describe model behavior; they do not prove causality or zero-day detection.</a:t>
            </a:r>
          </a:p>
        </p:txBody>
      </p:sp>
    </p:spTree>
    <p:extLst>
      <p:ext uri="{BB962C8B-B14F-4D97-AF65-F5344CB8AC3E}">
        <p14:creationId xmlns:p14="http://schemas.microsoft.com/office/powerpoint/2010/main" val="1449629300"/>
      </p:ext>
    </p:extLst>
  </p:cSld>
</p:sld>
</file>

<file path=ppt/slides/slide1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A73550FC-A7B1-4B71-838A-8ED48EFD7B26}"/>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3  /  EXTENSIONS AND PROJECT DEMO</a:t>
            </a:r>
          </a:p>
        </p:txBody>
      </p:sp>
      <p:sp>
        <p:nvSpPr>
          <p:cNvPr id="2" name="text">
            <a:extLst xmlns:a="http://schemas.openxmlformats.org/drawingml/2006/main">
              <a:ext uri="{FF2B5EF4-FFF2-40B4-BE49-F238E27FC236}">
                <a16:creationId xmlns:a16="http://schemas.microsoft.com/office/drawing/2014/main" id="{37CDAB10-34BF-47EB-8077-ED8217552497}"/>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Packet replay and capture path</a:t>
            </a:r>
          </a:p>
        </p:txBody>
      </p:sp>
      <p:sp>
        <p:nvSpPr>
          <p:cNvPr id="3" name="text">
            <a:extLst xmlns:a="http://schemas.openxmlformats.org/drawingml/2006/main">
              <a:ext uri="{FF2B5EF4-FFF2-40B4-BE49-F238E27FC236}">
                <a16:creationId xmlns:a16="http://schemas.microsoft.com/office/drawing/2014/main" id="{D0AEF123-7C9A-4F7E-9A68-4C34305E3AB3}"/>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2CF8CBBB-F615-46FF-8B0D-4A671B8D4FDD}"/>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16</a:t>
            </a:r>
          </a:p>
        </p:txBody>
      </p:sp>
      <p:sp>
        <p:nvSpPr>
          <p:cNvPr id="5" name="text">
            <a:extLst xmlns:a="http://schemas.openxmlformats.org/drawingml/2006/main">
              <a:ext uri="{FF2B5EF4-FFF2-40B4-BE49-F238E27FC236}">
                <a16:creationId xmlns:a16="http://schemas.microsoft.com/office/drawing/2014/main" id="{A4E89FDC-C05A-4BDB-9127-944E4E3CAA68}"/>
              </a:ext>
            </a:extLst>
          </p:cNvPr>
          <p:cNvSpPr>
            <a:spLocks xmlns:a="http://schemas.openxmlformats.org/drawingml/2006/main" noGrp="1"/>
          </p:cNvSpPr>
          <p:nvPr/>
        </p:nvSpPr>
        <p:spPr>
          <a:xfrm xmlns:a="http://schemas.openxmlformats.org/drawingml/2006/main">
            <a:off x="742950" y="150495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325" b="1">
                <a:solidFill>
                  <a:srgbClr val="087E8B"/>
                </a:solidFill>
                <a:latin typeface="Aptos"/>
                <a:ea typeface="Aptos"/>
                <a:cs typeface="Aptos"/>
              </a:defRPr>
            </a:defPPr>
            <a:lvl1pPr algn="ctr">
              <a:defRPr sz="2325" b="1">
                <a:solidFill>
                  <a:srgbClr val="087E8B"/>
                </a:solidFill>
                <a:latin typeface="Aptos"/>
                <a:ea typeface="Aptos"/>
                <a:cs typeface="Aptos"/>
              </a:defRPr>
            </a:lvl1pPr>
            <a:lvl2pPr algn="ctr">
              <a:defRPr sz="2325" b="1">
                <a:solidFill>
                  <a:srgbClr val="087E8B"/>
                </a:solidFill>
                <a:latin typeface="Aptos"/>
                <a:ea typeface="Aptos"/>
                <a:cs typeface="Aptos"/>
              </a:defRPr>
            </a:lvl2pPr>
            <a:lvl3pPr algn="ctr">
              <a:defRPr sz="2325" b="1">
                <a:solidFill>
                  <a:srgbClr val="087E8B"/>
                </a:solidFill>
                <a:latin typeface="Aptos"/>
                <a:ea typeface="Aptos"/>
                <a:cs typeface="Aptos"/>
              </a:defRPr>
            </a:lvl3pPr>
            <a:lvl4pPr algn="ctr">
              <a:defRPr sz="2325" b="1">
                <a:solidFill>
                  <a:srgbClr val="087E8B"/>
                </a:solidFill>
                <a:latin typeface="Aptos"/>
                <a:ea typeface="Aptos"/>
                <a:cs typeface="Aptos"/>
              </a:defRPr>
            </a:lvl4pPr>
            <a:lvl5pPr algn="ctr">
              <a:defRPr sz="2325" b="1">
                <a:solidFill>
                  <a:srgbClr val="087E8B"/>
                </a:solidFill>
                <a:latin typeface="Aptos"/>
                <a:ea typeface="Aptos"/>
                <a:cs typeface="Aptos"/>
              </a:defRPr>
            </a:lvl5pPr>
            <a:lvl6pPr algn="ctr">
              <a:defRPr sz="2325" b="1">
                <a:solidFill>
                  <a:srgbClr val="087E8B"/>
                </a:solidFill>
                <a:latin typeface="Aptos"/>
                <a:ea typeface="Aptos"/>
                <a:cs typeface="Aptos"/>
              </a:defRPr>
            </a:lvl6pPr>
            <a:lvl7pPr algn="ctr">
              <a:defRPr sz="2325" b="1">
                <a:solidFill>
                  <a:srgbClr val="087E8B"/>
                </a:solidFill>
                <a:latin typeface="Aptos"/>
                <a:ea typeface="Aptos"/>
                <a:cs typeface="Aptos"/>
              </a:defRPr>
            </a:lvl7pPr>
            <a:lvl8pPr algn="ctr">
              <a:defRPr sz="2325" b="1">
                <a:solidFill>
                  <a:srgbClr val="087E8B"/>
                </a:solidFill>
                <a:latin typeface="Aptos"/>
                <a:ea typeface="Aptos"/>
                <a:cs typeface="Aptos"/>
              </a:defRPr>
            </a:lvl8pPr>
            <a:lvl9pPr algn="ctr">
              <a:defRPr sz="2325" b="1">
                <a:solidFill>
                  <a:srgbClr val="087E8B"/>
                </a:solidFill>
                <a:latin typeface="Aptos"/>
                <a:ea typeface="Aptos"/>
                <a:cs typeface="Aptos"/>
              </a:defRPr>
            </a:lvl9pPr>
          </a:lstStyle>
          <a:p xmlns:a="http://schemas.openxmlformats.org/drawingml/2006/main">
            <a:pPr algn="ctr">
              <a:lnSpc>
                <a:spcPct val="108000"/>
              </a:lnSpc>
              <a:buNone/>
              <a:defRPr sz="2325" b="1">
                <a:solidFill>
                  <a:srgbClr val="087E8B"/>
                </a:solidFill>
                <a:latin typeface="Aptos"/>
                <a:ea typeface="Aptos"/>
                <a:cs typeface="Aptos"/>
              </a:defRPr>
            </a:pPr>
            <a:r>
              <a:rPr sz="2325" b="1">
                <a:solidFill>
                  <a:srgbClr val="087E8B"/>
                </a:solidFill>
                <a:latin typeface="Aptos"/>
                <a:ea typeface="Aptos"/>
                <a:cs typeface="Aptos"/>
              </a:rPr>
              <a:t>PCAP / passive IPv4 TCP-UDP capture -&gt; bounded bidirectional flow aggregation -&gt; saved classifier -&gt; JSONL prediction events</a:t>
            </a:r>
          </a:p>
        </p:txBody>
      </p:sp>
      <p:sp>
        <p:nvSpPr>
          <p:cNvPr id="6" name="editable bullet list">
            <a:extLst xmlns:a="http://schemas.openxmlformats.org/drawingml/2006/main">
              <a:ext uri="{FF2B5EF4-FFF2-40B4-BE49-F238E27FC236}">
                <a16:creationId xmlns:a16="http://schemas.microsoft.com/office/drawing/2014/main" id="{BC7F1D8A-8252-4BA9-A6DA-F02917F282E4}"/>
              </a:ext>
            </a:extLst>
          </p:cNvPr>
          <p:cNvSpPr>
            <a:spLocks xmlns:a="http://schemas.openxmlformats.org/drawingml/2006/main" noGrp="1"/>
          </p:cNvSpPr>
          <p:nvPr/>
        </p:nvSpPr>
        <p:spPr>
          <a:xfrm xmlns:a="http://schemas.openxmlformats.org/drawingml/2006/main">
            <a:off x="895350" y="2952750"/>
            <a:ext cx="10334625"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a:solidFill>
                  <a:srgbClr val="1E3445"/>
                </a:solidFill>
                <a:latin typeface="Aptos"/>
                <a:ea typeface="Aptos"/>
                <a:cs typeface="Aptos"/>
              </a:defRPr>
            </a:defPPr>
            <a:lvl1pPr algn="l">
              <a:defRPr sz="1725">
                <a:solidFill>
                  <a:srgbClr val="1E3445"/>
                </a:solidFill>
                <a:latin typeface="Aptos"/>
                <a:ea typeface="Aptos"/>
                <a:cs typeface="Aptos"/>
              </a:defRPr>
            </a:lvl1pPr>
            <a:lvl2pPr algn="l">
              <a:defRPr sz="1725">
                <a:solidFill>
                  <a:srgbClr val="1E3445"/>
                </a:solidFill>
                <a:latin typeface="Aptos"/>
                <a:ea typeface="Aptos"/>
                <a:cs typeface="Aptos"/>
              </a:defRPr>
            </a:lvl2pPr>
            <a:lvl3pPr algn="l">
              <a:defRPr sz="1725">
                <a:solidFill>
                  <a:srgbClr val="1E3445"/>
                </a:solidFill>
                <a:latin typeface="Aptos"/>
                <a:ea typeface="Aptos"/>
                <a:cs typeface="Aptos"/>
              </a:defRPr>
            </a:lvl3pPr>
            <a:lvl4pPr algn="l">
              <a:defRPr sz="1725">
                <a:solidFill>
                  <a:srgbClr val="1E3445"/>
                </a:solidFill>
                <a:latin typeface="Aptos"/>
                <a:ea typeface="Aptos"/>
                <a:cs typeface="Aptos"/>
              </a:defRPr>
            </a:lvl4pPr>
            <a:lvl5pPr algn="l">
              <a:defRPr sz="1725">
                <a:solidFill>
                  <a:srgbClr val="1E3445"/>
                </a:solidFill>
                <a:latin typeface="Aptos"/>
                <a:ea typeface="Aptos"/>
                <a:cs typeface="Aptos"/>
              </a:defRPr>
            </a:lvl5pPr>
            <a:lvl6pPr algn="l">
              <a:defRPr sz="1725">
                <a:solidFill>
                  <a:srgbClr val="1E3445"/>
                </a:solidFill>
                <a:latin typeface="Aptos"/>
                <a:ea typeface="Aptos"/>
                <a:cs typeface="Aptos"/>
              </a:defRPr>
            </a:lvl6pPr>
            <a:lvl7pPr algn="l">
              <a:defRPr sz="1725">
                <a:solidFill>
                  <a:srgbClr val="1E3445"/>
                </a:solidFill>
                <a:latin typeface="Aptos"/>
                <a:ea typeface="Aptos"/>
                <a:cs typeface="Aptos"/>
              </a:defRPr>
            </a:lvl7pPr>
            <a:lvl8pPr algn="l">
              <a:defRPr sz="1725">
                <a:solidFill>
                  <a:srgbClr val="1E3445"/>
                </a:solidFill>
                <a:latin typeface="Aptos"/>
                <a:ea typeface="Aptos"/>
                <a:cs typeface="Aptos"/>
              </a:defRPr>
            </a:lvl8pPr>
            <a:lvl9pPr algn="l">
              <a:defRPr sz="1725">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725">
                <a:solidFill>
                  <a:srgbClr val="1E3445"/>
                </a:solidFill>
                <a:latin typeface="Aptos"/>
                <a:ea typeface="Aptos"/>
                <a:cs typeface="Aptos"/>
              </a:defRPr>
            </a:pPr>
            <a:r>
              <a:rPr sz="1725">
                <a:solidFill>
                  <a:srgbClr val="1E3445"/>
                </a:solidFill>
                <a:latin typeface="Aptos"/>
                <a:ea typeface="Aptos"/>
                <a:cs typeface="Aptos"/>
              </a:rPr>
              <a:t>Synthetic replay: 48 packets became 12 completed flows.</a:t>
            </a:r>
          </a:p>
          <a:p xmlns:a="http://schemas.openxmlformats.org/drawingml/2006/main">
            <a:pPr marL="279400" indent="-139700" algn="l">
              <a:lnSpc>
                <a:spcPct val="115000"/>
              </a:lnSpc>
              <a:spcAft>
                <a:spcPts val="1200"/>
              </a:spcAft>
              <a:buNone/>
              <a:defRPr sz="1725">
                <a:solidFill>
                  <a:srgbClr val="1E3445"/>
                </a:solidFill>
                <a:latin typeface="Aptos"/>
                <a:ea typeface="Aptos"/>
                <a:cs typeface="Aptos"/>
              </a:defRPr>
            </a:pPr>
            <a:r>
              <a:rPr sz="1725">
                <a:solidFill>
                  <a:srgbClr val="1E3445"/>
                </a:solidFill>
                <a:latin typeface="Aptos"/>
                <a:ea typeface="Aptos"/>
                <a:cs typeface="Aptos"/>
              </a:rPr>
              <a:t>Recorded run: 0.207 seconds, about 58 flows per second on the tiny sample.</a:t>
            </a:r>
          </a:p>
          <a:p xmlns:a="http://schemas.openxmlformats.org/drawingml/2006/main">
            <a:pPr marL="279400" indent="-139700" algn="l">
              <a:lnSpc>
                <a:spcPct val="115000"/>
              </a:lnSpc>
              <a:spcAft>
                <a:spcPts val="1200"/>
              </a:spcAft>
              <a:buNone/>
              <a:defRPr sz="1725">
                <a:solidFill>
                  <a:srgbClr val="1E3445"/>
                </a:solidFill>
                <a:latin typeface="Aptos"/>
                <a:ea typeface="Aptos"/>
                <a:cs typeface="Aptos"/>
              </a:defRPr>
            </a:pPr>
            <a:r>
              <a:rPr sz="1725">
                <a:solidFill>
                  <a:srgbClr val="1E3445"/>
                </a:solidFill>
                <a:latin typeface="Aptos"/>
                <a:ea typeface="Aptos"/>
                <a:cs typeface="Aptos"/>
              </a:rPr>
              <a:t>No attack ground truth was attached to the synthetic replay.</a:t>
            </a:r>
          </a:p>
          <a:p xmlns:a="http://schemas.openxmlformats.org/drawingml/2006/main">
            <a:pPr marL="279400" indent="-139700" algn="l">
              <a:lnSpc>
                <a:spcPct val="115000"/>
              </a:lnSpc>
              <a:spcAft>
                <a:spcPts val="1200"/>
              </a:spcAft>
              <a:buNone/>
              <a:defRPr sz="1725">
                <a:solidFill>
                  <a:srgbClr val="1E3445"/>
                </a:solidFill>
                <a:latin typeface="Aptos"/>
                <a:ea typeface="Aptos"/>
                <a:cs typeface="Aptos"/>
              </a:defRPr>
            </a:pPr>
            <a:r>
              <a:rPr sz="1725">
                <a:solidFill>
                  <a:srgbClr val="1E3445"/>
                </a:solidFill>
                <a:latin typeface="Aptos"/>
                <a:ea typeface="Aptos"/>
                <a:cs typeface="Aptos"/>
              </a:rPr>
              <a:t>Npcap is required for live capture; physical interface operation was not verified.</a:t>
            </a:r>
          </a:p>
        </p:txBody>
      </p:sp>
    </p:spTree>
    <p:extLst>
      <p:ext uri="{BB962C8B-B14F-4D97-AF65-F5344CB8AC3E}">
        <p14:creationId xmlns:p14="http://schemas.microsoft.com/office/powerpoint/2010/main" val="1499483377"/>
      </p:ext>
    </p:extLst>
  </p:cSld>
</p:sld>
</file>

<file path=ppt/slides/slide1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67FFF644-A2B0-4CDD-A0D8-943A434AA897}"/>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3  /  EXTENSIONS AND PROJECT DEMO</a:t>
            </a:r>
          </a:p>
        </p:txBody>
      </p:sp>
      <p:sp>
        <p:nvSpPr>
          <p:cNvPr id="2" name="text">
            <a:extLst xmlns:a="http://schemas.openxmlformats.org/drawingml/2006/main">
              <a:ext uri="{FF2B5EF4-FFF2-40B4-BE49-F238E27FC236}">
                <a16:creationId xmlns:a16="http://schemas.microsoft.com/office/drawing/2014/main" id="{DD62D95B-9D39-49E7-A458-FB9CE899E1FF}"/>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Local dashboard demonstration</a:t>
            </a:r>
          </a:p>
        </p:txBody>
      </p:sp>
      <p:sp>
        <p:nvSpPr>
          <p:cNvPr id="3" name="text">
            <a:extLst xmlns:a="http://schemas.openxmlformats.org/drawingml/2006/main">
              <a:ext uri="{FF2B5EF4-FFF2-40B4-BE49-F238E27FC236}">
                <a16:creationId xmlns:a16="http://schemas.microsoft.com/office/drawing/2014/main" id="{22DB1A14-A665-47F3-8E6E-424BD210F33B}"/>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788350C9-81F0-4771-B388-86CC1660118D}"/>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17</a:t>
            </a:r>
          </a:p>
        </p:txBody>
      </p:sp>
      <p:sp>
        <p:nvSpPr>
          <p:cNvPr id="5" name="text">
            <a:extLst xmlns:a="http://schemas.openxmlformats.org/drawingml/2006/main">
              <a:ext uri="{FF2B5EF4-FFF2-40B4-BE49-F238E27FC236}">
                <a16:creationId xmlns:a16="http://schemas.microsoft.com/office/drawing/2014/main" id="{ED899B83-5A2A-41CA-A3A3-7B215A065D25}"/>
              </a:ext>
            </a:extLst>
          </p:cNvPr>
          <p:cNvSpPr>
            <a:spLocks xmlns:a="http://schemas.openxmlformats.org/drawingml/2006/main" noGrp="1"/>
          </p:cNvSpPr>
          <p:nvPr/>
        </p:nvSpPr>
        <p:spPr>
          <a:xfrm xmlns:a="http://schemas.openxmlformats.org/drawingml/2006/main">
            <a:off x="742950" y="14859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087E8B"/>
                </a:solidFill>
                <a:latin typeface="Aptos"/>
                <a:ea typeface="Aptos"/>
                <a:cs typeface="Aptos"/>
              </a:defRPr>
            </a:defPPr>
            <a:lvl1pPr algn="l">
              <a:defRPr sz="1800" b="1">
                <a:solidFill>
                  <a:srgbClr val="087E8B"/>
                </a:solidFill>
                <a:latin typeface="Aptos"/>
                <a:ea typeface="Aptos"/>
                <a:cs typeface="Aptos"/>
              </a:defRPr>
            </a:lvl1pPr>
            <a:lvl2pPr algn="l">
              <a:defRPr sz="1800" b="1">
                <a:solidFill>
                  <a:srgbClr val="087E8B"/>
                </a:solidFill>
                <a:latin typeface="Aptos"/>
                <a:ea typeface="Aptos"/>
                <a:cs typeface="Aptos"/>
              </a:defRPr>
            </a:lvl2pPr>
            <a:lvl3pPr algn="l">
              <a:defRPr sz="1800" b="1">
                <a:solidFill>
                  <a:srgbClr val="087E8B"/>
                </a:solidFill>
                <a:latin typeface="Aptos"/>
                <a:ea typeface="Aptos"/>
                <a:cs typeface="Aptos"/>
              </a:defRPr>
            </a:lvl3pPr>
            <a:lvl4pPr algn="l">
              <a:defRPr sz="1800" b="1">
                <a:solidFill>
                  <a:srgbClr val="087E8B"/>
                </a:solidFill>
                <a:latin typeface="Aptos"/>
                <a:ea typeface="Aptos"/>
                <a:cs typeface="Aptos"/>
              </a:defRPr>
            </a:lvl4pPr>
            <a:lvl5pPr algn="l">
              <a:defRPr sz="1800" b="1">
                <a:solidFill>
                  <a:srgbClr val="087E8B"/>
                </a:solidFill>
                <a:latin typeface="Aptos"/>
                <a:ea typeface="Aptos"/>
                <a:cs typeface="Aptos"/>
              </a:defRPr>
            </a:lvl5pPr>
            <a:lvl6pPr algn="l">
              <a:defRPr sz="1800" b="1">
                <a:solidFill>
                  <a:srgbClr val="087E8B"/>
                </a:solidFill>
                <a:latin typeface="Aptos"/>
                <a:ea typeface="Aptos"/>
                <a:cs typeface="Aptos"/>
              </a:defRPr>
            </a:lvl6pPr>
            <a:lvl7pPr algn="l">
              <a:defRPr sz="1800" b="1">
                <a:solidFill>
                  <a:srgbClr val="087E8B"/>
                </a:solidFill>
                <a:latin typeface="Aptos"/>
                <a:ea typeface="Aptos"/>
                <a:cs typeface="Aptos"/>
              </a:defRPr>
            </a:lvl7pPr>
            <a:lvl8pPr algn="l">
              <a:defRPr sz="1800" b="1">
                <a:solidFill>
                  <a:srgbClr val="087E8B"/>
                </a:solidFill>
                <a:latin typeface="Aptos"/>
                <a:ea typeface="Aptos"/>
                <a:cs typeface="Aptos"/>
              </a:defRPr>
            </a:lvl8pPr>
            <a:lvl9pPr algn="l">
              <a:defRPr sz="1800" b="1">
                <a:solidFill>
                  <a:srgbClr val="087E8B"/>
                </a:solidFill>
                <a:latin typeface="Aptos"/>
                <a:ea typeface="Aptos"/>
                <a:cs typeface="Aptos"/>
              </a:defRPr>
            </a:lvl9pPr>
          </a:lstStyle>
          <a:p xmlns:a="http://schemas.openxmlformats.org/drawingml/2006/main">
            <a:pPr algn="l">
              <a:lnSpc>
                <a:spcPct val="108000"/>
              </a:lnSpc>
              <a:buNone/>
              <a:defRPr sz="1800" b="1">
                <a:solidFill>
                  <a:srgbClr val="087E8B"/>
                </a:solidFill>
                <a:latin typeface="Aptos"/>
                <a:ea typeface="Aptos"/>
                <a:cs typeface="Aptos"/>
              </a:defRPr>
            </a:pPr>
            <a:r>
              <a:rPr sz="1800" b="1">
                <a:solidFill>
                  <a:srgbClr val="087E8B"/>
                </a:solidFill>
                <a:latin typeface="Aptos"/>
                <a:ea typeface="Aptos"/>
                <a:cs typeface="Aptos"/>
              </a:rPr>
              <a:t>Demo sequence</a:t>
            </a:r>
          </a:p>
        </p:txBody>
      </p:sp>
      <p:sp>
        <p:nvSpPr>
          <p:cNvPr id="6" name="editable bullet list">
            <a:extLst xmlns:a="http://schemas.openxmlformats.org/drawingml/2006/main">
              <a:ext uri="{FF2B5EF4-FFF2-40B4-BE49-F238E27FC236}">
                <a16:creationId xmlns:a16="http://schemas.microsoft.com/office/drawing/2014/main" id="{5317C94D-745B-4790-9BE4-45B8F5809D29}"/>
              </a:ext>
            </a:extLst>
          </p:cNvPr>
          <p:cNvSpPr>
            <a:spLocks xmlns:a="http://schemas.openxmlformats.org/drawingml/2006/main" noGrp="1"/>
          </p:cNvSpPr>
          <p:nvPr/>
        </p:nvSpPr>
        <p:spPr>
          <a:xfrm xmlns:a="http://schemas.openxmlformats.org/drawingml/2006/main">
            <a:off x="742950" y="1981200"/>
            <a:ext cx="40957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a:solidFill>
                  <a:srgbClr val="1E3445"/>
                </a:solidFill>
                <a:latin typeface="Aptos"/>
                <a:ea typeface="Aptos"/>
                <a:cs typeface="Aptos"/>
              </a:defRPr>
            </a:defPPr>
            <a:lvl1pPr algn="l">
              <a:defRPr sz="1575">
                <a:solidFill>
                  <a:srgbClr val="1E3445"/>
                </a:solidFill>
                <a:latin typeface="Aptos"/>
                <a:ea typeface="Aptos"/>
                <a:cs typeface="Aptos"/>
              </a:defRPr>
            </a:lvl1pPr>
            <a:lvl2pPr algn="l">
              <a:defRPr sz="1575">
                <a:solidFill>
                  <a:srgbClr val="1E3445"/>
                </a:solidFill>
                <a:latin typeface="Aptos"/>
                <a:ea typeface="Aptos"/>
                <a:cs typeface="Aptos"/>
              </a:defRPr>
            </a:lvl2pPr>
            <a:lvl3pPr algn="l">
              <a:defRPr sz="1575">
                <a:solidFill>
                  <a:srgbClr val="1E3445"/>
                </a:solidFill>
                <a:latin typeface="Aptos"/>
                <a:ea typeface="Aptos"/>
                <a:cs typeface="Aptos"/>
              </a:defRPr>
            </a:lvl3pPr>
            <a:lvl4pPr algn="l">
              <a:defRPr sz="1575">
                <a:solidFill>
                  <a:srgbClr val="1E3445"/>
                </a:solidFill>
                <a:latin typeface="Aptos"/>
                <a:ea typeface="Aptos"/>
                <a:cs typeface="Aptos"/>
              </a:defRPr>
            </a:lvl4pPr>
            <a:lvl5pPr algn="l">
              <a:defRPr sz="1575">
                <a:solidFill>
                  <a:srgbClr val="1E3445"/>
                </a:solidFill>
                <a:latin typeface="Aptos"/>
                <a:ea typeface="Aptos"/>
                <a:cs typeface="Aptos"/>
              </a:defRPr>
            </a:lvl5pPr>
            <a:lvl6pPr algn="l">
              <a:defRPr sz="1575">
                <a:solidFill>
                  <a:srgbClr val="1E3445"/>
                </a:solidFill>
                <a:latin typeface="Aptos"/>
                <a:ea typeface="Aptos"/>
                <a:cs typeface="Aptos"/>
              </a:defRPr>
            </a:lvl6pPr>
            <a:lvl7pPr algn="l">
              <a:defRPr sz="1575">
                <a:solidFill>
                  <a:srgbClr val="1E3445"/>
                </a:solidFill>
                <a:latin typeface="Aptos"/>
                <a:ea typeface="Aptos"/>
                <a:cs typeface="Aptos"/>
              </a:defRPr>
            </a:lvl7pPr>
            <a:lvl8pPr algn="l">
              <a:defRPr sz="1575">
                <a:solidFill>
                  <a:srgbClr val="1E3445"/>
                </a:solidFill>
                <a:latin typeface="Aptos"/>
                <a:ea typeface="Aptos"/>
                <a:cs typeface="Aptos"/>
              </a:defRPr>
            </a:lvl8pPr>
            <a:lvl9pPr algn="l">
              <a:defRPr sz="1575">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575">
                <a:solidFill>
                  <a:srgbClr val="1E3445"/>
                </a:solidFill>
                <a:latin typeface="Aptos"/>
                <a:ea typeface="Aptos"/>
                <a:cs typeface="Aptos"/>
              </a:defRPr>
            </a:pPr>
            <a:r>
              <a:rPr sz="1575">
                <a:solidFill>
                  <a:srgbClr val="1E3445"/>
                </a:solidFill>
                <a:latin typeface="Aptos"/>
                <a:ea typeface="Aptos"/>
                <a:cs typeface="Aptos"/>
              </a:rPr>
              <a:t>Open the local app at http://127.0.0.1:8502.</a:t>
            </a:r>
          </a:p>
          <a:p xmlns:a="http://schemas.openxmlformats.org/drawingml/2006/main">
            <a:pPr marL="279400" indent="-139700" algn="l">
              <a:lnSpc>
                <a:spcPct val="115000"/>
              </a:lnSpc>
              <a:spcAft>
                <a:spcPts val="1200"/>
              </a:spcAft>
              <a:buNone/>
              <a:defRPr sz="1575">
                <a:solidFill>
                  <a:srgbClr val="1E3445"/>
                </a:solidFill>
                <a:latin typeface="Aptos"/>
                <a:ea typeface="Aptos"/>
                <a:cs typeface="Aptos"/>
              </a:defRPr>
            </a:pPr>
            <a:r>
              <a:rPr sz="1575">
                <a:solidFill>
                  <a:srgbClr val="1E3445"/>
                </a:solidFill>
                <a:latin typeface="Aptos"/>
                <a:ea typeface="Aptos"/>
                <a:cs typeface="Aptos"/>
              </a:rPr>
              <a:t>Choose Extended seven classes and classify included examples.</a:t>
            </a:r>
          </a:p>
          <a:p xmlns:a="http://schemas.openxmlformats.org/drawingml/2006/main">
            <a:pPr marL="279400" indent="-139700" algn="l">
              <a:lnSpc>
                <a:spcPct val="115000"/>
              </a:lnSpc>
              <a:spcAft>
                <a:spcPts val="1200"/>
              </a:spcAft>
              <a:buNone/>
              <a:defRPr sz="1575">
                <a:solidFill>
                  <a:srgbClr val="1E3445"/>
                </a:solidFill>
                <a:latin typeface="Aptos"/>
                <a:ea typeface="Aptos"/>
                <a:cs typeface="Aptos"/>
              </a:defRPr>
            </a:pPr>
            <a:r>
              <a:rPr sz="1575">
                <a:solidFill>
                  <a:srgbClr val="1E3445"/>
                </a:solidFill>
                <a:latin typeface="Aptos"/>
                <a:ea typeface="Aptos"/>
                <a:cs typeface="Aptos"/>
              </a:rPr>
              <a:t>Show Model performance and per-class support.</a:t>
            </a:r>
          </a:p>
          <a:p xmlns:a="http://schemas.openxmlformats.org/drawingml/2006/main">
            <a:pPr marL="279400" indent="-139700" algn="l">
              <a:lnSpc>
                <a:spcPct val="115000"/>
              </a:lnSpc>
              <a:spcAft>
                <a:spcPts val="1200"/>
              </a:spcAft>
              <a:buNone/>
              <a:defRPr sz="1575">
                <a:solidFill>
                  <a:srgbClr val="1E3445"/>
                </a:solidFill>
                <a:latin typeface="Aptos"/>
                <a:ea typeface="Aptos"/>
                <a:cs typeface="Aptos"/>
              </a:defRPr>
            </a:pPr>
            <a:r>
              <a:rPr sz="1575">
                <a:solidFill>
                  <a:srgbClr val="1E3445"/>
                </a:solidFill>
                <a:latin typeface="Aptos"/>
                <a:ea typeface="Aptos"/>
                <a:cs typeface="Aptos"/>
              </a:rPr>
              <a:t>If time allows, open Extended lab and run one saved model.</a:t>
            </a:r>
          </a:p>
        </p:txBody>
      </p:sp>
      <p:pic>
        <p:nvPicPr>
          <p:cNvPr id="7" name="">
            <a:extLst xmlns:a="http://schemas.openxmlformats.org/drawingml/2006/main">
              <a:ext uri="{FF2B5EF4-FFF2-40B4-BE49-F238E27FC236}">
                <a16:creationId xmlns:a16="http://schemas.microsoft.com/office/drawing/2014/main" id="{12A28C23-1834-4C65-BFDE-B4A378CF7B17}"/>
              </a:ext>
            </a:extLst>
          </p:cNvPr>
          <p:cNvPicPr>
            <a:picLocks xmlns:a="http://schemas.openxmlformats.org/drawingml/2006/main" noChangeAspect="1"/>
          </p:cNvPicPr>
          <p:nvPr/>
        </p:nvPicPr>
        <p:blipFill>
          <a:blip xmlns:r="http://schemas.openxmlformats.org/officeDocument/2006/relationships" xmlns:a="http://schemas.openxmlformats.org/drawingml/2006/main" r:embed="Rd9e396ec551b44b3"/>
          <a:stretch xmlns:a="http://schemas.openxmlformats.org/drawingml/2006/main"/>
        </p:blipFill>
        <p:spPr>
          <a:xfrm xmlns:a="http://schemas.openxmlformats.org/drawingml/2006/main">
            <a:off x="5191125" y="1887736"/>
            <a:ext cx="6191250" cy="348257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EC153F33-4D9C-453D-9857-60A2DE482E25}"/>
              </a:ext>
            </a:extLst>
          </p:cNvPr>
          <p:cNvSpPr>
            <a:spLocks xmlns:a="http://schemas.openxmlformats.org/drawingml/2006/main" noGrp="1"/>
          </p:cNvSpPr>
          <p:nvPr/>
        </p:nvSpPr>
        <p:spPr>
          <a:xfrm xmlns:a="http://schemas.openxmlformats.org/drawingml/2006/main">
            <a:off x="742950" y="58293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536878"/>
                </a:solidFill>
                <a:latin typeface="Aptos"/>
                <a:ea typeface="Aptos"/>
                <a:cs typeface="Aptos"/>
              </a:defRPr>
            </a:defPPr>
            <a:lvl1pPr algn="l">
              <a:defRPr sz="1200" b="0">
                <a:solidFill>
                  <a:srgbClr val="536878"/>
                </a:solidFill>
                <a:latin typeface="Aptos"/>
                <a:ea typeface="Aptos"/>
                <a:cs typeface="Aptos"/>
              </a:defRPr>
            </a:lvl1pPr>
            <a:lvl2pPr algn="l">
              <a:defRPr sz="1200" b="0">
                <a:solidFill>
                  <a:srgbClr val="536878"/>
                </a:solidFill>
                <a:latin typeface="Aptos"/>
                <a:ea typeface="Aptos"/>
                <a:cs typeface="Aptos"/>
              </a:defRPr>
            </a:lvl2pPr>
            <a:lvl3pPr algn="l">
              <a:defRPr sz="1200" b="0">
                <a:solidFill>
                  <a:srgbClr val="536878"/>
                </a:solidFill>
                <a:latin typeface="Aptos"/>
                <a:ea typeface="Aptos"/>
                <a:cs typeface="Aptos"/>
              </a:defRPr>
            </a:lvl3pPr>
            <a:lvl4pPr algn="l">
              <a:defRPr sz="1200" b="0">
                <a:solidFill>
                  <a:srgbClr val="536878"/>
                </a:solidFill>
                <a:latin typeface="Aptos"/>
                <a:ea typeface="Aptos"/>
                <a:cs typeface="Aptos"/>
              </a:defRPr>
            </a:lvl4pPr>
            <a:lvl5pPr algn="l">
              <a:defRPr sz="1200" b="0">
                <a:solidFill>
                  <a:srgbClr val="536878"/>
                </a:solidFill>
                <a:latin typeface="Aptos"/>
                <a:ea typeface="Aptos"/>
                <a:cs typeface="Aptos"/>
              </a:defRPr>
            </a:lvl5pPr>
            <a:lvl6pPr algn="l">
              <a:defRPr sz="1200" b="0">
                <a:solidFill>
                  <a:srgbClr val="536878"/>
                </a:solidFill>
                <a:latin typeface="Aptos"/>
                <a:ea typeface="Aptos"/>
                <a:cs typeface="Aptos"/>
              </a:defRPr>
            </a:lvl6pPr>
            <a:lvl7pPr algn="l">
              <a:defRPr sz="1200" b="0">
                <a:solidFill>
                  <a:srgbClr val="536878"/>
                </a:solidFill>
                <a:latin typeface="Aptos"/>
                <a:ea typeface="Aptos"/>
                <a:cs typeface="Aptos"/>
              </a:defRPr>
            </a:lvl7pPr>
            <a:lvl8pPr algn="l">
              <a:defRPr sz="1200" b="0">
                <a:solidFill>
                  <a:srgbClr val="536878"/>
                </a:solidFill>
                <a:latin typeface="Aptos"/>
                <a:ea typeface="Aptos"/>
                <a:cs typeface="Aptos"/>
              </a:defRPr>
            </a:lvl8pPr>
            <a:lvl9pPr algn="l">
              <a:defRPr sz="1200" b="0">
                <a:solidFill>
                  <a:srgbClr val="536878"/>
                </a:solidFill>
                <a:latin typeface="Aptos"/>
                <a:ea typeface="Aptos"/>
                <a:cs typeface="Aptos"/>
              </a:defRPr>
            </a:lvl9pPr>
          </a:lstStyle>
          <a:p xmlns:a="http://schemas.openxmlformats.org/drawingml/2006/main">
            <a:pPr algn="l">
              <a:lnSpc>
                <a:spcPct val="108000"/>
              </a:lnSpc>
              <a:buNone/>
              <a:defRPr sz="1200" b="0">
                <a:solidFill>
                  <a:srgbClr val="536878"/>
                </a:solidFill>
                <a:latin typeface="Aptos"/>
                <a:ea typeface="Aptos"/>
                <a:cs typeface="Aptos"/>
              </a:defRPr>
            </a:pPr>
            <a:r>
              <a:rPr sz="1200" b="0">
                <a:solidFill>
                  <a:srgbClr val="536878"/>
                </a:solidFill>
                <a:latin typeface="Aptos"/>
                <a:ea typeface="Aptos"/>
                <a:cs typeface="Aptos"/>
              </a:rPr>
              <a:t>This interface is local to the running computer; it is not a public website.</a:t>
            </a:r>
          </a:p>
        </p:txBody>
      </p:sp>
    </p:spTree>
    <p:extLst>
      <p:ext uri="{BB962C8B-B14F-4D97-AF65-F5344CB8AC3E}">
        <p14:creationId xmlns:p14="http://schemas.microsoft.com/office/powerpoint/2010/main" val="1949163509"/>
      </p:ext>
    </p:extLst>
  </p:cSld>
</p:sld>
</file>

<file path=ppt/slides/slide1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A881C792-7205-4A65-A77F-86E0F0DF22EB}"/>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3  /  EXTENSIONS AND PROJECT DEMO</a:t>
            </a:r>
          </a:p>
        </p:txBody>
      </p:sp>
      <p:sp>
        <p:nvSpPr>
          <p:cNvPr id="2" name="text">
            <a:extLst xmlns:a="http://schemas.openxmlformats.org/drawingml/2006/main">
              <a:ext uri="{FF2B5EF4-FFF2-40B4-BE49-F238E27FC236}">
                <a16:creationId xmlns:a16="http://schemas.microsoft.com/office/drawing/2014/main" id="{1751DDB9-B13F-4E67-9279-25B082414D2E}"/>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What remains to validate</a:t>
            </a:r>
          </a:p>
        </p:txBody>
      </p:sp>
      <p:sp>
        <p:nvSpPr>
          <p:cNvPr id="3" name="text">
            <a:extLst xmlns:a="http://schemas.openxmlformats.org/drawingml/2006/main">
              <a:ext uri="{FF2B5EF4-FFF2-40B4-BE49-F238E27FC236}">
                <a16:creationId xmlns:a16="http://schemas.microsoft.com/office/drawing/2014/main" id="{3F158310-6353-46FE-B9A1-8AB53E4FCC7A}"/>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7C597CB6-74AB-49C4-BDE7-823193C98AC6}"/>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18</a:t>
            </a:r>
          </a:p>
        </p:txBody>
      </p:sp>
      <p:sp>
        <p:nvSpPr>
          <p:cNvPr id="5" name="editable bullet list">
            <a:extLst xmlns:a="http://schemas.openxmlformats.org/drawingml/2006/main">
              <a:ext uri="{FF2B5EF4-FFF2-40B4-BE49-F238E27FC236}">
                <a16:creationId xmlns:a16="http://schemas.microsoft.com/office/drawing/2014/main" id="{97678AD7-E079-493C-8A6F-B524EBB6E397}"/>
              </a:ext>
            </a:extLst>
          </p:cNvPr>
          <p:cNvSpPr>
            <a:spLocks xmlns:a="http://schemas.openxmlformats.org/drawingml/2006/main" noGrp="1"/>
          </p:cNvSpPr>
          <p:nvPr/>
        </p:nvSpPr>
        <p:spPr>
          <a:xfrm xmlns:a="http://schemas.openxmlformats.org/drawingml/2006/main">
            <a:off x="876300" y="1619250"/>
            <a:ext cx="1028700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a:solidFill>
                  <a:srgbClr val="1E3445"/>
                </a:solidFill>
                <a:latin typeface="Aptos"/>
                <a:ea typeface="Aptos"/>
                <a:cs typeface="Aptos"/>
              </a:defRPr>
            </a:defPPr>
            <a:lvl1pPr algn="l">
              <a:defRPr sz="1875">
                <a:solidFill>
                  <a:srgbClr val="1E3445"/>
                </a:solidFill>
                <a:latin typeface="Aptos"/>
                <a:ea typeface="Aptos"/>
                <a:cs typeface="Aptos"/>
              </a:defRPr>
            </a:lvl1pPr>
            <a:lvl2pPr algn="l">
              <a:defRPr sz="1875">
                <a:solidFill>
                  <a:srgbClr val="1E3445"/>
                </a:solidFill>
                <a:latin typeface="Aptos"/>
                <a:ea typeface="Aptos"/>
                <a:cs typeface="Aptos"/>
              </a:defRPr>
            </a:lvl2pPr>
            <a:lvl3pPr algn="l">
              <a:defRPr sz="1875">
                <a:solidFill>
                  <a:srgbClr val="1E3445"/>
                </a:solidFill>
                <a:latin typeface="Aptos"/>
                <a:ea typeface="Aptos"/>
                <a:cs typeface="Aptos"/>
              </a:defRPr>
            </a:lvl3pPr>
            <a:lvl4pPr algn="l">
              <a:defRPr sz="1875">
                <a:solidFill>
                  <a:srgbClr val="1E3445"/>
                </a:solidFill>
                <a:latin typeface="Aptos"/>
                <a:ea typeface="Aptos"/>
                <a:cs typeface="Aptos"/>
              </a:defRPr>
            </a:lvl4pPr>
            <a:lvl5pPr algn="l">
              <a:defRPr sz="1875">
                <a:solidFill>
                  <a:srgbClr val="1E3445"/>
                </a:solidFill>
                <a:latin typeface="Aptos"/>
                <a:ea typeface="Aptos"/>
                <a:cs typeface="Aptos"/>
              </a:defRPr>
            </a:lvl5pPr>
            <a:lvl6pPr algn="l">
              <a:defRPr sz="1875">
                <a:solidFill>
                  <a:srgbClr val="1E3445"/>
                </a:solidFill>
                <a:latin typeface="Aptos"/>
                <a:ea typeface="Aptos"/>
                <a:cs typeface="Aptos"/>
              </a:defRPr>
            </a:lvl6pPr>
            <a:lvl7pPr algn="l">
              <a:defRPr sz="1875">
                <a:solidFill>
                  <a:srgbClr val="1E3445"/>
                </a:solidFill>
                <a:latin typeface="Aptos"/>
                <a:ea typeface="Aptos"/>
                <a:cs typeface="Aptos"/>
              </a:defRPr>
            </a:lvl7pPr>
            <a:lvl8pPr algn="l">
              <a:defRPr sz="1875">
                <a:solidFill>
                  <a:srgbClr val="1E3445"/>
                </a:solidFill>
                <a:latin typeface="Aptos"/>
                <a:ea typeface="Aptos"/>
                <a:cs typeface="Aptos"/>
              </a:defRPr>
            </a:lvl8pPr>
            <a:lvl9pPr algn="l">
              <a:defRPr sz="1875">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Install Npcap and validate physical capture on an authorized interface.</a:t>
            </a:r>
          </a:p>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Measure feature-extraction parity against the training data definition.</a:t>
            </a:r>
          </a:p>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Add more rare Infiltration examples and independent host or campaign holdouts.</a:t>
            </a:r>
          </a:p>
          <a:p xmlns:a="http://schemas.openxmlformats.org/drawingml/2006/main">
            <a:pPr marL="279400" indent="-139700" algn="l">
              <a:lnSpc>
                <a:spcPct val="115000"/>
              </a:lnSpc>
              <a:spcAft>
                <a:spcPts val="1200"/>
              </a:spcAft>
              <a:buNone/>
              <a:defRPr sz="1875">
                <a:solidFill>
                  <a:srgbClr val="1E3445"/>
                </a:solidFill>
                <a:latin typeface="Aptos"/>
                <a:ea typeface="Aptos"/>
                <a:cs typeface="Aptos"/>
              </a:defRPr>
            </a:pPr>
            <a:r>
              <a:rPr sz="1875">
                <a:solidFill>
                  <a:srgbClr val="1E3445"/>
                </a:solidFill>
                <a:latin typeface="Aptos"/>
                <a:ea typeface="Aptos"/>
                <a:cs typeface="Aptos"/>
              </a:rPr>
              <a:t>Repeat model runs across seeds and test external datasets and target-network false alerts.</a:t>
            </a:r>
          </a:p>
        </p:txBody>
      </p:sp>
    </p:spTree>
    <p:extLst>
      <p:ext uri="{BB962C8B-B14F-4D97-AF65-F5344CB8AC3E}">
        <p14:creationId xmlns:p14="http://schemas.microsoft.com/office/powerpoint/2010/main" val="1217609675"/>
      </p:ext>
    </p:extLst>
  </p:cSld>
</p:sld>
</file>

<file path=ppt/slides/slide1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64B34DF1-DCFF-4FB5-A40C-C716D13A5B4E}"/>
              </a:ext>
            </a:extLst>
          </p:cNvPr>
          <p:cNvSpPr>
            <a:spLocks xmlns:a="http://schemas.openxmlformats.org/drawingml/2006/main" noGrp="1"/>
          </p:cNvSpPr>
          <p:nvPr/>
        </p:nvSpPr>
        <p:spPr>
          <a:xfrm xmlns:a="http://schemas.openxmlformats.org/drawingml/2006/main">
            <a:off x="666750" y="2286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087E8B"/>
                </a:solidFill>
                <a:latin typeface="Aptos"/>
                <a:ea typeface="Aptos"/>
                <a:cs typeface="Aptos"/>
              </a:defRPr>
            </a:defPPr>
            <a:lvl1pPr algn="l">
              <a:defRPr sz="1125" b="1">
                <a:solidFill>
                  <a:srgbClr val="087E8B"/>
                </a:solidFill>
                <a:latin typeface="Aptos"/>
                <a:ea typeface="Aptos"/>
                <a:cs typeface="Aptos"/>
              </a:defRPr>
            </a:lvl1pPr>
            <a:lvl2pPr algn="l">
              <a:defRPr sz="1125" b="1">
                <a:solidFill>
                  <a:srgbClr val="087E8B"/>
                </a:solidFill>
                <a:latin typeface="Aptos"/>
                <a:ea typeface="Aptos"/>
                <a:cs typeface="Aptos"/>
              </a:defRPr>
            </a:lvl2pPr>
            <a:lvl3pPr algn="l">
              <a:defRPr sz="1125" b="1">
                <a:solidFill>
                  <a:srgbClr val="087E8B"/>
                </a:solidFill>
                <a:latin typeface="Aptos"/>
                <a:ea typeface="Aptos"/>
                <a:cs typeface="Aptos"/>
              </a:defRPr>
            </a:lvl3pPr>
            <a:lvl4pPr algn="l">
              <a:defRPr sz="1125" b="1">
                <a:solidFill>
                  <a:srgbClr val="087E8B"/>
                </a:solidFill>
                <a:latin typeface="Aptos"/>
                <a:ea typeface="Aptos"/>
                <a:cs typeface="Aptos"/>
              </a:defRPr>
            </a:lvl4pPr>
            <a:lvl5pPr algn="l">
              <a:defRPr sz="1125" b="1">
                <a:solidFill>
                  <a:srgbClr val="087E8B"/>
                </a:solidFill>
                <a:latin typeface="Aptos"/>
                <a:ea typeface="Aptos"/>
                <a:cs typeface="Aptos"/>
              </a:defRPr>
            </a:lvl5pPr>
            <a:lvl6pPr algn="l">
              <a:defRPr sz="1125" b="1">
                <a:solidFill>
                  <a:srgbClr val="087E8B"/>
                </a:solidFill>
                <a:latin typeface="Aptos"/>
                <a:ea typeface="Aptos"/>
                <a:cs typeface="Aptos"/>
              </a:defRPr>
            </a:lvl6pPr>
            <a:lvl7pPr algn="l">
              <a:defRPr sz="1125" b="1">
                <a:solidFill>
                  <a:srgbClr val="087E8B"/>
                </a:solidFill>
                <a:latin typeface="Aptos"/>
                <a:ea typeface="Aptos"/>
                <a:cs typeface="Aptos"/>
              </a:defRPr>
            </a:lvl7pPr>
            <a:lvl8pPr algn="l">
              <a:defRPr sz="1125" b="1">
                <a:solidFill>
                  <a:srgbClr val="087E8B"/>
                </a:solidFill>
                <a:latin typeface="Aptos"/>
                <a:ea typeface="Aptos"/>
                <a:cs typeface="Aptos"/>
              </a:defRPr>
            </a:lvl8pPr>
            <a:lvl9pPr algn="l">
              <a:defRPr sz="1125" b="1">
                <a:solidFill>
                  <a:srgbClr val="087E8B"/>
                </a:solidFill>
                <a:latin typeface="Aptos"/>
                <a:ea typeface="Aptos"/>
                <a:cs typeface="Aptos"/>
              </a:defRPr>
            </a:lvl9pPr>
          </a:lstStyle>
          <a:p xmlns:a="http://schemas.openxmlformats.org/drawingml/2006/main">
            <a:pPr algn="l">
              <a:lnSpc>
                <a:spcPct val="108000"/>
              </a:lnSpc>
              <a:buNone/>
              <a:defRPr sz="1125" b="1">
                <a:solidFill>
                  <a:srgbClr val="087E8B"/>
                </a:solidFill>
                <a:latin typeface="Aptos"/>
                <a:ea typeface="Aptos"/>
                <a:cs typeface="Aptos"/>
              </a:defRPr>
            </a:pPr>
            <a:r>
              <a:rPr sz="1125" b="1">
                <a:solidFill>
                  <a:srgbClr val="087E8B"/>
                </a:solidFill>
                <a:latin typeface="Aptos"/>
                <a:ea typeface="Aptos"/>
                <a:cs typeface="Aptos"/>
              </a:rPr>
              <a:t>SPEAKER 3  /  EXTENSIONS AND PROJECT DEMO</a:t>
            </a:r>
          </a:p>
        </p:txBody>
      </p:sp>
      <p:sp>
        <p:nvSpPr>
          <p:cNvPr id="2" name="text">
            <a:extLst xmlns:a="http://schemas.openxmlformats.org/drawingml/2006/main">
              <a:ext uri="{FF2B5EF4-FFF2-40B4-BE49-F238E27FC236}">
                <a16:creationId xmlns:a16="http://schemas.microsoft.com/office/drawing/2014/main" id="{240AEC67-7178-45C4-A681-B32082010C21}"/>
              </a:ext>
            </a:extLst>
          </p:cNvPr>
          <p:cNvSpPr>
            <a:spLocks xmlns:a="http://schemas.openxmlformats.org/drawingml/2006/main" noGrp="1"/>
          </p:cNvSpPr>
          <p:nvPr/>
        </p:nvSpPr>
        <p:spPr>
          <a:xfrm xmlns:a="http://schemas.openxmlformats.org/drawingml/2006/main">
            <a:off x="666750" y="55245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02A43"/>
                </a:solidFill>
                <a:latin typeface="Aptos"/>
                <a:ea typeface="Aptos"/>
                <a:cs typeface="Aptos"/>
              </a:defRPr>
            </a:defPPr>
            <a:lvl1pPr algn="l">
              <a:defRPr sz="3300" b="1">
                <a:solidFill>
                  <a:srgbClr val="102A43"/>
                </a:solidFill>
                <a:latin typeface="Aptos"/>
                <a:ea typeface="Aptos"/>
                <a:cs typeface="Aptos"/>
              </a:defRPr>
            </a:lvl1pPr>
            <a:lvl2pPr algn="l">
              <a:defRPr sz="3300" b="1">
                <a:solidFill>
                  <a:srgbClr val="102A43"/>
                </a:solidFill>
                <a:latin typeface="Aptos"/>
                <a:ea typeface="Aptos"/>
                <a:cs typeface="Aptos"/>
              </a:defRPr>
            </a:lvl2pPr>
            <a:lvl3pPr algn="l">
              <a:defRPr sz="3300" b="1">
                <a:solidFill>
                  <a:srgbClr val="102A43"/>
                </a:solidFill>
                <a:latin typeface="Aptos"/>
                <a:ea typeface="Aptos"/>
                <a:cs typeface="Aptos"/>
              </a:defRPr>
            </a:lvl3pPr>
            <a:lvl4pPr algn="l">
              <a:defRPr sz="3300" b="1">
                <a:solidFill>
                  <a:srgbClr val="102A43"/>
                </a:solidFill>
                <a:latin typeface="Aptos"/>
                <a:ea typeface="Aptos"/>
                <a:cs typeface="Aptos"/>
              </a:defRPr>
            </a:lvl4pPr>
            <a:lvl5pPr algn="l">
              <a:defRPr sz="3300" b="1">
                <a:solidFill>
                  <a:srgbClr val="102A43"/>
                </a:solidFill>
                <a:latin typeface="Aptos"/>
                <a:ea typeface="Aptos"/>
                <a:cs typeface="Aptos"/>
              </a:defRPr>
            </a:lvl5pPr>
            <a:lvl6pPr algn="l">
              <a:defRPr sz="3300" b="1">
                <a:solidFill>
                  <a:srgbClr val="102A43"/>
                </a:solidFill>
                <a:latin typeface="Aptos"/>
                <a:ea typeface="Aptos"/>
                <a:cs typeface="Aptos"/>
              </a:defRPr>
            </a:lvl6pPr>
            <a:lvl7pPr algn="l">
              <a:defRPr sz="3300" b="1">
                <a:solidFill>
                  <a:srgbClr val="102A43"/>
                </a:solidFill>
                <a:latin typeface="Aptos"/>
                <a:ea typeface="Aptos"/>
                <a:cs typeface="Aptos"/>
              </a:defRPr>
            </a:lvl7pPr>
            <a:lvl8pPr algn="l">
              <a:defRPr sz="3300" b="1">
                <a:solidFill>
                  <a:srgbClr val="102A43"/>
                </a:solidFill>
                <a:latin typeface="Aptos"/>
                <a:ea typeface="Aptos"/>
                <a:cs typeface="Aptos"/>
              </a:defRPr>
            </a:lvl8pPr>
            <a:lvl9pPr algn="l">
              <a:defRPr sz="3300" b="1">
                <a:solidFill>
                  <a:srgbClr val="102A43"/>
                </a:solidFill>
                <a:latin typeface="Aptos"/>
                <a:ea typeface="Aptos"/>
                <a:cs typeface="Aptos"/>
              </a:defRPr>
            </a:lvl9pPr>
          </a:lstStyle>
          <a:p xmlns:a="http://schemas.openxmlformats.org/drawingml/2006/main">
            <a:pPr algn="l">
              <a:lnSpc>
                <a:spcPct val="108000"/>
              </a:lnSpc>
              <a:buNone/>
              <a:defRPr sz="3300" b="1">
                <a:solidFill>
                  <a:srgbClr val="102A43"/>
                </a:solidFill>
                <a:latin typeface="Aptos"/>
                <a:ea typeface="Aptos"/>
                <a:cs typeface="Aptos"/>
              </a:defRPr>
            </a:pPr>
            <a:r>
              <a:rPr sz="3300" b="1">
                <a:solidFill>
                  <a:srgbClr val="102A43"/>
                </a:solidFill>
                <a:latin typeface="Aptos"/>
                <a:ea typeface="Aptos"/>
                <a:cs typeface="Aptos"/>
              </a:rPr>
              <a:t>Conclusion and selected references</a:t>
            </a:r>
          </a:p>
        </p:txBody>
      </p:sp>
      <p:sp>
        <p:nvSpPr>
          <p:cNvPr id="3" name="text">
            <a:extLst xmlns:a="http://schemas.openxmlformats.org/drawingml/2006/main">
              <a:ext uri="{FF2B5EF4-FFF2-40B4-BE49-F238E27FC236}">
                <a16:creationId xmlns:a16="http://schemas.microsoft.com/office/drawing/2014/main" id="{094AE1A9-4006-4B92-8F97-5FEDCB4B2381}"/>
              </a:ext>
            </a:extLst>
          </p:cNvPr>
          <p:cNvSpPr>
            <a:spLocks xmlns:a="http://schemas.openxmlformats.org/drawingml/2006/main" noGrp="1"/>
          </p:cNvSpPr>
          <p:nvPr/>
        </p:nvSpPr>
        <p:spPr>
          <a:xfrm xmlns:a="http://schemas.openxmlformats.org/drawingml/2006/main">
            <a:off x="666750" y="65246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536878"/>
                </a:solidFill>
                <a:latin typeface="Aptos"/>
                <a:ea typeface="Aptos"/>
                <a:cs typeface="Aptos"/>
              </a:defRPr>
            </a:defPPr>
            <a:lvl1pPr algn="l">
              <a:defRPr sz="975" b="0">
                <a:solidFill>
                  <a:srgbClr val="536878"/>
                </a:solidFill>
                <a:latin typeface="Aptos"/>
                <a:ea typeface="Aptos"/>
                <a:cs typeface="Aptos"/>
              </a:defRPr>
            </a:lvl1pPr>
            <a:lvl2pPr algn="l">
              <a:defRPr sz="975" b="0">
                <a:solidFill>
                  <a:srgbClr val="536878"/>
                </a:solidFill>
                <a:latin typeface="Aptos"/>
                <a:ea typeface="Aptos"/>
                <a:cs typeface="Aptos"/>
              </a:defRPr>
            </a:lvl2pPr>
            <a:lvl3pPr algn="l">
              <a:defRPr sz="975" b="0">
                <a:solidFill>
                  <a:srgbClr val="536878"/>
                </a:solidFill>
                <a:latin typeface="Aptos"/>
                <a:ea typeface="Aptos"/>
                <a:cs typeface="Aptos"/>
              </a:defRPr>
            </a:lvl3pPr>
            <a:lvl4pPr algn="l">
              <a:defRPr sz="975" b="0">
                <a:solidFill>
                  <a:srgbClr val="536878"/>
                </a:solidFill>
                <a:latin typeface="Aptos"/>
                <a:ea typeface="Aptos"/>
                <a:cs typeface="Aptos"/>
              </a:defRPr>
            </a:lvl4pPr>
            <a:lvl5pPr algn="l">
              <a:defRPr sz="975" b="0">
                <a:solidFill>
                  <a:srgbClr val="536878"/>
                </a:solidFill>
                <a:latin typeface="Aptos"/>
                <a:ea typeface="Aptos"/>
                <a:cs typeface="Aptos"/>
              </a:defRPr>
            </a:lvl5pPr>
            <a:lvl6pPr algn="l">
              <a:defRPr sz="975" b="0">
                <a:solidFill>
                  <a:srgbClr val="536878"/>
                </a:solidFill>
                <a:latin typeface="Aptos"/>
                <a:ea typeface="Aptos"/>
                <a:cs typeface="Aptos"/>
              </a:defRPr>
            </a:lvl6pPr>
            <a:lvl7pPr algn="l">
              <a:defRPr sz="975" b="0">
                <a:solidFill>
                  <a:srgbClr val="536878"/>
                </a:solidFill>
                <a:latin typeface="Aptos"/>
                <a:ea typeface="Aptos"/>
                <a:cs typeface="Aptos"/>
              </a:defRPr>
            </a:lvl7pPr>
            <a:lvl8pPr algn="l">
              <a:defRPr sz="975" b="0">
                <a:solidFill>
                  <a:srgbClr val="536878"/>
                </a:solidFill>
                <a:latin typeface="Aptos"/>
                <a:ea typeface="Aptos"/>
                <a:cs typeface="Aptos"/>
              </a:defRPr>
            </a:lvl8pPr>
            <a:lvl9pPr algn="l">
              <a:defRPr sz="975" b="0">
                <a:solidFill>
                  <a:srgbClr val="536878"/>
                </a:solidFill>
                <a:latin typeface="Aptos"/>
                <a:ea typeface="Aptos"/>
                <a:cs typeface="Aptos"/>
              </a:defRPr>
            </a:lvl9pPr>
          </a:lstStyle>
          <a:p xmlns:a="http://schemas.openxmlformats.org/drawingml/2006/main">
            <a:pPr algn="l">
              <a:lnSpc>
                <a:spcPct val="108000"/>
              </a:lnSpc>
              <a:buNone/>
              <a:defRPr sz="975" b="0">
                <a:solidFill>
                  <a:srgbClr val="536878"/>
                </a:solidFill>
                <a:latin typeface="Aptos"/>
                <a:ea typeface="Aptos"/>
                <a:cs typeface="Aptos"/>
              </a:defRPr>
            </a:pPr>
            <a:r>
              <a:rPr sz="975" b="0">
                <a:solidFill>
                  <a:srgbClr val="536878"/>
                </a:solidFill>
                <a:latin typeface="Aptos"/>
                <a:ea typeface="Aptos"/>
                <a:cs typeface="Aptos"/>
              </a:rPr>
              <a:t>FlowGuard  |  Research prototype</a:t>
            </a:r>
          </a:p>
        </p:txBody>
      </p:sp>
      <p:sp>
        <p:nvSpPr>
          <p:cNvPr id="4" name="text">
            <a:extLst xmlns:a="http://schemas.openxmlformats.org/drawingml/2006/main">
              <a:ext uri="{FF2B5EF4-FFF2-40B4-BE49-F238E27FC236}">
                <a16:creationId xmlns:a16="http://schemas.microsoft.com/office/drawing/2014/main" id="{0499722B-D073-4E86-939D-A42F7E0A6854}"/>
              </a:ext>
            </a:extLst>
          </p:cNvPr>
          <p:cNvSpPr>
            <a:spLocks xmlns:a="http://schemas.openxmlformats.org/drawingml/2006/main" noGrp="1"/>
          </p:cNvSpPr>
          <p:nvPr/>
        </p:nvSpPr>
        <p:spPr>
          <a:xfrm xmlns:a="http://schemas.openxmlformats.org/drawingml/2006/main">
            <a:off x="11049000" y="64865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125" b="1">
                <a:solidFill>
                  <a:srgbClr val="536878"/>
                </a:solidFill>
                <a:latin typeface="Aptos"/>
                <a:ea typeface="Aptos"/>
                <a:cs typeface="Aptos"/>
              </a:defRPr>
            </a:defPPr>
            <a:lvl1pPr algn="r">
              <a:defRPr sz="1125" b="1">
                <a:solidFill>
                  <a:srgbClr val="536878"/>
                </a:solidFill>
                <a:latin typeface="Aptos"/>
                <a:ea typeface="Aptos"/>
                <a:cs typeface="Aptos"/>
              </a:defRPr>
            </a:lvl1pPr>
            <a:lvl2pPr algn="r">
              <a:defRPr sz="1125" b="1">
                <a:solidFill>
                  <a:srgbClr val="536878"/>
                </a:solidFill>
                <a:latin typeface="Aptos"/>
                <a:ea typeface="Aptos"/>
                <a:cs typeface="Aptos"/>
              </a:defRPr>
            </a:lvl2pPr>
            <a:lvl3pPr algn="r">
              <a:defRPr sz="1125" b="1">
                <a:solidFill>
                  <a:srgbClr val="536878"/>
                </a:solidFill>
                <a:latin typeface="Aptos"/>
                <a:ea typeface="Aptos"/>
                <a:cs typeface="Aptos"/>
              </a:defRPr>
            </a:lvl3pPr>
            <a:lvl4pPr algn="r">
              <a:defRPr sz="1125" b="1">
                <a:solidFill>
                  <a:srgbClr val="536878"/>
                </a:solidFill>
                <a:latin typeface="Aptos"/>
                <a:ea typeface="Aptos"/>
                <a:cs typeface="Aptos"/>
              </a:defRPr>
            </a:lvl4pPr>
            <a:lvl5pPr algn="r">
              <a:defRPr sz="1125" b="1">
                <a:solidFill>
                  <a:srgbClr val="536878"/>
                </a:solidFill>
                <a:latin typeface="Aptos"/>
                <a:ea typeface="Aptos"/>
                <a:cs typeface="Aptos"/>
              </a:defRPr>
            </a:lvl5pPr>
            <a:lvl6pPr algn="r">
              <a:defRPr sz="1125" b="1">
                <a:solidFill>
                  <a:srgbClr val="536878"/>
                </a:solidFill>
                <a:latin typeface="Aptos"/>
                <a:ea typeface="Aptos"/>
                <a:cs typeface="Aptos"/>
              </a:defRPr>
            </a:lvl6pPr>
            <a:lvl7pPr algn="r">
              <a:defRPr sz="1125" b="1">
                <a:solidFill>
                  <a:srgbClr val="536878"/>
                </a:solidFill>
                <a:latin typeface="Aptos"/>
                <a:ea typeface="Aptos"/>
                <a:cs typeface="Aptos"/>
              </a:defRPr>
            </a:lvl7pPr>
            <a:lvl8pPr algn="r">
              <a:defRPr sz="1125" b="1">
                <a:solidFill>
                  <a:srgbClr val="536878"/>
                </a:solidFill>
                <a:latin typeface="Aptos"/>
                <a:ea typeface="Aptos"/>
                <a:cs typeface="Aptos"/>
              </a:defRPr>
            </a:lvl8pPr>
            <a:lvl9pPr algn="r">
              <a:defRPr sz="1125" b="1">
                <a:solidFill>
                  <a:srgbClr val="536878"/>
                </a:solidFill>
                <a:latin typeface="Aptos"/>
                <a:ea typeface="Aptos"/>
                <a:cs typeface="Aptos"/>
              </a:defRPr>
            </a:lvl9pPr>
          </a:lstStyle>
          <a:p xmlns:a="http://schemas.openxmlformats.org/drawingml/2006/main">
            <a:pPr algn="r">
              <a:lnSpc>
                <a:spcPct val="108000"/>
              </a:lnSpc>
              <a:buNone/>
              <a:defRPr sz="1125" b="1">
                <a:solidFill>
                  <a:srgbClr val="536878"/>
                </a:solidFill>
                <a:latin typeface="Aptos"/>
                <a:ea typeface="Aptos"/>
                <a:cs typeface="Aptos"/>
              </a:defRPr>
            </a:pPr>
            <a:r>
              <a:rPr sz="1125" b="1">
                <a:solidFill>
                  <a:srgbClr val="536878"/>
                </a:solidFill>
                <a:latin typeface="Aptos"/>
                <a:ea typeface="Aptos"/>
                <a:cs typeface="Aptos"/>
              </a:rPr>
              <a:t>19</a:t>
            </a:r>
          </a:p>
        </p:txBody>
      </p:sp>
      <p:sp>
        <p:nvSpPr>
          <p:cNvPr id="5" name="text">
            <a:extLst xmlns:a="http://schemas.openxmlformats.org/drawingml/2006/main">
              <a:ext uri="{FF2B5EF4-FFF2-40B4-BE49-F238E27FC236}">
                <a16:creationId xmlns:a16="http://schemas.microsoft.com/office/drawing/2014/main" id="{CF7F7A46-F424-450D-AF26-6F380B8D3A27}"/>
              </a:ext>
            </a:extLst>
          </p:cNvPr>
          <p:cNvSpPr>
            <a:spLocks xmlns:a="http://schemas.openxmlformats.org/drawingml/2006/main" noGrp="1"/>
          </p:cNvSpPr>
          <p:nvPr/>
        </p:nvSpPr>
        <p:spPr>
          <a:xfrm xmlns:a="http://schemas.openxmlformats.org/drawingml/2006/main">
            <a:off x="742950" y="15621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087E8B"/>
                </a:solidFill>
                <a:latin typeface="Aptos"/>
                <a:ea typeface="Aptos"/>
                <a:cs typeface="Aptos"/>
              </a:defRPr>
            </a:defPPr>
            <a:lvl1pPr algn="l">
              <a:defRPr sz="2025" b="1">
                <a:solidFill>
                  <a:srgbClr val="087E8B"/>
                </a:solidFill>
                <a:latin typeface="Aptos"/>
                <a:ea typeface="Aptos"/>
                <a:cs typeface="Aptos"/>
              </a:defRPr>
            </a:lvl1pPr>
            <a:lvl2pPr algn="l">
              <a:defRPr sz="2025" b="1">
                <a:solidFill>
                  <a:srgbClr val="087E8B"/>
                </a:solidFill>
                <a:latin typeface="Aptos"/>
                <a:ea typeface="Aptos"/>
                <a:cs typeface="Aptos"/>
              </a:defRPr>
            </a:lvl2pPr>
            <a:lvl3pPr algn="l">
              <a:defRPr sz="2025" b="1">
                <a:solidFill>
                  <a:srgbClr val="087E8B"/>
                </a:solidFill>
                <a:latin typeface="Aptos"/>
                <a:ea typeface="Aptos"/>
                <a:cs typeface="Aptos"/>
              </a:defRPr>
            </a:lvl3pPr>
            <a:lvl4pPr algn="l">
              <a:defRPr sz="2025" b="1">
                <a:solidFill>
                  <a:srgbClr val="087E8B"/>
                </a:solidFill>
                <a:latin typeface="Aptos"/>
                <a:ea typeface="Aptos"/>
                <a:cs typeface="Aptos"/>
              </a:defRPr>
            </a:lvl4pPr>
            <a:lvl5pPr algn="l">
              <a:defRPr sz="2025" b="1">
                <a:solidFill>
                  <a:srgbClr val="087E8B"/>
                </a:solidFill>
                <a:latin typeface="Aptos"/>
                <a:ea typeface="Aptos"/>
                <a:cs typeface="Aptos"/>
              </a:defRPr>
            </a:lvl5pPr>
            <a:lvl6pPr algn="l">
              <a:defRPr sz="2025" b="1">
                <a:solidFill>
                  <a:srgbClr val="087E8B"/>
                </a:solidFill>
                <a:latin typeface="Aptos"/>
                <a:ea typeface="Aptos"/>
                <a:cs typeface="Aptos"/>
              </a:defRPr>
            </a:lvl6pPr>
            <a:lvl7pPr algn="l">
              <a:defRPr sz="2025" b="1">
                <a:solidFill>
                  <a:srgbClr val="087E8B"/>
                </a:solidFill>
                <a:latin typeface="Aptos"/>
                <a:ea typeface="Aptos"/>
                <a:cs typeface="Aptos"/>
              </a:defRPr>
            </a:lvl7pPr>
            <a:lvl8pPr algn="l">
              <a:defRPr sz="2025" b="1">
                <a:solidFill>
                  <a:srgbClr val="087E8B"/>
                </a:solidFill>
                <a:latin typeface="Aptos"/>
                <a:ea typeface="Aptos"/>
                <a:cs typeface="Aptos"/>
              </a:defRPr>
            </a:lvl8pPr>
            <a:lvl9pPr algn="l">
              <a:defRPr sz="2025" b="1">
                <a:solidFill>
                  <a:srgbClr val="087E8B"/>
                </a:solidFill>
                <a:latin typeface="Aptos"/>
                <a:ea typeface="Aptos"/>
                <a:cs typeface="Aptos"/>
              </a:defRPr>
            </a:lvl9pPr>
          </a:lstStyle>
          <a:p xmlns:a="http://schemas.openxmlformats.org/drawingml/2006/main">
            <a:pPr algn="l">
              <a:lnSpc>
                <a:spcPct val="108000"/>
              </a:lnSpc>
              <a:buNone/>
              <a:defRPr sz="2025" b="1">
                <a:solidFill>
                  <a:srgbClr val="087E8B"/>
                </a:solidFill>
                <a:latin typeface="Aptos"/>
                <a:ea typeface="Aptos"/>
                <a:cs typeface="Aptos"/>
              </a:defRPr>
            </a:pPr>
            <a:r>
              <a:rPr sz="2025" b="1">
                <a:solidFill>
                  <a:srgbClr val="087E8B"/>
                </a:solidFill>
                <a:latin typeface="Aptos"/>
                <a:ea typeface="Aptos"/>
                <a:cs typeface="Aptos"/>
              </a:rPr>
              <a:t>Conclusion</a:t>
            </a:r>
          </a:p>
        </p:txBody>
      </p:sp>
      <p:sp>
        <p:nvSpPr>
          <p:cNvPr id="6" name="editable bullet list">
            <a:extLst xmlns:a="http://schemas.openxmlformats.org/drawingml/2006/main">
              <a:ext uri="{FF2B5EF4-FFF2-40B4-BE49-F238E27FC236}">
                <a16:creationId xmlns:a16="http://schemas.microsoft.com/office/drawing/2014/main" id="{78B74757-D653-4B77-AFB9-BED1FD8A45E0}"/>
              </a:ext>
            </a:extLst>
          </p:cNvPr>
          <p:cNvSpPr>
            <a:spLocks xmlns:a="http://schemas.openxmlformats.org/drawingml/2006/main" noGrp="1"/>
          </p:cNvSpPr>
          <p:nvPr/>
        </p:nvSpPr>
        <p:spPr>
          <a:xfrm xmlns:a="http://schemas.openxmlformats.org/drawingml/2006/main">
            <a:off x="742950" y="2076450"/>
            <a:ext cx="495300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a:solidFill>
                  <a:srgbClr val="1E3445"/>
                </a:solidFill>
                <a:latin typeface="Aptos"/>
                <a:ea typeface="Aptos"/>
                <a:cs typeface="Aptos"/>
              </a:defRPr>
            </a:defPPr>
            <a:lvl1pPr algn="l">
              <a:defRPr sz="1650">
                <a:solidFill>
                  <a:srgbClr val="1E3445"/>
                </a:solidFill>
                <a:latin typeface="Aptos"/>
                <a:ea typeface="Aptos"/>
                <a:cs typeface="Aptos"/>
              </a:defRPr>
            </a:lvl1pPr>
            <a:lvl2pPr algn="l">
              <a:defRPr sz="1650">
                <a:solidFill>
                  <a:srgbClr val="1E3445"/>
                </a:solidFill>
                <a:latin typeface="Aptos"/>
                <a:ea typeface="Aptos"/>
                <a:cs typeface="Aptos"/>
              </a:defRPr>
            </a:lvl2pPr>
            <a:lvl3pPr algn="l">
              <a:defRPr sz="1650">
                <a:solidFill>
                  <a:srgbClr val="1E3445"/>
                </a:solidFill>
                <a:latin typeface="Aptos"/>
                <a:ea typeface="Aptos"/>
                <a:cs typeface="Aptos"/>
              </a:defRPr>
            </a:lvl3pPr>
            <a:lvl4pPr algn="l">
              <a:defRPr sz="1650">
                <a:solidFill>
                  <a:srgbClr val="1E3445"/>
                </a:solidFill>
                <a:latin typeface="Aptos"/>
                <a:ea typeface="Aptos"/>
                <a:cs typeface="Aptos"/>
              </a:defRPr>
            </a:lvl4pPr>
            <a:lvl5pPr algn="l">
              <a:defRPr sz="1650">
                <a:solidFill>
                  <a:srgbClr val="1E3445"/>
                </a:solidFill>
                <a:latin typeface="Aptos"/>
                <a:ea typeface="Aptos"/>
                <a:cs typeface="Aptos"/>
              </a:defRPr>
            </a:lvl5pPr>
            <a:lvl6pPr algn="l">
              <a:defRPr sz="1650">
                <a:solidFill>
                  <a:srgbClr val="1E3445"/>
                </a:solidFill>
                <a:latin typeface="Aptos"/>
                <a:ea typeface="Aptos"/>
                <a:cs typeface="Aptos"/>
              </a:defRPr>
            </a:lvl6pPr>
            <a:lvl7pPr algn="l">
              <a:defRPr sz="1650">
                <a:solidFill>
                  <a:srgbClr val="1E3445"/>
                </a:solidFill>
                <a:latin typeface="Aptos"/>
                <a:ea typeface="Aptos"/>
                <a:cs typeface="Aptos"/>
              </a:defRPr>
            </a:lvl7pPr>
            <a:lvl8pPr algn="l">
              <a:defRPr sz="1650">
                <a:solidFill>
                  <a:srgbClr val="1E3445"/>
                </a:solidFill>
                <a:latin typeface="Aptos"/>
                <a:ea typeface="Aptos"/>
                <a:cs typeface="Aptos"/>
              </a:defRPr>
            </a:lvl8pPr>
            <a:lvl9pPr algn="l">
              <a:defRPr sz="165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A reproducible research prototype joins flow classification, model comparisons and a local demo.</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Random Forest led the delivered feature benchmark; the Transformer did not win this run.</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No claim of production readiness, new architecture or zero-day reliability is supported.</a:t>
            </a:r>
          </a:p>
        </p:txBody>
      </p:sp>
      <p:sp>
        <p:nvSpPr>
          <p:cNvPr id="7" name="text">
            <a:extLst xmlns:a="http://schemas.openxmlformats.org/drawingml/2006/main">
              <a:ext uri="{FF2B5EF4-FFF2-40B4-BE49-F238E27FC236}">
                <a16:creationId xmlns:a16="http://schemas.microsoft.com/office/drawing/2014/main" id="{A5D65B94-7FEB-4BD9-87E7-1257226C26C3}"/>
              </a:ext>
            </a:extLst>
          </p:cNvPr>
          <p:cNvSpPr>
            <a:spLocks xmlns:a="http://schemas.openxmlformats.org/drawingml/2006/main" noGrp="1"/>
          </p:cNvSpPr>
          <p:nvPr/>
        </p:nvSpPr>
        <p:spPr>
          <a:xfrm xmlns:a="http://schemas.openxmlformats.org/drawingml/2006/main">
            <a:off x="6419850" y="15621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087E8B"/>
                </a:solidFill>
                <a:latin typeface="Aptos"/>
                <a:ea typeface="Aptos"/>
                <a:cs typeface="Aptos"/>
              </a:defRPr>
            </a:defPPr>
            <a:lvl1pPr algn="l">
              <a:defRPr sz="2025" b="1">
                <a:solidFill>
                  <a:srgbClr val="087E8B"/>
                </a:solidFill>
                <a:latin typeface="Aptos"/>
                <a:ea typeface="Aptos"/>
                <a:cs typeface="Aptos"/>
              </a:defRPr>
            </a:lvl1pPr>
            <a:lvl2pPr algn="l">
              <a:defRPr sz="2025" b="1">
                <a:solidFill>
                  <a:srgbClr val="087E8B"/>
                </a:solidFill>
                <a:latin typeface="Aptos"/>
                <a:ea typeface="Aptos"/>
                <a:cs typeface="Aptos"/>
              </a:defRPr>
            </a:lvl2pPr>
            <a:lvl3pPr algn="l">
              <a:defRPr sz="2025" b="1">
                <a:solidFill>
                  <a:srgbClr val="087E8B"/>
                </a:solidFill>
                <a:latin typeface="Aptos"/>
                <a:ea typeface="Aptos"/>
                <a:cs typeface="Aptos"/>
              </a:defRPr>
            </a:lvl3pPr>
            <a:lvl4pPr algn="l">
              <a:defRPr sz="2025" b="1">
                <a:solidFill>
                  <a:srgbClr val="087E8B"/>
                </a:solidFill>
                <a:latin typeface="Aptos"/>
                <a:ea typeface="Aptos"/>
                <a:cs typeface="Aptos"/>
              </a:defRPr>
            </a:lvl4pPr>
            <a:lvl5pPr algn="l">
              <a:defRPr sz="2025" b="1">
                <a:solidFill>
                  <a:srgbClr val="087E8B"/>
                </a:solidFill>
                <a:latin typeface="Aptos"/>
                <a:ea typeface="Aptos"/>
                <a:cs typeface="Aptos"/>
              </a:defRPr>
            </a:lvl5pPr>
            <a:lvl6pPr algn="l">
              <a:defRPr sz="2025" b="1">
                <a:solidFill>
                  <a:srgbClr val="087E8B"/>
                </a:solidFill>
                <a:latin typeface="Aptos"/>
                <a:ea typeface="Aptos"/>
                <a:cs typeface="Aptos"/>
              </a:defRPr>
            </a:lvl6pPr>
            <a:lvl7pPr algn="l">
              <a:defRPr sz="2025" b="1">
                <a:solidFill>
                  <a:srgbClr val="087E8B"/>
                </a:solidFill>
                <a:latin typeface="Aptos"/>
                <a:ea typeface="Aptos"/>
                <a:cs typeface="Aptos"/>
              </a:defRPr>
            </a:lvl7pPr>
            <a:lvl8pPr algn="l">
              <a:defRPr sz="2025" b="1">
                <a:solidFill>
                  <a:srgbClr val="087E8B"/>
                </a:solidFill>
                <a:latin typeface="Aptos"/>
                <a:ea typeface="Aptos"/>
                <a:cs typeface="Aptos"/>
              </a:defRPr>
            </a:lvl8pPr>
            <a:lvl9pPr algn="l">
              <a:defRPr sz="2025" b="1">
                <a:solidFill>
                  <a:srgbClr val="087E8B"/>
                </a:solidFill>
                <a:latin typeface="Aptos"/>
                <a:ea typeface="Aptos"/>
                <a:cs typeface="Aptos"/>
              </a:defRPr>
            </a:lvl9pPr>
          </a:lstStyle>
          <a:p xmlns:a="http://schemas.openxmlformats.org/drawingml/2006/main">
            <a:pPr algn="l">
              <a:lnSpc>
                <a:spcPct val="108000"/>
              </a:lnSpc>
              <a:buNone/>
              <a:defRPr sz="2025" b="1">
                <a:solidFill>
                  <a:srgbClr val="087E8B"/>
                </a:solidFill>
                <a:latin typeface="Aptos"/>
                <a:ea typeface="Aptos"/>
                <a:cs typeface="Aptos"/>
              </a:defRPr>
            </a:pPr>
            <a:r>
              <a:rPr sz="2025" b="1">
                <a:solidFill>
                  <a:srgbClr val="087E8B"/>
                </a:solidFill>
                <a:latin typeface="Aptos"/>
                <a:ea typeface="Aptos"/>
                <a:cs typeface="Aptos"/>
              </a:rPr>
              <a:t>Selected references</a:t>
            </a:r>
          </a:p>
        </p:txBody>
      </p:sp>
      <p:sp>
        <p:nvSpPr>
          <p:cNvPr id="8" name="editable bullet list">
            <a:extLst xmlns:a="http://schemas.openxmlformats.org/drawingml/2006/main">
              <a:ext uri="{FF2B5EF4-FFF2-40B4-BE49-F238E27FC236}">
                <a16:creationId xmlns:a16="http://schemas.microsoft.com/office/drawing/2014/main" id="{43E55CB3-D9E1-44ED-A34F-2659F0CE0BFE}"/>
              </a:ext>
            </a:extLst>
          </p:cNvPr>
          <p:cNvSpPr>
            <a:spLocks xmlns:a="http://schemas.openxmlformats.org/drawingml/2006/main" noGrp="1"/>
          </p:cNvSpPr>
          <p:nvPr/>
        </p:nvSpPr>
        <p:spPr>
          <a:xfrm xmlns:a="http://schemas.openxmlformats.org/drawingml/2006/main">
            <a:off x="6419850" y="2076450"/>
            <a:ext cx="495300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a:solidFill>
                  <a:srgbClr val="1E3445"/>
                </a:solidFill>
                <a:latin typeface="Aptos"/>
                <a:ea typeface="Aptos"/>
                <a:cs typeface="Aptos"/>
              </a:defRPr>
            </a:defPPr>
            <a:lvl1pPr algn="l">
              <a:defRPr sz="1650">
                <a:solidFill>
                  <a:srgbClr val="1E3445"/>
                </a:solidFill>
                <a:latin typeface="Aptos"/>
                <a:ea typeface="Aptos"/>
                <a:cs typeface="Aptos"/>
              </a:defRPr>
            </a:lvl1pPr>
            <a:lvl2pPr algn="l">
              <a:defRPr sz="1650">
                <a:solidFill>
                  <a:srgbClr val="1E3445"/>
                </a:solidFill>
                <a:latin typeface="Aptos"/>
                <a:ea typeface="Aptos"/>
                <a:cs typeface="Aptos"/>
              </a:defRPr>
            </a:lvl2pPr>
            <a:lvl3pPr algn="l">
              <a:defRPr sz="1650">
                <a:solidFill>
                  <a:srgbClr val="1E3445"/>
                </a:solidFill>
                <a:latin typeface="Aptos"/>
                <a:ea typeface="Aptos"/>
                <a:cs typeface="Aptos"/>
              </a:defRPr>
            </a:lvl3pPr>
            <a:lvl4pPr algn="l">
              <a:defRPr sz="1650">
                <a:solidFill>
                  <a:srgbClr val="1E3445"/>
                </a:solidFill>
                <a:latin typeface="Aptos"/>
                <a:ea typeface="Aptos"/>
                <a:cs typeface="Aptos"/>
              </a:defRPr>
            </a:lvl4pPr>
            <a:lvl5pPr algn="l">
              <a:defRPr sz="1650">
                <a:solidFill>
                  <a:srgbClr val="1E3445"/>
                </a:solidFill>
                <a:latin typeface="Aptos"/>
                <a:ea typeface="Aptos"/>
                <a:cs typeface="Aptos"/>
              </a:defRPr>
            </a:lvl5pPr>
            <a:lvl6pPr algn="l">
              <a:defRPr sz="1650">
                <a:solidFill>
                  <a:srgbClr val="1E3445"/>
                </a:solidFill>
                <a:latin typeface="Aptos"/>
                <a:ea typeface="Aptos"/>
                <a:cs typeface="Aptos"/>
              </a:defRPr>
            </a:lvl6pPr>
            <a:lvl7pPr algn="l">
              <a:defRPr sz="1650">
                <a:solidFill>
                  <a:srgbClr val="1E3445"/>
                </a:solidFill>
                <a:latin typeface="Aptos"/>
                <a:ea typeface="Aptos"/>
                <a:cs typeface="Aptos"/>
              </a:defRPr>
            </a:lvl7pPr>
            <a:lvl8pPr algn="l">
              <a:defRPr sz="1650">
                <a:solidFill>
                  <a:srgbClr val="1E3445"/>
                </a:solidFill>
                <a:latin typeface="Aptos"/>
                <a:ea typeface="Aptos"/>
                <a:cs typeface="Aptos"/>
              </a:defRPr>
            </a:lvl8pPr>
            <a:lvl9pPr algn="l">
              <a:defRPr sz="1650">
                <a:solidFill>
                  <a:srgbClr val="1E3445"/>
                </a:solidFill>
                <a:latin typeface="Aptos"/>
                <a:ea typeface="Aptos"/>
                <a:cs typeface="Aptos"/>
              </a:defRPr>
            </a:lvl9pPr>
          </a:lstStyle>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Sharafaldin et al. (2018), CIC-IDS2017</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Vaswani et al. (2017), Attention Is All You Need</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Kipf and Welling (2016), Graph Convolutional Networks</a:t>
            </a:r>
          </a:p>
          <a:p xmlns:a="http://schemas.openxmlformats.org/drawingml/2006/main">
            <a:pPr marL="279400" indent="-139700" algn="l">
              <a:lnSpc>
                <a:spcPct val="115000"/>
              </a:lnSpc>
              <a:spcAft>
                <a:spcPts val="1200"/>
              </a:spcAft>
              <a:buNone/>
              <a:defRPr sz="1650">
                <a:solidFill>
                  <a:srgbClr val="1E3445"/>
                </a:solidFill>
                <a:latin typeface="Aptos"/>
                <a:ea typeface="Aptos"/>
                <a:cs typeface="Aptos"/>
              </a:defRPr>
            </a:pPr>
            <a:r>
              <a:rPr sz="1650">
                <a:solidFill>
                  <a:srgbClr val="1E3445"/>
                </a:solidFill>
                <a:latin typeface="Aptos"/>
                <a:ea typeface="Aptos"/>
                <a:cs typeface="Aptos"/>
              </a:rPr>
              <a:t>McMahan et al. (2017), Federated Averaging; Lundberg and Lee (2017), SHAP</a:t>
            </a:r>
          </a:p>
        </p:txBody>
      </p:sp>
    </p:spTree>
    <p:extLst>
      <p:ext uri="{BB962C8B-B14F-4D97-AF65-F5344CB8AC3E}">
        <p14:creationId xmlns:p14="http://schemas.microsoft.com/office/powerpoint/2010/main" val="6403597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2026-10-29T06:39:41.2230000Z</dcterms:created>
  <dcterms:modified xsi:type="dcterms:W3CDTF">2026-10-29T06:39:41.2240000Z</dcterms:modified>
</coreProperties>
</file>